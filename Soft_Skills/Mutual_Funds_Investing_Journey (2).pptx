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00000"/>
                </a:solidFill>
                <a:latin typeface="Arial"/>
              </a:defRPr>
            </a:pPr>
            <a:r>
              <a:rPr sz="1300" b="0" i="0" u="none" strike="noStrike">
                <a:solidFill>
                  <a:srgbClr val="000000"/>
                </a:solidFill>
                <a:latin typeface="Arial"/>
              </a:rPr>
              <a:t>₹1,00,000 compounded over time (illustrative)</a:t>
            </a:r>
          </a:p>
        </c:rich>
      </c:tx>
      <c:overlay val="0"/>
    </c:title>
    <c:autoTitleDeleted val="0"/>
    <c:plotArea>
      <c:layout/>
      <c:lineChart>
        <c:grouping val="standard"/>
        <c:varyColors val="0"/>
        <c:ser>
          <c:idx val="0"/>
          <c:order val="0"/>
          <c:tx>
            <c:strRef>
              <c:f>Sheet1!$B$1</c:f>
              <c:strCache>
                <c:ptCount val="1"/>
                <c:pt idx="0">
                  <c:v>8% p.a.</c:v>
                </c:pt>
              </c:strCache>
            </c:strRef>
          </c:tx>
          <c:spPr>
            <a:ln w="31750" cap="flat">
              <a:solidFill>
                <a:srgbClr val="51606B"/>
              </a:solidFill>
              <a:prstDash val="solid"/>
              <a:round/>
            </a:ln>
            <a:effectLst/>
          </c:spPr>
          <c:marker>
            <c:symbol val="circle"/>
            <c:size val="4"/>
            <c:spPr>
              <a:solidFill>
                <a:srgbClr val="51606B"/>
              </a:solidFill>
              <a:ln w="9525" cap="flat">
                <a:solidFill>
                  <a:srgbClr val="51606B"/>
                </a:solidFill>
                <a:prstDash val="solid"/>
                <a:round/>
              </a:ln>
              <a:effectLst/>
            </c:spPr>
          </c:marker>
          <c:cat>
            <c:strRef>
              <c:f>Sheet1!$A$2:$A$12</c:f>
              <c:strCache>
                <c:ptCount val="11"/>
                <c:pt idx="0">
                  <c:v>0</c:v>
                </c:pt>
                <c:pt idx="1">
                  <c:v>2</c:v>
                </c:pt>
                <c:pt idx="2">
                  <c:v>4</c:v>
                </c:pt>
                <c:pt idx="3">
                  <c:v>6</c:v>
                </c:pt>
                <c:pt idx="4">
                  <c:v>8</c:v>
                </c:pt>
                <c:pt idx="5">
                  <c:v>10</c:v>
                </c:pt>
                <c:pt idx="6">
                  <c:v>12</c:v>
                </c:pt>
                <c:pt idx="7">
                  <c:v>14</c:v>
                </c:pt>
                <c:pt idx="8">
                  <c:v>16</c:v>
                </c:pt>
                <c:pt idx="9">
                  <c:v>18</c:v>
                </c:pt>
                <c:pt idx="10">
                  <c:v>20</c:v>
                </c:pt>
              </c:strCache>
            </c:strRef>
          </c:cat>
          <c:val>
            <c:numRef>
              <c:f>Sheet1!$B$2:$B$12</c:f>
              <c:numCache>
                <c:formatCode>General</c:formatCode>
                <c:ptCount val="11"/>
                <c:pt idx="0">
                  <c:v>100000</c:v>
                </c:pt>
                <c:pt idx="1">
                  <c:v>116640</c:v>
                </c:pt>
                <c:pt idx="2">
                  <c:v>136049</c:v>
                </c:pt>
                <c:pt idx="3">
                  <c:v>158687</c:v>
                </c:pt>
                <c:pt idx="4">
                  <c:v>185093</c:v>
                </c:pt>
                <c:pt idx="5">
                  <c:v>215892</c:v>
                </c:pt>
                <c:pt idx="6">
                  <c:v>251817</c:v>
                </c:pt>
                <c:pt idx="7">
                  <c:v>293719</c:v>
                </c:pt>
                <c:pt idx="8">
                  <c:v>342594</c:v>
                </c:pt>
                <c:pt idx="9">
                  <c:v>399602</c:v>
                </c:pt>
                <c:pt idx="10">
                  <c:v>466096</c:v>
                </c:pt>
              </c:numCache>
            </c:numRef>
          </c:val>
          <c:smooth val="0"/>
          <c:extLst>
            <c:ext xmlns:c16="http://schemas.microsoft.com/office/drawing/2014/chart" uri="{C3380CC4-5D6E-409C-BE32-E72D297353CC}">
              <c16:uniqueId val="{00000000-A597-4689-880F-4DF75A15EC10}"/>
            </c:ext>
          </c:extLst>
        </c:ser>
        <c:ser>
          <c:idx val="1"/>
          <c:order val="1"/>
          <c:tx>
            <c:strRef>
              <c:f>Sheet1!$C$1</c:f>
              <c:strCache>
                <c:ptCount val="1"/>
                <c:pt idx="0">
                  <c:v>10% p.a.</c:v>
                </c:pt>
              </c:strCache>
            </c:strRef>
          </c:tx>
          <c:spPr>
            <a:ln w="31750" cap="flat">
              <a:solidFill>
                <a:srgbClr val="00A896"/>
              </a:solidFill>
              <a:prstDash val="solid"/>
              <a:round/>
            </a:ln>
            <a:effectLst/>
          </c:spPr>
          <c:marker>
            <c:symbol val="circle"/>
            <c:size val="4"/>
            <c:spPr>
              <a:solidFill>
                <a:srgbClr val="00A896"/>
              </a:solidFill>
              <a:ln w="9525" cap="flat">
                <a:solidFill>
                  <a:srgbClr val="00A896"/>
                </a:solidFill>
                <a:prstDash val="solid"/>
                <a:round/>
              </a:ln>
              <a:effectLst/>
            </c:spPr>
          </c:marker>
          <c:cat>
            <c:strRef>
              <c:f>Sheet1!$A$2:$A$12</c:f>
              <c:strCache>
                <c:ptCount val="11"/>
                <c:pt idx="0">
                  <c:v>0</c:v>
                </c:pt>
                <c:pt idx="1">
                  <c:v>2</c:v>
                </c:pt>
                <c:pt idx="2">
                  <c:v>4</c:v>
                </c:pt>
                <c:pt idx="3">
                  <c:v>6</c:v>
                </c:pt>
                <c:pt idx="4">
                  <c:v>8</c:v>
                </c:pt>
                <c:pt idx="5">
                  <c:v>10</c:v>
                </c:pt>
                <c:pt idx="6">
                  <c:v>12</c:v>
                </c:pt>
                <c:pt idx="7">
                  <c:v>14</c:v>
                </c:pt>
                <c:pt idx="8">
                  <c:v>16</c:v>
                </c:pt>
                <c:pt idx="9">
                  <c:v>18</c:v>
                </c:pt>
                <c:pt idx="10">
                  <c:v>20</c:v>
                </c:pt>
              </c:strCache>
            </c:strRef>
          </c:cat>
          <c:val>
            <c:numRef>
              <c:f>Sheet1!$C$2:$C$12</c:f>
              <c:numCache>
                <c:formatCode>General</c:formatCode>
                <c:ptCount val="11"/>
                <c:pt idx="0">
                  <c:v>100000</c:v>
                </c:pt>
                <c:pt idx="1">
                  <c:v>121000</c:v>
                </c:pt>
                <c:pt idx="2">
                  <c:v>146410</c:v>
                </c:pt>
                <c:pt idx="3">
                  <c:v>177156</c:v>
                </c:pt>
                <c:pt idx="4">
                  <c:v>214359</c:v>
                </c:pt>
                <c:pt idx="5">
                  <c:v>259374</c:v>
                </c:pt>
                <c:pt idx="6">
                  <c:v>313843</c:v>
                </c:pt>
                <c:pt idx="7">
                  <c:v>379750</c:v>
                </c:pt>
                <c:pt idx="8">
                  <c:v>459497</c:v>
                </c:pt>
                <c:pt idx="9">
                  <c:v>555992</c:v>
                </c:pt>
                <c:pt idx="10">
                  <c:v>672750</c:v>
                </c:pt>
              </c:numCache>
            </c:numRef>
          </c:val>
          <c:smooth val="0"/>
          <c:extLst>
            <c:ext xmlns:c16="http://schemas.microsoft.com/office/drawing/2014/chart" uri="{C3380CC4-5D6E-409C-BE32-E72D297353CC}">
              <c16:uniqueId val="{00000001-A597-4689-880F-4DF75A15EC10}"/>
            </c:ext>
          </c:extLst>
        </c:ser>
        <c:ser>
          <c:idx val="2"/>
          <c:order val="2"/>
          <c:tx>
            <c:strRef>
              <c:f>Sheet1!$D$1</c:f>
              <c:strCache>
                <c:ptCount val="1"/>
                <c:pt idx="0">
                  <c:v>12% p.a.</c:v>
                </c:pt>
              </c:strCache>
            </c:strRef>
          </c:tx>
          <c:spPr>
            <a:ln w="31750" cap="flat">
              <a:solidFill>
                <a:srgbClr val="028090"/>
              </a:solidFill>
              <a:prstDash val="solid"/>
              <a:round/>
            </a:ln>
            <a:effectLst/>
          </c:spPr>
          <c:marker>
            <c:symbol val="circle"/>
            <c:size val="4"/>
            <c:spPr>
              <a:solidFill>
                <a:srgbClr val="028090"/>
              </a:solidFill>
              <a:ln w="9525" cap="flat">
                <a:solidFill>
                  <a:srgbClr val="028090"/>
                </a:solidFill>
                <a:prstDash val="solid"/>
                <a:round/>
              </a:ln>
              <a:effectLst/>
            </c:spPr>
          </c:marker>
          <c:cat>
            <c:strRef>
              <c:f>Sheet1!$A$2:$A$12</c:f>
              <c:strCache>
                <c:ptCount val="11"/>
                <c:pt idx="0">
                  <c:v>0</c:v>
                </c:pt>
                <c:pt idx="1">
                  <c:v>2</c:v>
                </c:pt>
                <c:pt idx="2">
                  <c:v>4</c:v>
                </c:pt>
                <c:pt idx="3">
                  <c:v>6</c:v>
                </c:pt>
                <c:pt idx="4">
                  <c:v>8</c:v>
                </c:pt>
                <c:pt idx="5">
                  <c:v>10</c:v>
                </c:pt>
                <c:pt idx="6">
                  <c:v>12</c:v>
                </c:pt>
                <c:pt idx="7">
                  <c:v>14</c:v>
                </c:pt>
                <c:pt idx="8">
                  <c:v>16</c:v>
                </c:pt>
                <c:pt idx="9">
                  <c:v>18</c:v>
                </c:pt>
                <c:pt idx="10">
                  <c:v>20</c:v>
                </c:pt>
              </c:strCache>
            </c:strRef>
          </c:cat>
          <c:val>
            <c:numRef>
              <c:f>Sheet1!$D$2:$D$12</c:f>
              <c:numCache>
                <c:formatCode>General</c:formatCode>
                <c:ptCount val="11"/>
                <c:pt idx="0">
                  <c:v>100000</c:v>
                </c:pt>
                <c:pt idx="1">
                  <c:v>125440</c:v>
                </c:pt>
                <c:pt idx="2">
                  <c:v>157352</c:v>
                </c:pt>
                <c:pt idx="3">
                  <c:v>197382</c:v>
                </c:pt>
                <c:pt idx="4">
                  <c:v>247596</c:v>
                </c:pt>
                <c:pt idx="5">
                  <c:v>310585</c:v>
                </c:pt>
                <c:pt idx="6">
                  <c:v>389598</c:v>
                </c:pt>
                <c:pt idx="7">
                  <c:v>488711</c:v>
                </c:pt>
                <c:pt idx="8">
                  <c:v>613039</c:v>
                </c:pt>
                <c:pt idx="9">
                  <c:v>768997</c:v>
                </c:pt>
                <c:pt idx="10">
                  <c:v>964629</c:v>
                </c:pt>
              </c:numCache>
            </c:numRef>
          </c:val>
          <c:smooth val="0"/>
          <c:extLst>
            <c:ext xmlns:c16="http://schemas.microsoft.com/office/drawing/2014/chart" uri="{C3380CC4-5D6E-409C-BE32-E72D297353CC}">
              <c16:uniqueId val="{00000002-A597-4689-880F-4DF75A15EC10}"/>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1606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3E9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1606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80833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A43"/>
        </a:solidFill>
        <a:effectLst/>
      </p:bgPr>
    </p:bg>
    <p:spTree>
      <p:nvGrpSpPr>
        <p:cNvPr id="1" name=""/>
        <p:cNvGrpSpPr/>
        <p:nvPr/>
      </p:nvGrpSpPr>
      <p:grpSpPr>
        <a:xfrm>
          <a:off x="0" y="0"/>
          <a:ext cx="0" cy="0"/>
          <a:chOff x="0" y="0"/>
          <a:chExt cx="0" cy="0"/>
        </a:xfrm>
      </p:grpSpPr>
      <p:sp>
        <p:nvSpPr>
          <p:cNvPr id="2" name="Shape 0"/>
          <p:cNvSpPr/>
          <p:nvPr/>
        </p:nvSpPr>
        <p:spPr>
          <a:xfrm>
            <a:off x="8503920" y="-1463040"/>
            <a:ext cx="5486400" cy="5486400"/>
          </a:xfrm>
          <a:prstGeom prst="ellipse">
            <a:avLst/>
          </a:prstGeom>
          <a:solidFill>
            <a:srgbClr val="028090">
              <a:alpha val="22000"/>
            </a:srgbClr>
          </a:solidFill>
          <a:ln/>
        </p:spPr>
        <p:txBody>
          <a:bodyPr/>
          <a:lstStyle/>
          <a:p>
            <a:endParaRPr lang="en-IN"/>
          </a:p>
        </p:txBody>
      </p:sp>
      <p:sp>
        <p:nvSpPr>
          <p:cNvPr id="3" name="Shape 1"/>
          <p:cNvSpPr/>
          <p:nvPr/>
        </p:nvSpPr>
        <p:spPr>
          <a:xfrm>
            <a:off x="9418320" y="-548640"/>
            <a:ext cx="3657600" cy="3657600"/>
          </a:xfrm>
          <a:prstGeom prst="ellipse">
            <a:avLst/>
          </a:prstGeom>
          <a:solidFill>
            <a:srgbClr val="00A896">
              <a:alpha val="30000"/>
            </a:srgbClr>
          </a:solidFill>
          <a:ln/>
        </p:spPr>
        <p:txBody>
          <a:bodyPr/>
          <a:lstStyle/>
          <a:p>
            <a:endParaRPr lang="en-IN"/>
          </a:p>
        </p:txBody>
      </p:sp>
      <p:sp>
        <p:nvSpPr>
          <p:cNvPr id="4" name="Shape 2"/>
          <p:cNvSpPr/>
          <p:nvPr/>
        </p:nvSpPr>
        <p:spPr>
          <a:xfrm>
            <a:off x="-1828800" y="4114800"/>
            <a:ext cx="4572000" cy="4572000"/>
          </a:xfrm>
          <a:prstGeom prst="ellipse">
            <a:avLst/>
          </a:prstGeom>
          <a:solidFill>
            <a:srgbClr val="028090">
              <a:alpha val="15000"/>
            </a:srgbClr>
          </a:solidFill>
          <a:ln/>
        </p:spPr>
        <p:txBody>
          <a:bodyPr/>
          <a:lstStyle/>
          <a:p>
            <a:endParaRPr lang="en-IN"/>
          </a:p>
        </p:txBody>
      </p:sp>
      <p:sp>
        <p:nvSpPr>
          <p:cNvPr id="5" name="Text 3"/>
          <p:cNvSpPr txBox="1"/>
          <p:nvPr/>
        </p:nvSpPr>
        <p:spPr>
          <a:xfrm>
            <a:off x="640080" y="1965960"/>
            <a:ext cx="9144000" cy="365760"/>
          </a:xfrm>
          <a:prstGeom prst="rect">
            <a:avLst/>
          </a:prstGeom>
          <a:noFill/>
          <a:ln/>
        </p:spPr>
        <p:txBody>
          <a:bodyPr wrap="square" lIns="0" tIns="0" rIns="0" bIns="0" rtlCol="0" anchor="ctr"/>
          <a:lstStyle/>
          <a:p>
            <a:pPr marL="0" indent="0">
              <a:buNone/>
            </a:pPr>
            <a:r>
              <a:rPr lang="en-US" sz="1300" b="1" kern="0" spc="200" dirty="0">
                <a:solidFill>
                  <a:srgbClr val="6FE7DD"/>
                </a:solidFill>
                <a:latin typeface="Calibri" pitchFamily="34" charset="0"/>
                <a:ea typeface="Calibri" pitchFamily="34" charset="-122"/>
                <a:cs typeface="Calibri" pitchFamily="34" charset="-120"/>
              </a:rPr>
              <a:t>A PERSONAL TALK ON MONEY, MARKETS &amp; PATIENCE</a:t>
            </a:r>
            <a:endParaRPr lang="en-US" sz="1300" dirty="0"/>
          </a:p>
        </p:txBody>
      </p:sp>
      <p:sp>
        <p:nvSpPr>
          <p:cNvPr id="6" name="Text 4"/>
          <p:cNvSpPr txBox="1"/>
          <p:nvPr/>
        </p:nvSpPr>
        <p:spPr>
          <a:xfrm>
            <a:off x="594360" y="2331720"/>
            <a:ext cx="10515600" cy="91440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Mutual Funds:</a:t>
            </a:r>
            <a:endParaRPr lang="en-US" sz="4600" dirty="0"/>
          </a:p>
        </p:txBody>
      </p:sp>
      <p:sp>
        <p:nvSpPr>
          <p:cNvPr id="7" name="Text 5"/>
          <p:cNvSpPr txBox="1"/>
          <p:nvPr/>
        </p:nvSpPr>
        <p:spPr>
          <a:xfrm>
            <a:off x="594360" y="3154680"/>
            <a:ext cx="10789920" cy="914400"/>
          </a:xfrm>
          <a:prstGeom prst="rect">
            <a:avLst/>
          </a:prstGeom>
          <a:noFill/>
          <a:ln/>
        </p:spPr>
        <p:txBody>
          <a:bodyPr wrap="square" lIns="0" tIns="0" rIns="0" bIns="0" rtlCol="0" anchor="ctr"/>
          <a:lstStyle/>
          <a:p>
            <a:pPr marL="0" indent="0">
              <a:buNone/>
            </a:pPr>
            <a:r>
              <a:rPr lang="en-US" sz="3400" b="1" dirty="0">
                <a:solidFill>
                  <a:srgbClr val="00A896"/>
                </a:solidFill>
                <a:latin typeface="Cambria" pitchFamily="34" charset="0"/>
                <a:ea typeface="Cambria" pitchFamily="34" charset="-122"/>
                <a:cs typeface="Cambria" pitchFamily="34" charset="-120"/>
              </a:rPr>
              <a:t>What My Investing Journey Taught Me</a:t>
            </a:r>
            <a:endParaRPr lang="en-US" sz="3400" dirty="0"/>
          </a:p>
        </p:txBody>
      </p:sp>
      <p:sp>
        <p:nvSpPr>
          <p:cNvPr id="8" name="Text 6"/>
          <p:cNvSpPr txBox="1"/>
          <p:nvPr/>
        </p:nvSpPr>
        <p:spPr>
          <a:xfrm>
            <a:off x="621792" y="4160520"/>
            <a:ext cx="8229600" cy="457200"/>
          </a:xfrm>
          <a:prstGeom prst="rect">
            <a:avLst/>
          </a:prstGeom>
          <a:noFill/>
          <a:ln/>
        </p:spPr>
        <p:txBody>
          <a:bodyPr wrap="square" lIns="0" tIns="0" rIns="0" bIns="0" rtlCol="0" anchor="ctr"/>
          <a:lstStyle/>
          <a:p>
            <a:pPr marL="0" indent="0">
              <a:buNone/>
            </a:pPr>
            <a:r>
              <a:rPr lang="en-US" sz="1600" i="1" dirty="0">
                <a:solidFill>
                  <a:srgbClr val="C8D6DB"/>
                </a:solidFill>
                <a:latin typeface="Calibri" pitchFamily="34" charset="0"/>
                <a:ea typeface="Calibri" pitchFamily="34" charset="-122"/>
                <a:cs typeface="Calibri" pitchFamily="34" charset="-120"/>
              </a:rPr>
              <a:t>From confusion to confident investing.</a:t>
            </a:r>
            <a:endParaRPr lang="en-US" sz="1600" dirty="0"/>
          </a:p>
        </p:txBody>
      </p:sp>
      <p:sp>
        <p:nvSpPr>
          <p:cNvPr id="9" name="Text 7"/>
          <p:cNvSpPr txBox="1"/>
          <p:nvPr/>
        </p:nvSpPr>
        <p:spPr>
          <a:xfrm>
            <a:off x="621792" y="4645152"/>
            <a:ext cx="8229600" cy="365760"/>
          </a:xfrm>
          <a:prstGeom prst="rect">
            <a:avLst/>
          </a:prstGeom>
          <a:noFill/>
          <a:ln/>
        </p:spPr>
        <p:txBody>
          <a:bodyPr wrap="square" lIns="0" tIns="0" rIns="0" bIns="0" rtlCol="0" anchor="ctr"/>
          <a:lstStyle/>
          <a:p>
            <a:pPr marL="0" indent="0">
              <a:buNone/>
            </a:pPr>
            <a:r>
              <a:rPr lang="en-US" sz="1400" b="1">
                <a:solidFill>
                  <a:srgbClr val="F4A300"/>
                </a:solidFill>
                <a:latin typeface="Calibri" pitchFamily="34" charset="0"/>
                <a:ea typeface="Calibri" pitchFamily="34" charset="-122"/>
                <a:cs typeface="Calibri" pitchFamily="34" charset="-120"/>
              </a:rPr>
              <a:t>Mahendran </a:t>
            </a:r>
            <a:r>
              <a:rPr lang="en-US" sz="1400" b="1" dirty="0">
                <a:solidFill>
                  <a:srgbClr val="F4A300"/>
                </a:solidFill>
                <a:latin typeface="Calibri" pitchFamily="34" charset="0"/>
                <a:ea typeface="Calibri" pitchFamily="34" charset="-122"/>
                <a:cs typeface="Calibri" pitchFamily="34" charset="-120"/>
              </a:rPr>
              <a:t>C S</a:t>
            </a:r>
            <a:endParaRPr lang="en-US" sz="1400" dirty="0"/>
          </a:p>
        </p:txBody>
      </p:sp>
      <p:sp>
        <p:nvSpPr>
          <p:cNvPr id="10" name="Text 8"/>
          <p:cNvSpPr txBox="1"/>
          <p:nvPr/>
        </p:nvSpPr>
        <p:spPr>
          <a:xfrm>
            <a:off x="621792" y="5257800"/>
            <a:ext cx="9692640" cy="914400"/>
          </a:xfrm>
          <a:prstGeom prst="rect">
            <a:avLst/>
          </a:prstGeom>
          <a:noFill/>
          <a:ln/>
        </p:spPr>
        <p:txBody>
          <a:bodyPr wrap="square" lIns="0" tIns="0" rIns="0" bIns="0" rtlCol="0" anchor="ctr"/>
          <a:lstStyle/>
          <a:p>
            <a:pPr marL="0" indent="0">
              <a:lnSpc>
                <a:spcPct val="120000"/>
              </a:lnSpc>
              <a:buNone/>
            </a:pPr>
            <a:r>
              <a:rPr lang="en-US" sz="1500" i="1" dirty="0">
                <a:solidFill>
                  <a:srgbClr val="E4EEF0"/>
                </a:solidFill>
                <a:latin typeface="Calibri" pitchFamily="34" charset="0"/>
                <a:ea typeface="Calibri" pitchFamily="34" charset="-122"/>
                <a:cs typeface="Calibri" pitchFamily="34" charset="-120"/>
              </a:rPr>
              <a:t>“I was not an MF expert when I started. What is an MF? Which MF? Why is it down? Should I stop my SIP? </a:t>
            </a:r>
            <a:r>
              <a:rPr lang="en-US" sz="1500" b="1" i="1" dirty="0">
                <a:solidFill>
                  <a:srgbClr val="E4EEF0"/>
                </a:solidFill>
                <a:latin typeface="Calibri" pitchFamily="34" charset="0"/>
                <a:ea typeface="Calibri" pitchFamily="34" charset="-122"/>
                <a:cs typeface="Calibri" pitchFamily="34" charset="-120"/>
              </a:rPr>
              <a:t>How do I even know if my fund is doing its job?”</a:t>
            </a:r>
            <a:endParaRPr lang="en-US" sz="1500" dirty="0"/>
          </a:p>
        </p:txBody>
      </p:sp>
      <p:sp>
        <p:nvSpPr>
          <p:cNvPr id="11" name="Text 9"/>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900" dirty="0">
                <a:solidFill>
                  <a:srgbClr val="8A97A0"/>
                </a:solidFill>
                <a:latin typeface="Calibri" pitchFamily="34" charset="0"/>
                <a:ea typeface="Calibri" pitchFamily="34" charset="-122"/>
                <a:cs typeface="Calibri" pitchFamily="34" charset="-120"/>
              </a:rPr>
              <a:t>Team Knowledge-Sharing Session</a:t>
            </a:r>
            <a:endParaRPr lang="en-US" sz="900" dirty="0"/>
          </a:p>
        </p:txBody>
      </p:sp>
      <p:sp>
        <p:nvSpPr>
          <p:cNvPr id="12" name="Text 10"/>
          <p:cNvSpPr txBox="1"/>
          <p:nvPr/>
        </p:nvSpPr>
        <p:spPr>
          <a:xfrm>
            <a:off x="11000232" y="6473952"/>
            <a:ext cx="731520" cy="274320"/>
          </a:xfrm>
          <a:prstGeom prst="rect">
            <a:avLst/>
          </a:prstGeom>
          <a:noFill/>
          <a:ln/>
        </p:spPr>
        <p:txBody>
          <a:bodyPr wrap="square" lIns="0" tIns="0" rIns="0" bIns="0" rtlCol="0" anchor="ctr"/>
          <a:lstStyle/>
          <a:p>
            <a:pPr marL="0" indent="0" algn="r">
              <a:buNone/>
            </a:pPr>
            <a:r>
              <a:rPr lang="en-US" sz="900" dirty="0">
                <a:solidFill>
                  <a:srgbClr val="8A97A0"/>
                </a:solidFill>
                <a:latin typeface="Calibri" pitchFamily="34" charset="0"/>
                <a:ea typeface="Calibri" pitchFamily="34" charset="-122"/>
                <a:cs typeface="Calibri" pitchFamily="34" charset="-120"/>
              </a:rPr>
              <a:t>1 / 31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LET'S START WITH YOU</a:t>
            </a:r>
            <a:endParaRPr lang="en-US" sz="1300" dirty="0"/>
          </a:p>
        </p:txBody>
      </p:sp>
      <p:sp>
        <p:nvSpPr>
          <p:cNvPr id="3" name="Text 1"/>
          <p:cNvSpPr txBox="1"/>
          <p:nvPr/>
        </p:nvSpPr>
        <p:spPr>
          <a:xfrm>
            <a:off x="548640" y="685800"/>
            <a:ext cx="11064240" cy="822960"/>
          </a:xfrm>
          <a:prstGeom prst="rect">
            <a:avLst/>
          </a:prstGeom>
          <a:noFill/>
          <a:ln/>
        </p:spPr>
        <p:txBody>
          <a:bodyPr wrap="square" lIns="0" tIns="0" rIns="0" bIns="0" rtlCol="0" anchor="ctr"/>
          <a:lstStyle/>
          <a:p>
            <a:pPr marL="0" indent="0">
              <a:buNone/>
            </a:pPr>
            <a:r>
              <a:rPr lang="en-US" sz="3000" b="1" dirty="0">
                <a:solidFill>
                  <a:srgbClr val="0A2A43"/>
                </a:solidFill>
                <a:latin typeface="Cambria" pitchFamily="34" charset="0"/>
                <a:ea typeface="Cambria" pitchFamily="34" charset="-122"/>
                <a:cs typeface="Cambria" pitchFamily="34" charset="-120"/>
              </a:rPr>
              <a:t>Where Would You Put ₹10,000 Today?</a:t>
            </a:r>
            <a:endParaRPr lang="en-US" sz="3000" dirty="0"/>
          </a:p>
        </p:txBody>
      </p:sp>
      <p:sp>
        <p:nvSpPr>
          <p:cNvPr id="4" name="Shape 2"/>
          <p:cNvSpPr/>
          <p:nvPr/>
        </p:nvSpPr>
        <p:spPr>
          <a:xfrm>
            <a:off x="548640" y="1737360"/>
            <a:ext cx="1691640" cy="1554480"/>
          </a:xfrm>
          <a:prstGeom prst="roundRect">
            <a:avLst>
              <a:gd name="adj" fmla="val 4706"/>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5" name="Shape 3"/>
          <p:cNvSpPr/>
          <p:nvPr/>
        </p:nvSpPr>
        <p:spPr>
          <a:xfrm>
            <a:off x="1101852" y="1938528"/>
            <a:ext cx="585216" cy="585216"/>
          </a:xfrm>
          <a:prstGeom prst="ellipse">
            <a:avLst/>
          </a:prstGeom>
          <a:solidFill>
            <a:srgbClr val="028090"/>
          </a:solidFill>
          <a:ln/>
        </p:spPr>
        <p:txBody>
          <a:bodyPr/>
          <a:lstStyle/>
          <a:p>
            <a:endParaRPr lang="en-IN"/>
          </a:p>
        </p:txBody>
      </p:sp>
      <p:sp>
        <p:nvSpPr>
          <p:cNvPr id="6" name="Text 4"/>
          <p:cNvSpPr txBox="1"/>
          <p:nvPr/>
        </p:nvSpPr>
        <p:spPr>
          <a:xfrm>
            <a:off x="1056132" y="1938528"/>
            <a:ext cx="676656" cy="585216"/>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Text 5"/>
          <p:cNvSpPr txBox="1"/>
          <p:nvPr/>
        </p:nvSpPr>
        <p:spPr>
          <a:xfrm>
            <a:off x="548640" y="2606040"/>
            <a:ext cx="1691640" cy="594360"/>
          </a:xfrm>
          <a:prstGeom prst="rect">
            <a:avLst/>
          </a:prstGeom>
          <a:noFill/>
          <a:ln/>
        </p:spPr>
        <p:txBody>
          <a:bodyPr wrap="square" lIns="0" tIns="0" rIns="0" bIns="0" rtlCol="0" anchor="ctr"/>
          <a:lstStyle/>
          <a:p>
            <a:pPr marL="0" indent="0" algn="ctr">
              <a:buNone/>
            </a:pPr>
            <a:r>
              <a:rPr lang="en-US" sz="1300" b="1" dirty="0">
                <a:solidFill>
                  <a:srgbClr val="1C1C1C"/>
                </a:solidFill>
                <a:latin typeface="Calibri" pitchFamily="34" charset="0"/>
                <a:ea typeface="Calibri" pitchFamily="34" charset="-122"/>
                <a:cs typeface="Calibri" pitchFamily="34" charset="-120"/>
              </a:rPr>
              <a:t>Savings</a:t>
            </a:r>
            <a:endParaRPr lang="en-US" sz="1300" dirty="0"/>
          </a:p>
          <a:p>
            <a:pPr marL="0" indent="0" algn="ctr">
              <a:buNone/>
            </a:pPr>
            <a:r>
              <a:rPr lang="en-US" sz="1300" b="1" dirty="0">
                <a:solidFill>
                  <a:srgbClr val="1C1C1C"/>
                </a:solidFill>
                <a:latin typeface="Calibri" pitchFamily="34" charset="0"/>
                <a:ea typeface="Calibri" pitchFamily="34" charset="-122"/>
                <a:cs typeface="Calibri" pitchFamily="34" charset="-120"/>
              </a:rPr>
              <a:t>Account</a:t>
            </a:r>
            <a:endParaRPr lang="en-US" sz="1300" dirty="0"/>
          </a:p>
        </p:txBody>
      </p:sp>
      <p:sp>
        <p:nvSpPr>
          <p:cNvPr id="8" name="Shape 6"/>
          <p:cNvSpPr/>
          <p:nvPr/>
        </p:nvSpPr>
        <p:spPr>
          <a:xfrm>
            <a:off x="2441448" y="1737360"/>
            <a:ext cx="1691640" cy="1554480"/>
          </a:xfrm>
          <a:prstGeom prst="roundRect">
            <a:avLst>
              <a:gd name="adj" fmla="val 4706"/>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9" name="Shape 7"/>
          <p:cNvSpPr/>
          <p:nvPr/>
        </p:nvSpPr>
        <p:spPr>
          <a:xfrm>
            <a:off x="2994660" y="1938528"/>
            <a:ext cx="585216" cy="585216"/>
          </a:xfrm>
          <a:prstGeom prst="ellipse">
            <a:avLst/>
          </a:prstGeom>
          <a:solidFill>
            <a:srgbClr val="00A896"/>
          </a:solidFill>
          <a:ln/>
        </p:spPr>
        <p:txBody>
          <a:bodyPr/>
          <a:lstStyle/>
          <a:p>
            <a:endParaRPr lang="en-IN"/>
          </a:p>
        </p:txBody>
      </p:sp>
      <p:sp>
        <p:nvSpPr>
          <p:cNvPr id="10" name="Text 8"/>
          <p:cNvSpPr txBox="1"/>
          <p:nvPr/>
        </p:nvSpPr>
        <p:spPr>
          <a:xfrm>
            <a:off x="2948940" y="1938528"/>
            <a:ext cx="676656" cy="585216"/>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1" name="Text 9"/>
          <p:cNvSpPr txBox="1"/>
          <p:nvPr/>
        </p:nvSpPr>
        <p:spPr>
          <a:xfrm>
            <a:off x="2441448" y="2606040"/>
            <a:ext cx="1691640" cy="594360"/>
          </a:xfrm>
          <a:prstGeom prst="rect">
            <a:avLst/>
          </a:prstGeom>
          <a:noFill/>
          <a:ln/>
        </p:spPr>
        <p:txBody>
          <a:bodyPr wrap="square" lIns="0" tIns="0" rIns="0" bIns="0" rtlCol="0" anchor="ctr"/>
          <a:lstStyle/>
          <a:p>
            <a:pPr marL="0" indent="0" algn="ctr">
              <a:buNone/>
            </a:pPr>
            <a:r>
              <a:rPr lang="en-US" sz="1300" b="1" dirty="0">
                <a:solidFill>
                  <a:srgbClr val="1C1C1C"/>
                </a:solidFill>
                <a:latin typeface="Calibri" pitchFamily="34" charset="0"/>
                <a:ea typeface="Calibri" pitchFamily="34" charset="-122"/>
                <a:cs typeface="Calibri" pitchFamily="34" charset="-120"/>
              </a:rPr>
              <a:t>Fixed</a:t>
            </a:r>
            <a:endParaRPr lang="en-US" sz="1300" dirty="0"/>
          </a:p>
          <a:p>
            <a:pPr marL="0" indent="0" algn="ctr">
              <a:buNone/>
            </a:pPr>
            <a:r>
              <a:rPr lang="en-US" sz="1300" b="1" dirty="0">
                <a:solidFill>
                  <a:srgbClr val="1C1C1C"/>
                </a:solidFill>
                <a:latin typeface="Calibri" pitchFamily="34" charset="0"/>
                <a:ea typeface="Calibri" pitchFamily="34" charset="-122"/>
                <a:cs typeface="Calibri" pitchFamily="34" charset="-120"/>
              </a:rPr>
              <a:t>Deposit</a:t>
            </a:r>
            <a:endParaRPr lang="en-US" sz="1300" dirty="0"/>
          </a:p>
        </p:txBody>
      </p:sp>
      <p:sp>
        <p:nvSpPr>
          <p:cNvPr id="12" name="Shape 10"/>
          <p:cNvSpPr/>
          <p:nvPr/>
        </p:nvSpPr>
        <p:spPr>
          <a:xfrm>
            <a:off x="4334256" y="1737360"/>
            <a:ext cx="1691640" cy="1554480"/>
          </a:xfrm>
          <a:prstGeom prst="roundRect">
            <a:avLst>
              <a:gd name="adj" fmla="val 4706"/>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13" name="Shape 11"/>
          <p:cNvSpPr/>
          <p:nvPr/>
        </p:nvSpPr>
        <p:spPr>
          <a:xfrm>
            <a:off x="4887468" y="1938528"/>
            <a:ext cx="585216" cy="585216"/>
          </a:xfrm>
          <a:prstGeom prst="ellipse">
            <a:avLst/>
          </a:prstGeom>
          <a:solidFill>
            <a:srgbClr val="F4A300"/>
          </a:solidFill>
          <a:ln/>
        </p:spPr>
        <p:txBody>
          <a:bodyPr/>
          <a:lstStyle/>
          <a:p>
            <a:endParaRPr lang="en-IN"/>
          </a:p>
        </p:txBody>
      </p:sp>
      <p:sp>
        <p:nvSpPr>
          <p:cNvPr id="14" name="Text 12"/>
          <p:cNvSpPr txBox="1"/>
          <p:nvPr/>
        </p:nvSpPr>
        <p:spPr>
          <a:xfrm>
            <a:off x="4841748" y="1938528"/>
            <a:ext cx="676656" cy="585216"/>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5" name="Text 13"/>
          <p:cNvSpPr txBox="1"/>
          <p:nvPr/>
        </p:nvSpPr>
        <p:spPr>
          <a:xfrm>
            <a:off x="4334256" y="2606040"/>
            <a:ext cx="1691640" cy="594360"/>
          </a:xfrm>
          <a:prstGeom prst="rect">
            <a:avLst/>
          </a:prstGeom>
          <a:noFill/>
          <a:ln/>
        </p:spPr>
        <p:txBody>
          <a:bodyPr wrap="square" lIns="0" tIns="0" rIns="0" bIns="0" rtlCol="0" anchor="ctr"/>
          <a:lstStyle/>
          <a:p>
            <a:pPr marL="0" indent="0" algn="ctr">
              <a:buNone/>
            </a:pPr>
            <a:r>
              <a:rPr lang="en-US" sz="1300" b="1" dirty="0">
                <a:solidFill>
                  <a:srgbClr val="1C1C1C"/>
                </a:solidFill>
                <a:latin typeface="Calibri" pitchFamily="34" charset="0"/>
                <a:ea typeface="Calibri" pitchFamily="34" charset="-122"/>
                <a:cs typeface="Calibri" pitchFamily="34" charset="-120"/>
              </a:rPr>
              <a:t>Gold</a:t>
            </a:r>
            <a:endParaRPr lang="en-US" sz="1300" dirty="0"/>
          </a:p>
        </p:txBody>
      </p:sp>
      <p:sp>
        <p:nvSpPr>
          <p:cNvPr id="16" name="Shape 14"/>
          <p:cNvSpPr/>
          <p:nvPr/>
        </p:nvSpPr>
        <p:spPr>
          <a:xfrm>
            <a:off x="6227064" y="1737360"/>
            <a:ext cx="1691640" cy="1554480"/>
          </a:xfrm>
          <a:prstGeom prst="roundRect">
            <a:avLst>
              <a:gd name="adj" fmla="val 4706"/>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17" name="Shape 15"/>
          <p:cNvSpPr/>
          <p:nvPr/>
        </p:nvSpPr>
        <p:spPr>
          <a:xfrm>
            <a:off x="6780276" y="1938528"/>
            <a:ext cx="585216" cy="585216"/>
          </a:xfrm>
          <a:prstGeom prst="ellipse">
            <a:avLst/>
          </a:prstGeom>
          <a:solidFill>
            <a:srgbClr val="6D2E46"/>
          </a:solidFill>
          <a:ln/>
        </p:spPr>
        <p:txBody>
          <a:bodyPr/>
          <a:lstStyle/>
          <a:p>
            <a:endParaRPr lang="en-IN"/>
          </a:p>
        </p:txBody>
      </p:sp>
      <p:sp>
        <p:nvSpPr>
          <p:cNvPr id="18" name="Text 16"/>
          <p:cNvSpPr txBox="1"/>
          <p:nvPr/>
        </p:nvSpPr>
        <p:spPr>
          <a:xfrm>
            <a:off x="6734556" y="1938528"/>
            <a:ext cx="676656" cy="585216"/>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9" name="Text 17"/>
          <p:cNvSpPr txBox="1"/>
          <p:nvPr/>
        </p:nvSpPr>
        <p:spPr>
          <a:xfrm>
            <a:off x="6227064" y="2606040"/>
            <a:ext cx="1691640" cy="594360"/>
          </a:xfrm>
          <a:prstGeom prst="rect">
            <a:avLst/>
          </a:prstGeom>
          <a:noFill/>
          <a:ln/>
        </p:spPr>
        <p:txBody>
          <a:bodyPr wrap="square" lIns="0" tIns="0" rIns="0" bIns="0" rtlCol="0" anchor="ctr"/>
          <a:lstStyle/>
          <a:p>
            <a:pPr marL="0" indent="0" algn="ctr">
              <a:buNone/>
            </a:pPr>
            <a:r>
              <a:rPr lang="en-US" sz="1300" b="1" dirty="0">
                <a:solidFill>
                  <a:srgbClr val="1C1C1C"/>
                </a:solidFill>
                <a:latin typeface="Calibri" pitchFamily="34" charset="0"/>
                <a:ea typeface="Calibri" pitchFamily="34" charset="-122"/>
                <a:cs typeface="Calibri" pitchFamily="34" charset="-120"/>
              </a:rPr>
              <a:t>Mutual</a:t>
            </a:r>
            <a:endParaRPr lang="en-US" sz="1300" dirty="0"/>
          </a:p>
          <a:p>
            <a:pPr marL="0" indent="0" algn="ctr">
              <a:buNone/>
            </a:pPr>
            <a:r>
              <a:rPr lang="en-US" sz="1300" b="1" dirty="0">
                <a:solidFill>
                  <a:srgbClr val="1C1C1C"/>
                </a:solidFill>
                <a:latin typeface="Calibri" pitchFamily="34" charset="0"/>
                <a:ea typeface="Calibri" pitchFamily="34" charset="-122"/>
                <a:cs typeface="Calibri" pitchFamily="34" charset="-120"/>
              </a:rPr>
              <a:t>Fund</a:t>
            </a:r>
            <a:endParaRPr lang="en-US" sz="1300" dirty="0"/>
          </a:p>
        </p:txBody>
      </p:sp>
      <p:sp>
        <p:nvSpPr>
          <p:cNvPr id="20" name="Shape 18"/>
          <p:cNvSpPr/>
          <p:nvPr/>
        </p:nvSpPr>
        <p:spPr>
          <a:xfrm>
            <a:off x="8119872" y="1737360"/>
            <a:ext cx="1691640" cy="1554480"/>
          </a:xfrm>
          <a:prstGeom prst="roundRect">
            <a:avLst>
              <a:gd name="adj" fmla="val 4706"/>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21" name="Shape 19"/>
          <p:cNvSpPr/>
          <p:nvPr/>
        </p:nvSpPr>
        <p:spPr>
          <a:xfrm>
            <a:off x="8673084" y="1938528"/>
            <a:ext cx="585216" cy="585216"/>
          </a:xfrm>
          <a:prstGeom prst="ellipse">
            <a:avLst/>
          </a:prstGeom>
          <a:solidFill>
            <a:srgbClr val="1C7293"/>
          </a:solidFill>
          <a:ln/>
        </p:spPr>
        <p:txBody>
          <a:bodyPr/>
          <a:lstStyle/>
          <a:p>
            <a:endParaRPr lang="en-IN"/>
          </a:p>
        </p:txBody>
      </p:sp>
      <p:sp>
        <p:nvSpPr>
          <p:cNvPr id="22" name="Text 20"/>
          <p:cNvSpPr txBox="1"/>
          <p:nvPr/>
        </p:nvSpPr>
        <p:spPr>
          <a:xfrm>
            <a:off x="8627364" y="1938528"/>
            <a:ext cx="676656" cy="585216"/>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23" name="Text 21"/>
          <p:cNvSpPr txBox="1"/>
          <p:nvPr/>
        </p:nvSpPr>
        <p:spPr>
          <a:xfrm>
            <a:off x="8119872" y="2606040"/>
            <a:ext cx="1691640" cy="594360"/>
          </a:xfrm>
          <a:prstGeom prst="rect">
            <a:avLst/>
          </a:prstGeom>
          <a:noFill/>
          <a:ln/>
        </p:spPr>
        <p:txBody>
          <a:bodyPr wrap="square" lIns="0" tIns="0" rIns="0" bIns="0" rtlCol="0" anchor="ctr"/>
          <a:lstStyle/>
          <a:p>
            <a:pPr marL="0" indent="0" algn="ctr">
              <a:buNone/>
            </a:pPr>
            <a:r>
              <a:rPr lang="en-US" sz="1300" b="1" dirty="0">
                <a:solidFill>
                  <a:srgbClr val="1C1C1C"/>
                </a:solidFill>
                <a:latin typeface="Calibri" pitchFamily="34" charset="0"/>
                <a:ea typeface="Calibri" pitchFamily="34" charset="-122"/>
                <a:cs typeface="Calibri" pitchFamily="34" charset="-120"/>
              </a:rPr>
              <a:t>Stocks</a:t>
            </a:r>
            <a:endParaRPr lang="en-US" sz="1300" dirty="0"/>
          </a:p>
        </p:txBody>
      </p:sp>
      <p:sp>
        <p:nvSpPr>
          <p:cNvPr id="24" name="Shape 22"/>
          <p:cNvSpPr/>
          <p:nvPr/>
        </p:nvSpPr>
        <p:spPr>
          <a:xfrm>
            <a:off x="10012680" y="1737360"/>
            <a:ext cx="1691640" cy="1554480"/>
          </a:xfrm>
          <a:prstGeom prst="roundRect">
            <a:avLst>
              <a:gd name="adj" fmla="val 4706"/>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25" name="Shape 23"/>
          <p:cNvSpPr/>
          <p:nvPr/>
        </p:nvSpPr>
        <p:spPr>
          <a:xfrm>
            <a:off x="10565892" y="1938528"/>
            <a:ext cx="585216" cy="585216"/>
          </a:xfrm>
          <a:prstGeom prst="ellipse">
            <a:avLst/>
          </a:prstGeom>
          <a:solidFill>
            <a:srgbClr val="51606B"/>
          </a:solidFill>
          <a:ln/>
        </p:spPr>
        <p:txBody>
          <a:bodyPr/>
          <a:lstStyle/>
          <a:p>
            <a:endParaRPr lang="en-IN"/>
          </a:p>
        </p:txBody>
      </p:sp>
      <p:sp>
        <p:nvSpPr>
          <p:cNvPr id="26" name="Text 24"/>
          <p:cNvSpPr txBox="1"/>
          <p:nvPr/>
        </p:nvSpPr>
        <p:spPr>
          <a:xfrm>
            <a:off x="10520172" y="1938528"/>
            <a:ext cx="676656" cy="585216"/>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a:t>
            </a:r>
            <a:endParaRPr lang="en-US" sz="2000" dirty="0"/>
          </a:p>
        </p:txBody>
      </p:sp>
      <p:sp>
        <p:nvSpPr>
          <p:cNvPr id="27" name="Text 25"/>
          <p:cNvSpPr txBox="1"/>
          <p:nvPr/>
        </p:nvSpPr>
        <p:spPr>
          <a:xfrm>
            <a:off x="10012680" y="2606040"/>
            <a:ext cx="1691640" cy="594360"/>
          </a:xfrm>
          <a:prstGeom prst="rect">
            <a:avLst/>
          </a:prstGeom>
          <a:noFill/>
          <a:ln/>
        </p:spPr>
        <p:txBody>
          <a:bodyPr wrap="square" lIns="0" tIns="0" rIns="0" bIns="0" rtlCol="0" anchor="ctr"/>
          <a:lstStyle/>
          <a:p>
            <a:pPr marL="0" indent="0" algn="ctr">
              <a:buNone/>
            </a:pPr>
            <a:r>
              <a:rPr lang="en-US" sz="1300" b="1" dirty="0">
                <a:solidFill>
                  <a:srgbClr val="1C1C1C"/>
                </a:solidFill>
                <a:latin typeface="Calibri" pitchFamily="34" charset="0"/>
                <a:ea typeface="Calibri" pitchFamily="34" charset="-122"/>
                <a:cs typeface="Calibri" pitchFamily="34" charset="-120"/>
              </a:rPr>
              <a:t>Spend</a:t>
            </a:r>
            <a:endParaRPr lang="en-US" sz="1300" dirty="0"/>
          </a:p>
          <a:p>
            <a:pPr marL="0" indent="0" algn="ctr">
              <a:buNone/>
            </a:pPr>
            <a:r>
              <a:rPr lang="en-US" sz="1300" b="1" dirty="0">
                <a:solidFill>
                  <a:srgbClr val="1C1C1C"/>
                </a:solidFill>
                <a:latin typeface="Calibri" pitchFamily="34" charset="0"/>
                <a:ea typeface="Calibri" pitchFamily="34" charset="-122"/>
                <a:cs typeface="Calibri" pitchFamily="34" charset="-120"/>
              </a:rPr>
              <a:t>It</a:t>
            </a:r>
            <a:endParaRPr lang="en-US" sz="1300" dirty="0"/>
          </a:p>
        </p:txBody>
      </p:sp>
      <p:sp>
        <p:nvSpPr>
          <p:cNvPr id="28" name="Text 26"/>
          <p:cNvSpPr txBox="1"/>
          <p:nvPr/>
        </p:nvSpPr>
        <p:spPr>
          <a:xfrm>
            <a:off x="548640" y="3657600"/>
            <a:ext cx="10515600" cy="457200"/>
          </a:xfrm>
          <a:prstGeom prst="rect">
            <a:avLst/>
          </a:prstGeom>
          <a:noFill/>
          <a:ln/>
        </p:spPr>
        <p:txBody>
          <a:bodyPr wrap="square" lIns="0" tIns="0" rIns="0" bIns="0" rtlCol="0" anchor="ctr"/>
          <a:lstStyle/>
          <a:p>
            <a:pPr marL="0" indent="0">
              <a:buNone/>
            </a:pPr>
            <a:r>
              <a:rPr lang="en-US" sz="1400" i="1" dirty="0">
                <a:solidFill>
                  <a:srgbClr val="51606B"/>
                </a:solidFill>
                <a:latin typeface="Calibri" pitchFamily="34" charset="0"/>
                <a:ea typeface="Calibri" pitchFamily="34" charset="-122"/>
                <a:cs typeface="Calibri" pitchFamily="34" charset="-120"/>
              </a:rPr>
              <a:t>Ask 2–3 people why they picked their option — there are no wrong answers.</a:t>
            </a:r>
            <a:endParaRPr lang="en-US" sz="1400" dirty="0"/>
          </a:p>
        </p:txBody>
      </p:sp>
      <p:sp>
        <p:nvSpPr>
          <p:cNvPr id="29" name="Shape 27"/>
          <p:cNvSpPr/>
          <p:nvPr/>
        </p:nvSpPr>
        <p:spPr>
          <a:xfrm>
            <a:off x="548640" y="4343400"/>
            <a:ext cx="11064240" cy="1554480"/>
          </a:xfrm>
          <a:prstGeom prst="roundRect">
            <a:avLst>
              <a:gd name="adj" fmla="val 4706"/>
            </a:avLst>
          </a:prstGeom>
          <a:solidFill>
            <a:srgbClr val="0A2A43"/>
          </a:solidFill>
          <a:ln/>
          <a:effectLst>
            <a:outerShdw blurRad="76200" dist="25400" dir="5400000" algn="bl" rotWithShape="0">
              <a:srgbClr val="1B1B1B">
                <a:alpha val="12000"/>
              </a:srgbClr>
            </a:outerShdw>
          </a:effectLst>
        </p:spPr>
        <p:txBody>
          <a:bodyPr/>
          <a:lstStyle/>
          <a:p>
            <a:endParaRPr lang="en-IN"/>
          </a:p>
        </p:txBody>
      </p:sp>
      <p:sp>
        <p:nvSpPr>
          <p:cNvPr id="30" name="Text 28"/>
          <p:cNvSpPr txBox="1"/>
          <p:nvPr/>
        </p:nvSpPr>
        <p:spPr>
          <a:xfrm>
            <a:off x="914400" y="4572000"/>
            <a:ext cx="10332720" cy="4572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Every answer hides a trade-off between risk, return, liquidity and time horizon.</a:t>
            </a:r>
            <a:endParaRPr lang="en-US" sz="1600" dirty="0"/>
          </a:p>
        </p:txBody>
      </p:sp>
      <p:sp>
        <p:nvSpPr>
          <p:cNvPr id="31" name="Text 29"/>
          <p:cNvSpPr txBox="1"/>
          <p:nvPr/>
        </p:nvSpPr>
        <p:spPr>
          <a:xfrm>
            <a:off x="914400" y="5029200"/>
            <a:ext cx="10332720" cy="640080"/>
          </a:xfrm>
          <a:prstGeom prst="rect">
            <a:avLst/>
          </a:prstGeom>
          <a:noFill/>
          <a:ln/>
        </p:spPr>
        <p:txBody>
          <a:bodyPr wrap="square" lIns="0" tIns="0" rIns="0" bIns="0" rtlCol="0" anchor="ctr"/>
          <a:lstStyle/>
          <a:p>
            <a:pPr marL="0" indent="0">
              <a:buNone/>
            </a:pPr>
            <a:r>
              <a:rPr lang="en-US" sz="1400" i="1" dirty="0">
                <a:solidFill>
                  <a:srgbClr val="6FE7DD"/>
                </a:solidFill>
                <a:latin typeface="Calibri" pitchFamily="34" charset="0"/>
                <a:ea typeface="Calibri" pitchFamily="34" charset="-122"/>
                <a:cs typeface="Calibri" pitchFamily="34" charset="-120"/>
              </a:rPr>
              <a:t>There is no single product that solves every financial goal — so where do mutual funds actually fit?</a:t>
            </a:r>
            <a:endParaRPr lang="en-US" sz="1400" dirty="0"/>
          </a:p>
        </p:txBody>
      </p:sp>
      <p:sp>
        <p:nvSpPr>
          <p:cNvPr id="32" name="Text 30"/>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900" dirty="0">
                <a:solidFill>
                  <a:srgbClr val="8A97A0"/>
                </a:solidFill>
                <a:latin typeface="Calibri" pitchFamily="34" charset="0"/>
                <a:ea typeface="Calibri" pitchFamily="34" charset="-122"/>
                <a:cs typeface="Calibri" pitchFamily="34" charset="-120"/>
              </a:rPr>
              <a:t>Mutual Funds: What My Investing Journey Taught Me</a:t>
            </a:r>
            <a:endParaRPr lang="en-US" sz="900" dirty="0"/>
          </a:p>
        </p:txBody>
      </p:sp>
      <p:sp>
        <p:nvSpPr>
          <p:cNvPr id="33" name="Text 31"/>
          <p:cNvSpPr txBox="1"/>
          <p:nvPr/>
        </p:nvSpPr>
        <p:spPr>
          <a:xfrm>
            <a:off x="11000232" y="6473952"/>
            <a:ext cx="731520" cy="274320"/>
          </a:xfrm>
          <a:prstGeom prst="rect">
            <a:avLst/>
          </a:prstGeom>
          <a:noFill/>
          <a:ln/>
        </p:spPr>
        <p:txBody>
          <a:bodyPr wrap="square" lIns="0" tIns="0" rIns="0" bIns="0" rtlCol="0" anchor="ctr"/>
          <a:lstStyle/>
          <a:p>
            <a:pPr marL="0" indent="0" algn="r">
              <a:buNone/>
            </a:pPr>
            <a:r>
              <a:rPr lang="en-US" sz="900" dirty="0">
                <a:solidFill>
                  <a:srgbClr val="8A97A0"/>
                </a:solidFill>
                <a:latin typeface="Calibri" pitchFamily="34" charset="0"/>
                <a:ea typeface="Calibri" pitchFamily="34" charset="-122"/>
                <a:cs typeface="Calibri" pitchFamily="34" charset="-120"/>
              </a:rPr>
              <a:t>2 / 31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MY STORY</a:t>
            </a:r>
            <a:endParaRPr lang="en-US" sz="1300" dirty="0"/>
          </a:p>
        </p:txBody>
      </p:sp>
      <p:sp>
        <p:nvSpPr>
          <p:cNvPr id="3" name="Text 1"/>
          <p:cNvSpPr txBox="1"/>
          <p:nvPr/>
        </p:nvSpPr>
        <p:spPr>
          <a:xfrm>
            <a:off x="548640" y="685800"/>
            <a:ext cx="11064240" cy="822960"/>
          </a:xfrm>
          <a:prstGeom prst="rect">
            <a:avLst/>
          </a:prstGeom>
          <a:noFill/>
          <a:ln/>
        </p:spPr>
        <p:txBody>
          <a:bodyPr wrap="square" lIns="0" tIns="0" rIns="0" bIns="0" rtlCol="0" anchor="ctr"/>
          <a:lstStyle/>
          <a:p>
            <a:pPr marL="0" indent="0">
              <a:buNone/>
            </a:pPr>
            <a:r>
              <a:rPr lang="en-US" sz="3000" b="1" dirty="0">
                <a:solidFill>
                  <a:srgbClr val="0A2A43"/>
                </a:solidFill>
                <a:latin typeface="Cambria" pitchFamily="34" charset="0"/>
                <a:ea typeface="Cambria" pitchFamily="34" charset="-122"/>
                <a:cs typeface="Cambria" pitchFamily="34" charset="-120"/>
              </a:rPr>
              <a:t>My Investing Journey, One Stage at a Time</a:t>
            </a:r>
            <a:endParaRPr lang="en-US" sz="3000" dirty="0"/>
          </a:p>
        </p:txBody>
      </p:sp>
      <p:sp>
        <p:nvSpPr>
          <p:cNvPr id="4" name="Shape 2"/>
          <p:cNvSpPr/>
          <p:nvPr/>
        </p:nvSpPr>
        <p:spPr>
          <a:xfrm>
            <a:off x="822960" y="1984248"/>
            <a:ext cx="9326880" cy="0"/>
          </a:xfrm>
          <a:prstGeom prst="line">
            <a:avLst/>
          </a:prstGeom>
          <a:noFill/>
          <a:ln w="25400">
            <a:solidFill>
              <a:srgbClr val="C6D8DB"/>
            </a:solidFill>
            <a:prstDash val="dash"/>
          </a:ln>
        </p:spPr>
        <p:txBody>
          <a:bodyPr/>
          <a:lstStyle/>
          <a:p>
            <a:endParaRPr lang="en-IN"/>
          </a:p>
        </p:txBody>
      </p:sp>
      <p:sp>
        <p:nvSpPr>
          <p:cNvPr id="5" name="Shape 3"/>
          <p:cNvSpPr/>
          <p:nvPr/>
        </p:nvSpPr>
        <p:spPr>
          <a:xfrm>
            <a:off x="1101852" y="1691640"/>
            <a:ext cx="585216" cy="585216"/>
          </a:xfrm>
          <a:prstGeom prst="ellipse">
            <a:avLst/>
          </a:prstGeom>
          <a:solidFill>
            <a:srgbClr val="028090"/>
          </a:solidFill>
          <a:ln/>
        </p:spPr>
        <p:txBody>
          <a:bodyPr/>
          <a:lstStyle/>
          <a:p>
            <a:endParaRPr lang="en-IN"/>
          </a:p>
        </p:txBody>
      </p:sp>
      <p:sp>
        <p:nvSpPr>
          <p:cNvPr id="6" name="Text 4"/>
          <p:cNvSpPr txBox="1"/>
          <p:nvPr/>
        </p:nvSpPr>
        <p:spPr>
          <a:xfrm>
            <a:off x="1056132" y="1691640"/>
            <a:ext cx="676656" cy="585216"/>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Shape 5"/>
          <p:cNvSpPr/>
          <p:nvPr/>
        </p:nvSpPr>
        <p:spPr>
          <a:xfrm>
            <a:off x="548640" y="2468880"/>
            <a:ext cx="1691640" cy="1417320"/>
          </a:xfrm>
          <a:prstGeom prst="roundRect">
            <a:avLst>
              <a:gd name="adj" fmla="val 5161"/>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8" name="Text 6"/>
          <p:cNvSpPr txBox="1"/>
          <p:nvPr/>
        </p:nvSpPr>
        <p:spPr>
          <a:xfrm>
            <a:off x="621792" y="2587752"/>
            <a:ext cx="1545336" cy="1188720"/>
          </a:xfrm>
          <a:prstGeom prst="rect">
            <a:avLst/>
          </a:prstGeom>
          <a:noFill/>
          <a:ln/>
        </p:spPr>
        <p:txBody>
          <a:bodyPr wrap="square" lIns="0" tIns="0" rIns="0" bIns="0" rtlCol="0" anchor="t"/>
          <a:lstStyle/>
          <a:p>
            <a:pPr marL="0" indent="0" algn="ctr">
              <a:lnSpc>
                <a:spcPct val="110000"/>
              </a:lnSpc>
              <a:buNone/>
            </a:pPr>
            <a:r>
              <a:rPr lang="en-US" sz="1250" dirty="0">
                <a:solidFill>
                  <a:srgbClr val="1C1C1C"/>
                </a:solidFill>
                <a:latin typeface="Calibri" pitchFamily="34" charset="0"/>
                <a:ea typeface="Calibri" pitchFamily="34" charset="-122"/>
                <a:cs typeface="Calibri" pitchFamily="34" charset="-120"/>
              </a:rPr>
              <a:t>Heard about</a:t>
            </a:r>
            <a:endParaRPr lang="en-US" sz="1250" dirty="0"/>
          </a:p>
          <a:p>
            <a:pPr marL="0" indent="0" algn="ctr">
              <a:lnSpc>
                <a:spcPct val="110000"/>
              </a:lnSpc>
              <a:buNone/>
            </a:pPr>
            <a:r>
              <a:rPr lang="en-US" sz="1250" dirty="0">
                <a:solidFill>
                  <a:srgbClr val="1C1C1C"/>
                </a:solidFill>
                <a:latin typeface="Calibri" pitchFamily="34" charset="0"/>
                <a:ea typeface="Calibri" pitchFamily="34" charset="-122"/>
                <a:cs typeface="Calibri" pitchFamily="34" charset="-120"/>
              </a:rPr>
              <a:t>mutual funds</a:t>
            </a:r>
            <a:endParaRPr lang="en-US" sz="1250" dirty="0"/>
          </a:p>
        </p:txBody>
      </p:sp>
      <p:sp>
        <p:nvSpPr>
          <p:cNvPr id="9" name="Shape 7"/>
          <p:cNvSpPr/>
          <p:nvPr/>
        </p:nvSpPr>
        <p:spPr>
          <a:xfrm>
            <a:off x="2967228" y="1691640"/>
            <a:ext cx="585216" cy="585216"/>
          </a:xfrm>
          <a:prstGeom prst="ellipse">
            <a:avLst/>
          </a:prstGeom>
          <a:solidFill>
            <a:srgbClr val="00A896"/>
          </a:solidFill>
          <a:ln/>
        </p:spPr>
        <p:txBody>
          <a:bodyPr/>
          <a:lstStyle/>
          <a:p>
            <a:endParaRPr lang="en-IN"/>
          </a:p>
        </p:txBody>
      </p:sp>
      <p:sp>
        <p:nvSpPr>
          <p:cNvPr id="10" name="Text 8"/>
          <p:cNvSpPr txBox="1"/>
          <p:nvPr/>
        </p:nvSpPr>
        <p:spPr>
          <a:xfrm>
            <a:off x="2921508" y="1691640"/>
            <a:ext cx="676656" cy="585216"/>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1" name="Shape 9"/>
          <p:cNvSpPr/>
          <p:nvPr/>
        </p:nvSpPr>
        <p:spPr>
          <a:xfrm>
            <a:off x="2414016" y="2468880"/>
            <a:ext cx="1691640" cy="1417320"/>
          </a:xfrm>
          <a:prstGeom prst="roundRect">
            <a:avLst>
              <a:gd name="adj" fmla="val 5161"/>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12" name="Text 10"/>
          <p:cNvSpPr txBox="1"/>
          <p:nvPr/>
        </p:nvSpPr>
        <p:spPr>
          <a:xfrm>
            <a:off x="2487168" y="2587752"/>
            <a:ext cx="1545336" cy="1188720"/>
          </a:xfrm>
          <a:prstGeom prst="rect">
            <a:avLst/>
          </a:prstGeom>
          <a:noFill/>
          <a:ln/>
        </p:spPr>
        <p:txBody>
          <a:bodyPr wrap="square" lIns="0" tIns="0" rIns="0" bIns="0" rtlCol="0" anchor="t"/>
          <a:lstStyle/>
          <a:p>
            <a:pPr marL="0" indent="0" algn="ctr">
              <a:lnSpc>
                <a:spcPct val="110000"/>
              </a:lnSpc>
              <a:buNone/>
            </a:pPr>
            <a:r>
              <a:rPr lang="en-US" sz="1250" dirty="0">
                <a:solidFill>
                  <a:srgbClr val="1C1C1C"/>
                </a:solidFill>
                <a:latin typeface="Calibri" pitchFamily="34" charset="0"/>
                <a:ea typeface="Calibri" pitchFamily="34" charset="-122"/>
                <a:cs typeface="Calibri" pitchFamily="34" charset="-120"/>
              </a:rPr>
              <a:t>Understood SIP</a:t>
            </a:r>
            <a:endParaRPr lang="en-US" sz="1250" dirty="0"/>
          </a:p>
          <a:p>
            <a:pPr marL="0" indent="0" algn="ctr">
              <a:lnSpc>
                <a:spcPct val="110000"/>
              </a:lnSpc>
              <a:buNone/>
            </a:pPr>
            <a:r>
              <a:rPr lang="en-US" sz="1250" dirty="0">
                <a:solidFill>
                  <a:srgbClr val="1C1C1C"/>
                </a:solidFill>
                <a:latin typeface="Calibri" pitchFamily="34" charset="0"/>
                <a:ea typeface="Calibri" pitchFamily="34" charset="-122"/>
                <a:cs typeface="Calibri" pitchFamily="34" charset="-120"/>
              </a:rPr>
              <a:t>&amp; compounding</a:t>
            </a:r>
            <a:endParaRPr lang="en-US" sz="1250" dirty="0"/>
          </a:p>
        </p:txBody>
      </p:sp>
      <p:sp>
        <p:nvSpPr>
          <p:cNvPr id="13" name="Shape 11"/>
          <p:cNvSpPr/>
          <p:nvPr/>
        </p:nvSpPr>
        <p:spPr>
          <a:xfrm>
            <a:off x="4832604" y="1691640"/>
            <a:ext cx="585216" cy="585216"/>
          </a:xfrm>
          <a:prstGeom prst="ellipse">
            <a:avLst/>
          </a:prstGeom>
          <a:solidFill>
            <a:srgbClr val="028090"/>
          </a:solidFill>
          <a:ln/>
        </p:spPr>
        <p:txBody>
          <a:bodyPr/>
          <a:lstStyle/>
          <a:p>
            <a:endParaRPr lang="en-IN"/>
          </a:p>
        </p:txBody>
      </p:sp>
      <p:sp>
        <p:nvSpPr>
          <p:cNvPr id="14" name="Text 12"/>
          <p:cNvSpPr txBox="1"/>
          <p:nvPr/>
        </p:nvSpPr>
        <p:spPr>
          <a:xfrm>
            <a:off x="4786884" y="1691640"/>
            <a:ext cx="676656" cy="585216"/>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5" name="Shape 13"/>
          <p:cNvSpPr/>
          <p:nvPr/>
        </p:nvSpPr>
        <p:spPr>
          <a:xfrm>
            <a:off x="4279392" y="2468880"/>
            <a:ext cx="1691640" cy="1417320"/>
          </a:xfrm>
          <a:prstGeom prst="roundRect">
            <a:avLst>
              <a:gd name="adj" fmla="val 5161"/>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16" name="Text 14"/>
          <p:cNvSpPr txBox="1"/>
          <p:nvPr/>
        </p:nvSpPr>
        <p:spPr>
          <a:xfrm>
            <a:off x="4352544" y="2587752"/>
            <a:ext cx="1545336" cy="1188720"/>
          </a:xfrm>
          <a:prstGeom prst="rect">
            <a:avLst/>
          </a:prstGeom>
          <a:noFill/>
          <a:ln/>
        </p:spPr>
        <p:txBody>
          <a:bodyPr wrap="square" lIns="0" tIns="0" rIns="0" bIns="0" rtlCol="0" anchor="t"/>
          <a:lstStyle/>
          <a:p>
            <a:pPr marL="0" indent="0" algn="ctr">
              <a:lnSpc>
                <a:spcPct val="110000"/>
              </a:lnSpc>
              <a:buNone/>
            </a:pPr>
            <a:r>
              <a:rPr lang="en-US" sz="1250" dirty="0">
                <a:solidFill>
                  <a:srgbClr val="1C1C1C"/>
                </a:solidFill>
                <a:latin typeface="Calibri" pitchFamily="34" charset="0"/>
                <a:ea typeface="Calibri" pitchFamily="34" charset="-122"/>
                <a:cs typeface="Calibri" pitchFamily="34" charset="-120"/>
              </a:rPr>
              <a:t>Started comparing</a:t>
            </a:r>
            <a:endParaRPr lang="en-US" sz="1250" dirty="0"/>
          </a:p>
          <a:p>
            <a:pPr marL="0" indent="0" algn="ctr">
              <a:lnSpc>
                <a:spcPct val="110000"/>
              </a:lnSpc>
              <a:buNone/>
            </a:pPr>
            <a:r>
              <a:rPr lang="en-US" sz="1250" dirty="0">
                <a:solidFill>
                  <a:srgbClr val="1C1C1C"/>
                </a:solidFill>
                <a:latin typeface="Calibri" pitchFamily="34" charset="0"/>
                <a:ea typeface="Calibri" pitchFamily="34" charset="-122"/>
                <a:cs typeface="Calibri" pitchFamily="34" charset="-120"/>
              </a:rPr>
              <a:t>funds</a:t>
            </a:r>
            <a:endParaRPr lang="en-US" sz="1250" dirty="0"/>
          </a:p>
        </p:txBody>
      </p:sp>
      <p:sp>
        <p:nvSpPr>
          <p:cNvPr id="17" name="Shape 15"/>
          <p:cNvSpPr/>
          <p:nvPr/>
        </p:nvSpPr>
        <p:spPr>
          <a:xfrm>
            <a:off x="6697980" y="1691640"/>
            <a:ext cx="585216" cy="585216"/>
          </a:xfrm>
          <a:prstGeom prst="ellipse">
            <a:avLst/>
          </a:prstGeom>
          <a:solidFill>
            <a:srgbClr val="00A896"/>
          </a:solidFill>
          <a:ln/>
        </p:spPr>
        <p:txBody>
          <a:bodyPr/>
          <a:lstStyle/>
          <a:p>
            <a:endParaRPr lang="en-IN"/>
          </a:p>
        </p:txBody>
      </p:sp>
      <p:sp>
        <p:nvSpPr>
          <p:cNvPr id="18" name="Text 16"/>
          <p:cNvSpPr txBox="1"/>
          <p:nvPr/>
        </p:nvSpPr>
        <p:spPr>
          <a:xfrm>
            <a:off x="6652260" y="1691640"/>
            <a:ext cx="676656" cy="585216"/>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9" name="Shape 17"/>
          <p:cNvSpPr/>
          <p:nvPr/>
        </p:nvSpPr>
        <p:spPr>
          <a:xfrm>
            <a:off x="6144768" y="2468880"/>
            <a:ext cx="1691640" cy="1417320"/>
          </a:xfrm>
          <a:prstGeom prst="roundRect">
            <a:avLst>
              <a:gd name="adj" fmla="val 5161"/>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20" name="Text 18"/>
          <p:cNvSpPr txBox="1"/>
          <p:nvPr/>
        </p:nvSpPr>
        <p:spPr>
          <a:xfrm>
            <a:off x="6217920" y="2587752"/>
            <a:ext cx="1545336" cy="1188720"/>
          </a:xfrm>
          <a:prstGeom prst="rect">
            <a:avLst/>
          </a:prstGeom>
          <a:noFill/>
          <a:ln/>
        </p:spPr>
        <p:txBody>
          <a:bodyPr wrap="square" lIns="0" tIns="0" rIns="0" bIns="0" rtlCol="0" anchor="t"/>
          <a:lstStyle/>
          <a:p>
            <a:pPr marL="0" indent="0" algn="ctr">
              <a:lnSpc>
                <a:spcPct val="110000"/>
              </a:lnSpc>
              <a:buNone/>
            </a:pPr>
            <a:r>
              <a:rPr lang="en-US" sz="1250" dirty="0">
                <a:solidFill>
                  <a:srgbClr val="1C1C1C"/>
                </a:solidFill>
                <a:latin typeface="Calibri" pitchFamily="34" charset="0"/>
                <a:ea typeface="Calibri" pitchFamily="34" charset="-122"/>
                <a:cs typeface="Calibri" pitchFamily="34" charset="-120"/>
              </a:rPr>
              <a:t>Felt real market</a:t>
            </a:r>
            <a:endParaRPr lang="en-US" sz="1250" dirty="0"/>
          </a:p>
          <a:p>
            <a:pPr marL="0" indent="0" algn="ctr">
              <a:lnSpc>
                <a:spcPct val="110000"/>
              </a:lnSpc>
              <a:buNone/>
            </a:pPr>
            <a:r>
              <a:rPr lang="en-US" sz="1250" dirty="0">
                <a:solidFill>
                  <a:srgbClr val="1C1C1C"/>
                </a:solidFill>
                <a:latin typeface="Calibri" pitchFamily="34" charset="0"/>
                <a:ea typeface="Calibri" pitchFamily="34" charset="-122"/>
                <a:cs typeface="Calibri" pitchFamily="34" charset="-120"/>
              </a:rPr>
              <a:t>volatility</a:t>
            </a:r>
            <a:endParaRPr lang="en-US" sz="1250" dirty="0"/>
          </a:p>
        </p:txBody>
      </p:sp>
      <p:sp>
        <p:nvSpPr>
          <p:cNvPr id="21" name="Shape 19"/>
          <p:cNvSpPr/>
          <p:nvPr/>
        </p:nvSpPr>
        <p:spPr>
          <a:xfrm>
            <a:off x="8563356" y="1691640"/>
            <a:ext cx="585216" cy="585216"/>
          </a:xfrm>
          <a:prstGeom prst="ellipse">
            <a:avLst/>
          </a:prstGeom>
          <a:solidFill>
            <a:srgbClr val="028090"/>
          </a:solidFill>
          <a:ln/>
        </p:spPr>
        <p:txBody>
          <a:bodyPr/>
          <a:lstStyle/>
          <a:p>
            <a:endParaRPr lang="en-IN"/>
          </a:p>
        </p:txBody>
      </p:sp>
      <p:sp>
        <p:nvSpPr>
          <p:cNvPr id="22" name="Text 20"/>
          <p:cNvSpPr txBox="1"/>
          <p:nvPr/>
        </p:nvSpPr>
        <p:spPr>
          <a:xfrm>
            <a:off x="8517636" y="1691640"/>
            <a:ext cx="676656" cy="585216"/>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23" name="Shape 21"/>
          <p:cNvSpPr/>
          <p:nvPr/>
        </p:nvSpPr>
        <p:spPr>
          <a:xfrm>
            <a:off x="8010144" y="2468880"/>
            <a:ext cx="1691640" cy="1417320"/>
          </a:xfrm>
          <a:prstGeom prst="roundRect">
            <a:avLst>
              <a:gd name="adj" fmla="val 5161"/>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24" name="Text 22"/>
          <p:cNvSpPr txBox="1"/>
          <p:nvPr/>
        </p:nvSpPr>
        <p:spPr>
          <a:xfrm>
            <a:off x="8083296" y="2587752"/>
            <a:ext cx="1545336" cy="1188720"/>
          </a:xfrm>
          <a:prstGeom prst="rect">
            <a:avLst/>
          </a:prstGeom>
          <a:noFill/>
          <a:ln/>
        </p:spPr>
        <p:txBody>
          <a:bodyPr wrap="square" lIns="0" tIns="0" rIns="0" bIns="0" rtlCol="0" anchor="t"/>
          <a:lstStyle/>
          <a:p>
            <a:pPr marL="0" indent="0" algn="ctr">
              <a:lnSpc>
                <a:spcPct val="110000"/>
              </a:lnSpc>
              <a:buNone/>
            </a:pPr>
            <a:r>
              <a:rPr lang="en-US" sz="1250" dirty="0">
                <a:solidFill>
                  <a:srgbClr val="1C1C1C"/>
                </a:solidFill>
                <a:latin typeface="Calibri" pitchFamily="34" charset="0"/>
                <a:ea typeface="Calibri" pitchFamily="34" charset="-122"/>
                <a:cs typeface="Calibri" pitchFamily="34" charset="-120"/>
              </a:rPr>
              <a:t>Found overlapping</a:t>
            </a:r>
            <a:endParaRPr lang="en-US" sz="1250" dirty="0"/>
          </a:p>
          <a:p>
            <a:pPr marL="0" indent="0" algn="ctr">
              <a:lnSpc>
                <a:spcPct val="110000"/>
              </a:lnSpc>
              <a:buNone/>
            </a:pPr>
            <a:r>
              <a:rPr lang="en-US" sz="1250" dirty="0">
                <a:solidFill>
                  <a:srgbClr val="1C1C1C"/>
                </a:solidFill>
                <a:latin typeface="Calibri" pitchFamily="34" charset="0"/>
                <a:ea typeface="Calibri" pitchFamily="34" charset="-122"/>
                <a:cs typeface="Calibri" pitchFamily="34" charset="-120"/>
              </a:rPr>
              <a:t>holdings</a:t>
            </a:r>
            <a:endParaRPr lang="en-US" sz="1250" dirty="0"/>
          </a:p>
        </p:txBody>
      </p:sp>
      <p:sp>
        <p:nvSpPr>
          <p:cNvPr id="25" name="Shape 23"/>
          <p:cNvSpPr/>
          <p:nvPr/>
        </p:nvSpPr>
        <p:spPr>
          <a:xfrm>
            <a:off x="10428732" y="1691640"/>
            <a:ext cx="585216" cy="585216"/>
          </a:xfrm>
          <a:prstGeom prst="ellipse">
            <a:avLst/>
          </a:prstGeom>
          <a:solidFill>
            <a:srgbClr val="00A896"/>
          </a:solidFill>
          <a:ln/>
        </p:spPr>
        <p:txBody>
          <a:bodyPr/>
          <a:lstStyle/>
          <a:p>
            <a:endParaRPr lang="en-IN"/>
          </a:p>
        </p:txBody>
      </p:sp>
      <p:sp>
        <p:nvSpPr>
          <p:cNvPr id="26" name="Text 24"/>
          <p:cNvSpPr txBox="1"/>
          <p:nvPr/>
        </p:nvSpPr>
        <p:spPr>
          <a:xfrm>
            <a:off x="10383012" y="1691640"/>
            <a:ext cx="676656" cy="585216"/>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a:t>
            </a:r>
            <a:endParaRPr lang="en-US" sz="2000" dirty="0"/>
          </a:p>
        </p:txBody>
      </p:sp>
      <p:sp>
        <p:nvSpPr>
          <p:cNvPr id="27" name="Shape 25"/>
          <p:cNvSpPr/>
          <p:nvPr/>
        </p:nvSpPr>
        <p:spPr>
          <a:xfrm>
            <a:off x="9875520" y="2468880"/>
            <a:ext cx="1691640" cy="1417320"/>
          </a:xfrm>
          <a:prstGeom prst="roundRect">
            <a:avLst>
              <a:gd name="adj" fmla="val 5161"/>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28" name="Text 26"/>
          <p:cNvSpPr txBox="1"/>
          <p:nvPr/>
        </p:nvSpPr>
        <p:spPr>
          <a:xfrm>
            <a:off x="9948672" y="2587752"/>
            <a:ext cx="1545336" cy="1188720"/>
          </a:xfrm>
          <a:prstGeom prst="rect">
            <a:avLst/>
          </a:prstGeom>
          <a:noFill/>
          <a:ln/>
        </p:spPr>
        <p:txBody>
          <a:bodyPr wrap="square" lIns="0" tIns="0" rIns="0" bIns="0" rtlCol="0" anchor="t"/>
          <a:lstStyle/>
          <a:p>
            <a:pPr marL="0" indent="0" algn="ctr">
              <a:lnSpc>
                <a:spcPct val="110000"/>
              </a:lnSpc>
              <a:buNone/>
            </a:pPr>
            <a:r>
              <a:rPr lang="en-US" sz="1250" dirty="0">
                <a:solidFill>
                  <a:srgbClr val="1C1C1C"/>
                </a:solidFill>
                <a:latin typeface="Calibri" pitchFamily="34" charset="0"/>
                <a:ea typeface="Calibri" pitchFamily="34" charset="-122"/>
                <a:cs typeface="Calibri" pitchFamily="34" charset="-120"/>
              </a:rPr>
              <a:t>Learned to evaluate</a:t>
            </a:r>
            <a:endParaRPr lang="en-US" sz="1250" dirty="0"/>
          </a:p>
          <a:p>
            <a:pPr marL="0" indent="0" algn="ctr">
              <a:lnSpc>
                <a:spcPct val="110000"/>
              </a:lnSpc>
              <a:buNone/>
            </a:pPr>
            <a:r>
              <a:rPr lang="en-US" sz="1250" dirty="0">
                <a:solidFill>
                  <a:srgbClr val="1C1C1C"/>
                </a:solidFill>
                <a:latin typeface="Calibri" pitchFamily="34" charset="0"/>
                <a:ea typeface="Calibri" pitchFamily="34" charset="-122"/>
                <a:cs typeface="Calibri" pitchFamily="34" charset="-120"/>
              </a:rPr>
              <a:t>what I own</a:t>
            </a:r>
            <a:endParaRPr lang="en-US" sz="1250" dirty="0"/>
          </a:p>
        </p:txBody>
      </p:sp>
      <p:sp>
        <p:nvSpPr>
          <p:cNvPr id="29" name="Shape 27"/>
          <p:cNvSpPr/>
          <p:nvPr/>
        </p:nvSpPr>
        <p:spPr>
          <a:xfrm>
            <a:off x="548640" y="4343400"/>
            <a:ext cx="11064240" cy="1645920"/>
          </a:xfrm>
          <a:prstGeom prst="roundRect">
            <a:avLst>
              <a:gd name="adj" fmla="val 4444"/>
            </a:avLst>
          </a:prstGeom>
          <a:solidFill>
            <a:srgbClr val="0A2A43"/>
          </a:solidFill>
          <a:ln/>
          <a:effectLst>
            <a:outerShdw blurRad="76200" dist="25400" dir="5400000" algn="bl" rotWithShape="0">
              <a:srgbClr val="1B1B1B">
                <a:alpha val="12000"/>
              </a:srgbClr>
            </a:outerShdw>
          </a:effectLst>
        </p:spPr>
        <p:txBody>
          <a:bodyPr/>
          <a:lstStyle/>
          <a:p>
            <a:endParaRPr lang="en-IN"/>
          </a:p>
        </p:txBody>
      </p:sp>
      <p:sp>
        <p:nvSpPr>
          <p:cNvPr id="30" name="Text 28"/>
          <p:cNvSpPr txBox="1"/>
          <p:nvPr/>
        </p:nvSpPr>
        <p:spPr>
          <a:xfrm>
            <a:off x="914400" y="4572000"/>
            <a:ext cx="10332720" cy="457200"/>
          </a:xfrm>
          <a:prstGeom prst="rect">
            <a:avLst/>
          </a:prstGeom>
          <a:noFill/>
          <a:ln/>
        </p:spPr>
        <p:txBody>
          <a:bodyPr wrap="square" lIns="0" tIns="0" rIns="0" bIns="0" rtlCol="0" anchor="ctr"/>
          <a:lstStyle/>
          <a:p>
            <a:pPr marL="0" indent="0">
              <a:buNone/>
            </a:pPr>
            <a:r>
              <a:rPr lang="en-US" sz="1900" b="1" dirty="0">
                <a:solidFill>
                  <a:srgbClr val="F4A300"/>
                </a:solidFill>
                <a:latin typeface="Cambria" pitchFamily="34" charset="0"/>
                <a:ea typeface="Cambria" pitchFamily="34" charset="-122"/>
                <a:cs typeface="Cambria" pitchFamily="34" charset="-120"/>
              </a:rPr>
              <a:t>The biggest lesson wasn’t which fund to buy.</a:t>
            </a:r>
            <a:endParaRPr lang="en-US" sz="1900" dirty="0"/>
          </a:p>
        </p:txBody>
      </p:sp>
      <p:sp>
        <p:nvSpPr>
          <p:cNvPr id="31" name="Text 29"/>
          <p:cNvSpPr txBox="1"/>
          <p:nvPr/>
        </p:nvSpPr>
        <p:spPr>
          <a:xfrm>
            <a:off x="914400" y="5074920"/>
            <a:ext cx="10332720" cy="548640"/>
          </a:xfrm>
          <a:prstGeom prst="rect">
            <a:avLst/>
          </a:prstGeom>
          <a:noFill/>
          <a:ln/>
        </p:spPr>
        <p:txBody>
          <a:bodyPr wrap="square" lIns="0" tIns="0" rIns="0" bIns="0" rtlCol="0" anchor="ctr"/>
          <a:lstStyle/>
          <a:p>
            <a:pPr marL="0" indent="0">
              <a:buNone/>
            </a:pPr>
            <a:r>
              <a:rPr lang="en-US" sz="1600" i="1" dirty="0">
                <a:solidFill>
                  <a:srgbClr val="FFFFFF"/>
                </a:solidFill>
                <a:latin typeface="Calibri" pitchFamily="34" charset="0"/>
                <a:ea typeface="Calibri" pitchFamily="34" charset="-122"/>
                <a:cs typeface="Calibri" pitchFamily="34" charset="-120"/>
              </a:rPr>
              <a:t>It was learning how to evaluate what I already own.</a:t>
            </a:r>
            <a:endParaRPr lang="en-US" sz="1600" dirty="0"/>
          </a:p>
        </p:txBody>
      </p:sp>
      <p:sp>
        <p:nvSpPr>
          <p:cNvPr id="32" name="Text 30"/>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900" dirty="0">
                <a:solidFill>
                  <a:srgbClr val="8A97A0"/>
                </a:solidFill>
                <a:latin typeface="Calibri" pitchFamily="34" charset="0"/>
                <a:ea typeface="Calibri" pitchFamily="34" charset="-122"/>
                <a:cs typeface="Calibri" pitchFamily="34" charset="-120"/>
              </a:rPr>
              <a:t>Mutual Funds: What My Investing Journey Taught Me</a:t>
            </a:r>
            <a:endParaRPr lang="en-US" sz="900" dirty="0"/>
          </a:p>
        </p:txBody>
      </p:sp>
      <p:sp>
        <p:nvSpPr>
          <p:cNvPr id="33" name="Text 31"/>
          <p:cNvSpPr txBox="1"/>
          <p:nvPr/>
        </p:nvSpPr>
        <p:spPr>
          <a:xfrm>
            <a:off x="11000232" y="6473952"/>
            <a:ext cx="731520" cy="274320"/>
          </a:xfrm>
          <a:prstGeom prst="rect">
            <a:avLst/>
          </a:prstGeom>
          <a:noFill/>
          <a:ln/>
        </p:spPr>
        <p:txBody>
          <a:bodyPr wrap="square" lIns="0" tIns="0" rIns="0" bIns="0" rtlCol="0" anchor="ctr"/>
          <a:lstStyle/>
          <a:p>
            <a:pPr marL="0" indent="0" algn="r">
              <a:buNone/>
            </a:pPr>
            <a:r>
              <a:rPr lang="en-US" sz="900" dirty="0">
                <a:solidFill>
                  <a:srgbClr val="8A97A0"/>
                </a:solidFill>
                <a:latin typeface="Calibri" pitchFamily="34" charset="0"/>
                <a:ea typeface="Calibri" pitchFamily="34" charset="-122"/>
                <a:cs typeface="Calibri" pitchFamily="34" charset="-120"/>
              </a:rPr>
              <a:t>3 / 31</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THE BASICS</a:t>
            </a:r>
            <a:endParaRPr lang="en-US" sz="1300" dirty="0"/>
          </a:p>
        </p:txBody>
      </p:sp>
      <p:sp>
        <p:nvSpPr>
          <p:cNvPr id="3" name="Text 1"/>
          <p:cNvSpPr txBox="1"/>
          <p:nvPr/>
        </p:nvSpPr>
        <p:spPr>
          <a:xfrm>
            <a:off x="548640" y="685800"/>
            <a:ext cx="11064240" cy="822960"/>
          </a:xfrm>
          <a:prstGeom prst="rect">
            <a:avLst/>
          </a:prstGeom>
          <a:noFill/>
          <a:ln/>
        </p:spPr>
        <p:txBody>
          <a:bodyPr wrap="square" lIns="0" tIns="0" rIns="0" bIns="0" rtlCol="0" anchor="ctr"/>
          <a:lstStyle/>
          <a:p>
            <a:pPr marL="0" indent="0">
              <a:buNone/>
            </a:pPr>
            <a:r>
              <a:rPr lang="en-US" sz="3000" b="1" dirty="0">
                <a:solidFill>
                  <a:srgbClr val="0A2A43"/>
                </a:solidFill>
                <a:latin typeface="Cambria" pitchFamily="34" charset="0"/>
                <a:ea typeface="Cambria" pitchFamily="34" charset="-122"/>
                <a:cs typeface="Cambria" pitchFamily="34" charset="-120"/>
              </a:rPr>
              <a:t>What Is a Mutual Fund, Really?</a:t>
            </a:r>
            <a:endParaRPr lang="en-US" sz="3000" dirty="0"/>
          </a:p>
        </p:txBody>
      </p:sp>
      <p:sp>
        <p:nvSpPr>
          <p:cNvPr id="4" name="Shape 2"/>
          <p:cNvSpPr/>
          <p:nvPr/>
        </p:nvSpPr>
        <p:spPr>
          <a:xfrm>
            <a:off x="548640" y="1691640"/>
            <a:ext cx="5029200" cy="932688"/>
          </a:xfrm>
          <a:prstGeom prst="roundRect">
            <a:avLst>
              <a:gd name="adj" fmla="val 7843"/>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5" name="Shape 3"/>
          <p:cNvSpPr/>
          <p:nvPr/>
        </p:nvSpPr>
        <p:spPr>
          <a:xfrm>
            <a:off x="685800" y="1901952"/>
            <a:ext cx="512064" cy="512064"/>
          </a:xfrm>
          <a:prstGeom prst="ellipse">
            <a:avLst/>
          </a:prstGeom>
          <a:solidFill>
            <a:srgbClr val="028090"/>
          </a:solidFill>
          <a:ln/>
        </p:spPr>
        <p:txBody>
          <a:bodyPr/>
          <a:lstStyle/>
          <a:p>
            <a:endParaRPr lang="en-IN"/>
          </a:p>
        </p:txBody>
      </p:sp>
      <p:sp>
        <p:nvSpPr>
          <p:cNvPr id="6" name="Text 4"/>
          <p:cNvSpPr txBox="1"/>
          <p:nvPr/>
        </p:nvSpPr>
        <p:spPr>
          <a:xfrm>
            <a:off x="640080" y="1901952"/>
            <a:ext cx="603504" cy="512064"/>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7" name="Text 5"/>
          <p:cNvSpPr txBox="1"/>
          <p:nvPr/>
        </p:nvSpPr>
        <p:spPr>
          <a:xfrm>
            <a:off x="1325880" y="1764792"/>
            <a:ext cx="4114800" cy="320040"/>
          </a:xfrm>
          <a:prstGeom prst="rect">
            <a:avLst/>
          </a:prstGeom>
          <a:noFill/>
          <a:ln/>
        </p:spPr>
        <p:txBody>
          <a:bodyPr wrap="square" lIns="0" tIns="0" rIns="0" bIns="0" rtlCol="0" anchor="ctr"/>
          <a:lstStyle/>
          <a:p>
            <a:pPr marL="0" indent="0">
              <a:buNone/>
            </a:pPr>
            <a:r>
              <a:rPr lang="en-US" sz="1300" b="1" dirty="0">
                <a:solidFill>
                  <a:srgbClr val="0A2A43"/>
                </a:solidFill>
                <a:latin typeface="Calibri" pitchFamily="34" charset="0"/>
                <a:ea typeface="Calibri" pitchFamily="34" charset="-122"/>
                <a:cs typeface="Calibri" pitchFamily="34" charset="-120"/>
              </a:rPr>
              <a:t>Many Investors</a:t>
            </a:r>
            <a:endParaRPr lang="en-US" sz="1300" dirty="0"/>
          </a:p>
        </p:txBody>
      </p:sp>
      <p:sp>
        <p:nvSpPr>
          <p:cNvPr id="8" name="Text 6"/>
          <p:cNvSpPr txBox="1"/>
          <p:nvPr/>
        </p:nvSpPr>
        <p:spPr>
          <a:xfrm>
            <a:off x="1325880" y="2075688"/>
            <a:ext cx="4114800" cy="502920"/>
          </a:xfrm>
          <a:prstGeom prst="rect">
            <a:avLst/>
          </a:prstGeom>
          <a:noFill/>
          <a:ln/>
        </p:spPr>
        <p:txBody>
          <a:bodyPr wrap="square" lIns="0" tIns="0" rIns="0" bIns="0" rtlCol="0" anchor="ctr"/>
          <a:lstStyle/>
          <a:p>
            <a:pPr marL="0" indent="0">
              <a:lnSpc>
                <a:spcPct val="105000"/>
              </a:lnSpc>
              <a:buNone/>
            </a:pPr>
            <a:r>
              <a:rPr lang="en-US" sz="1050" dirty="0">
                <a:solidFill>
                  <a:srgbClr val="51606B"/>
                </a:solidFill>
                <a:latin typeface="Calibri" pitchFamily="34" charset="0"/>
                <a:ea typeface="Calibri" pitchFamily="34" charset="-122"/>
                <a:cs typeface="Calibri" pitchFamily="34" charset="-120"/>
              </a:rPr>
              <a:t>You + thousands of others, each investing what they can</a:t>
            </a:r>
            <a:endParaRPr lang="en-US" sz="1050" dirty="0"/>
          </a:p>
        </p:txBody>
      </p:sp>
      <p:sp>
        <p:nvSpPr>
          <p:cNvPr id="9" name="Text 7"/>
          <p:cNvSpPr txBox="1"/>
          <p:nvPr/>
        </p:nvSpPr>
        <p:spPr>
          <a:xfrm>
            <a:off x="2880360" y="2624328"/>
            <a:ext cx="365760" cy="128016"/>
          </a:xfrm>
          <a:prstGeom prst="rect">
            <a:avLst/>
          </a:prstGeom>
          <a:noFill/>
          <a:ln/>
        </p:spPr>
        <p:txBody>
          <a:bodyPr wrap="square" lIns="0" tIns="0" rIns="0" bIns="0" rtlCol="0" anchor="ctr"/>
          <a:lstStyle/>
          <a:p>
            <a:pPr marL="0" indent="0" algn="ctr">
              <a:buNone/>
            </a:pPr>
            <a:r>
              <a:rPr lang="en-US" sz="1400" b="1" dirty="0">
                <a:solidFill>
                  <a:srgbClr val="F4A300"/>
                </a:solidFill>
                <a:latin typeface="Calibri" pitchFamily="34" charset="0"/>
                <a:ea typeface="Calibri" pitchFamily="34" charset="-122"/>
                <a:cs typeface="Calibri" pitchFamily="34" charset="-120"/>
              </a:rPr>
              <a:t>↓</a:t>
            </a:r>
            <a:endParaRPr lang="en-US" sz="1400" dirty="0"/>
          </a:p>
        </p:txBody>
      </p:sp>
      <p:sp>
        <p:nvSpPr>
          <p:cNvPr id="10" name="Shape 8"/>
          <p:cNvSpPr/>
          <p:nvPr/>
        </p:nvSpPr>
        <p:spPr>
          <a:xfrm>
            <a:off x="548640" y="2752344"/>
            <a:ext cx="5029200" cy="932688"/>
          </a:xfrm>
          <a:prstGeom prst="roundRect">
            <a:avLst>
              <a:gd name="adj" fmla="val 7843"/>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11" name="Shape 9"/>
          <p:cNvSpPr/>
          <p:nvPr/>
        </p:nvSpPr>
        <p:spPr>
          <a:xfrm>
            <a:off x="685800" y="2962656"/>
            <a:ext cx="512064" cy="512064"/>
          </a:xfrm>
          <a:prstGeom prst="ellipse">
            <a:avLst/>
          </a:prstGeom>
          <a:solidFill>
            <a:srgbClr val="00A896"/>
          </a:solidFill>
          <a:ln/>
        </p:spPr>
        <p:txBody>
          <a:bodyPr/>
          <a:lstStyle/>
          <a:p>
            <a:endParaRPr lang="en-IN"/>
          </a:p>
        </p:txBody>
      </p:sp>
      <p:sp>
        <p:nvSpPr>
          <p:cNvPr id="12" name="Text 10"/>
          <p:cNvSpPr txBox="1"/>
          <p:nvPr/>
        </p:nvSpPr>
        <p:spPr>
          <a:xfrm>
            <a:off x="640080" y="2962656"/>
            <a:ext cx="603504" cy="512064"/>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3" name="Text 11"/>
          <p:cNvSpPr txBox="1"/>
          <p:nvPr/>
        </p:nvSpPr>
        <p:spPr>
          <a:xfrm>
            <a:off x="1325880" y="2825496"/>
            <a:ext cx="4114800" cy="320040"/>
          </a:xfrm>
          <a:prstGeom prst="rect">
            <a:avLst/>
          </a:prstGeom>
          <a:noFill/>
          <a:ln/>
        </p:spPr>
        <p:txBody>
          <a:bodyPr wrap="square" lIns="0" tIns="0" rIns="0" bIns="0" rtlCol="0" anchor="ctr"/>
          <a:lstStyle/>
          <a:p>
            <a:pPr marL="0" indent="0">
              <a:buNone/>
            </a:pPr>
            <a:r>
              <a:rPr lang="en-US" sz="1300" b="1" dirty="0">
                <a:solidFill>
                  <a:srgbClr val="0A2A43"/>
                </a:solidFill>
                <a:latin typeface="Calibri" pitchFamily="34" charset="0"/>
                <a:ea typeface="Calibri" pitchFamily="34" charset="-122"/>
                <a:cs typeface="Calibri" pitchFamily="34" charset="-120"/>
              </a:rPr>
              <a:t>Pooled Together</a:t>
            </a:r>
            <a:endParaRPr lang="en-US" sz="1300" dirty="0"/>
          </a:p>
        </p:txBody>
      </p:sp>
      <p:sp>
        <p:nvSpPr>
          <p:cNvPr id="14" name="Text 12"/>
          <p:cNvSpPr txBox="1"/>
          <p:nvPr/>
        </p:nvSpPr>
        <p:spPr>
          <a:xfrm>
            <a:off x="1325880" y="3136392"/>
            <a:ext cx="4114800" cy="502920"/>
          </a:xfrm>
          <a:prstGeom prst="rect">
            <a:avLst/>
          </a:prstGeom>
          <a:noFill/>
          <a:ln/>
        </p:spPr>
        <p:txBody>
          <a:bodyPr wrap="square" lIns="0" tIns="0" rIns="0" bIns="0" rtlCol="0" anchor="ctr"/>
          <a:lstStyle/>
          <a:p>
            <a:pPr marL="0" indent="0">
              <a:lnSpc>
                <a:spcPct val="105000"/>
              </a:lnSpc>
              <a:buNone/>
            </a:pPr>
            <a:r>
              <a:rPr lang="en-US" sz="1050" dirty="0">
                <a:solidFill>
                  <a:srgbClr val="51606B"/>
                </a:solidFill>
                <a:latin typeface="Calibri" pitchFamily="34" charset="0"/>
                <a:ea typeface="Calibri" pitchFamily="34" charset="-122"/>
                <a:cs typeface="Calibri" pitchFamily="34" charset="-120"/>
              </a:rPr>
              <a:t>All contributions combine into one large common pool</a:t>
            </a:r>
            <a:endParaRPr lang="en-US" sz="1050" dirty="0"/>
          </a:p>
        </p:txBody>
      </p:sp>
      <p:sp>
        <p:nvSpPr>
          <p:cNvPr id="15" name="Text 13"/>
          <p:cNvSpPr txBox="1"/>
          <p:nvPr/>
        </p:nvSpPr>
        <p:spPr>
          <a:xfrm>
            <a:off x="2880360" y="3685032"/>
            <a:ext cx="365760" cy="128016"/>
          </a:xfrm>
          <a:prstGeom prst="rect">
            <a:avLst/>
          </a:prstGeom>
          <a:noFill/>
          <a:ln/>
        </p:spPr>
        <p:txBody>
          <a:bodyPr wrap="square" lIns="0" tIns="0" rIns="0" bIns="0" rtlCol="0" anchor="ctr"/>
          <a:lstStyle/>
          <a:p>
            <a:pPr marL="0" indent="0" algn="ctr">
              <a:buNone/>
            </a:pPr>
            <a:r>
              <a:rPr lang="en-US" sz="1400" b="1" dirty="0">
                <a:solidFill>
                  <a:srgbClr val="F4A300"/>
                </a:solidFill>
                <a:latin typeface="Calibri" pitchFamily="34" charset="0"/>
                <a:ea typeface="Calibri" pitchFamily="34" charset="-122"/>
                <a:cs typeface="Calibri" pitchFamily="34" charset="-120"/>
              </a:rPr>
              <a:t>↓</a:t>
            </a:r>
            <a:endParaRPr lang="en-US" sz="1400" dirty="0"/>
          </a:p>
        </p:txBody>
      </p:sp>
      <p:sp>
        <p:nvSpPr>
          <p:cNvPr id="16" name="Shape 14"/>
          <p:cNvSpPr/>
          <p:nvPr/>
        </p:nvSpPr>
        <p:spPr>
          <a:xfrm>
            <a:off x="548640" y="3813048"/>
            <a:ext cx="5029200" cy="932688"/>
          </a:xfrm>
          <a:prstGeom prst="roundRect">
            <a:avLst>
              <a:gd name="adj" fmla="val 7843"/>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17" name="Shape 15"/>
          <p:cNvSpPr/>
          <p:nvPr/>
        </p:nvSpPr>
        <p:spPr>
          <a:xfrm>
            <a:off x="685800" y="4023360"/>
            <a:ext cx="512064" cy="512064"/>
          </a:xfrm>
          <a:prstGeom prst="ellipse">
            <a:avLst/>
          </a:prstGeom>
          <a:solidFill>
            <a:srgbClr val="1C7293"/>
          </a:solidFill>
          <a:ln/>
        </p:spPr>
        <p:txBody>
          <a:bodyPr/>
          <a:lstStyle/>
          <a:p>
            <a:endParaRPr lang="en-IN"/>
          </a:p>
        </p:txBody>
      </p:sp>
      <p:sp>
        <p:nvSpPr>
          <p:cNvPr id="18" name="Text 16"/>
          <p:cNvSpPr txBox="1"/>
          <p:nvPr/>
        </p:nvSpPr>
        <p:spPr>
          <a:xfrm>
            <a:off x="640080" y="4023360"/>
            <a:ext cx="603504" cy="512064"/>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9" name="Text 17"/>
          <p:cNvSpPr txBox="1"/>
          <p:nvPr/>
        </p:nvSpPr>
        <p:spPr>
          <a:xfrm>
            <a:off x="1325880" y="3886200"/>
            <a:ext cx="4114800" cy="320040"/>
          </a:xfrm>
          <a:prstGeom prst="rect">
            <a:avLst/>
          </a:prstGeom>
          <a:noFill/>
          <a:ln/>
        </p:spPr>
        <p:txBody>
          <a:bodyPr wrap="square" lIns="0" tIns="0" rIns="0" bIns="0" rtlCol="0" anchor="ctr"/>
          <a:lstStyle/>
          <a:p>
            <a:pPr marL="0" indent="0">
              <a:buNone/>
            </a:pPr>
            <a:r>
              <a:rPr lang="en-US" sz="1300" b="1" dirty="0">
                <a:solidFill>
                  <a:srgbClr val="0A2A43"/>
                </a:solidFill>
                <a:latin typeface="Calibri" pitchFamily="34" charset="0"/>
                <a:ea typeface="Calibri" pitchFamily="34" charset="-122"/>
                <a:cs typeface="Calibri" pitchFamily="34" charset="-120"/>
              </a:rPr>
              <a:t>Professional Fund Manager</a:t>
            </a:r>
            <a:endParaRPr lang="en-US" sz="1300" dirty="0"/>
          </a:p>
        </p:txBody>
      </p:sp>
      <p:sp>
        <p:nvSpPr>
          <p:cNvPr id="20" name="Text 18"/>
          <p:cNvSpPr txBox="1"/>
          <p:nvPr/>
        </p:nvSpPr>
        <p:spPr>
          <a:xfrm>
            <a:off x="1325880" y="4197096"/>
            <a:ext cx="4114800" cy="502920"/>
          </a:xfrm>
          <a:prstGeom prst="rect">
            <a:avLst/>
          </a:prstGeom>
          <a:noFill/>
          <a:ln/>
        </p:spPr>
        <p:txBody>
          <a:bodyPr wrap="square" lIns="0" tIns="0" rIns="0" bIns="0" rtlCol="0" anchor="ctr"/>
          <a:lstStyle/>
          <a:p>
            <a:pPr marL="0" indent="0">
              <a:lnSpc>
                <a:spcPct val="105000"/>
              </a:lnSpc>
              <a:buNone/>
            </a:pPr>
            <a:r>
              <a:rPr lang="en-US" sz="1050" dirty="0">
                <a:solidFill>
                  <a:srgbClr val="51606B"/>
                </a:solidFill>
                <a:latin typeface="Calibri" pitchFamily="34" charset="0"/>
                <a:ea typeface="Calibri" pitchFamily="34" charset="-122"/>
                <a:cs typeface="Calibri" pitchFamily="34" charset="-120"/>
              </a:rPr>
              <a:t>Researches and invests the pool per the scheme’s objective</a:t>
            </a:r>
            <a:endParaRPr lang="en-US" sz="1050" dirty="0"/>
          </a:p>
        </p:txBody>
      </p:sp>
      <p:sp>
        <p:nvSpPr>
          <p:cNvPr id="21" name="Text 19"/>
          <p:cNvSpPr txBox="1"/>
          <p:nvPr/>
        </p:nvSpPr>
        <p:spPr>
          <a:xfrm>
            <a:off x="2880360" y="4745736"/>
            <a:ext cx="365760" cy="128016"/>
          </a:xfrm>
          <a:prstGeom prst="rect">
            <a:avLst/>
          </a:prstGeom>
          <a:noFill/>
          <a:ln/>
        </p:spPr>
        <p:txBody>
          <a:bodyPr wrap="square" lIns="0" tIns="0" rIns="0" bIns="0" rtlCol="0" anchor="ctr"/>
          <a:lstStyle/>
          <a:p>
            <a:pPr marL="0" indent="0" algn="ctr">
              <a:buNone/>
            </a:pPr>
            <a:r>
              <a:rPr lang="en-US" sz="1400" b="1" dirty="0">
                <a:solidFill>
                  <a:srgbClr val="F4A300"/>
                </a:solidFill>
                <a:latin typeface="Calibri" pitchFamily="34" charset="0"/>
                <a:ea typeface="Calibri" pitchFamily="34" charset="-122"/>
                <a:cs typeface="Calibri" pitchFamily="34" charset="-120"/>
              </a:rPr>
              <a:t>↓</a:t>
            </a:r>
            <a:endParaRPr lang="en-US" sz="1400" dirty="0"/>
          </a:p>
        </p:txBody>
      </p:sp>
      <p:sp>
        <p:nvSpPr>
          <p:cNvPr id="22" name="Shape 20"/>
          <p:cNvSpPr/>
          <p:nvPr/>
        </p:nvSpPr>
        <p:spPr>
          <a:xfrm>
            <a:off x="548640" y="4873752"/>
            <a:ext cx="5029200" cy="932688"/>
          </a:xfrm>
          <a:prstGeom prst="roundRect">
            <a:avLst>
              <a:gd name="adj" fmla="val 7843"/>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23" name="Shape 21"/>
          <p:cNvSpPr/>
          <p:nvPr/>
        </p:nvSpPr>
        <p:spPr>
          <a:xfrm>
            <a:off x="685800" y="5084064"/>
            <a:ext cx="512064" cy="512064"/>
          </a:xfrm>
          <a:prstGeom prst="ellipse">
            <a:avLst/>
          </a:prstGeom>
          <a:solidFill>
            <a:srgbClr val="6D2E46"/>
          </a:solidFill>
          <a:ln/>
        </p:spPr>
        <p:txBody>
          <a:bodyPr/>
          <a:lstStyle/>
          <a:p>
            <a:endParaRPr lang="en-IN"/>
          </a:p>
        </p:txBody>
      </p:sp>
      <p:sp>
        <p:nvSpPr>
          <p:cNvPr id="24" name="Text 22"/>
          <p:cNvSpPr txBox="1"/>
          <p:nvPr/>
        </p:nvSpPr>
        <p:spPr>
          <a:xfrm>
            <a:off x="640080" y="5084064"/>
            <a:ext cx="603504" cy="512064"/>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25" name="Text 23"/>
          <p:cNvSpPr txBox="1"/>
          <p:nvPr/>
        </p:nvSpPr>
        <p:spPr>
          <a:xfrm>
            <a:off x="1325880" y="4946904"/>
            <a:ext cx="4114800" cy="320040"/>
          </a:xfrm>
          <a:prstGeom prst="rect">
            <a:avLst/>
          </a:prstGeom>
          <a:noFill/>
          <a:ln/>
        </p:spPr>
        <p:txBody>
          <a:bodyPr wrap="square" lIns="0" tIns="0" rIns="0" bIns="0" rtlCol="0" anchor="ctr"/>
          <a:lstStyle/>
          <a:p>
            <a:pPr marL="0" indent="0">
              <a:buNone/>
            </a:pPr>
            <a:r>
              <a:rPr lang="en-US" sz="1300" b="1" dirty="0">
                <a:solidFill>
                  <a:srgbClr val="0A2A43"/>
                </a:solidFill>
                <a:latin typeface="Calibri" pitchFamily="34" charset="0"/>
                <a:ea typeface="Calibri" pitchFamily="34" charset="-122"/>
                <a:cs typeface="Calibri" pitchFamily="34" charset="-120"/>
              </a:rPr>
              <a:t>Diversified Portfolio</a:t>
            </a:r>
            <a:endParaRPr lang="en-US" sz="1300" dirty="0"/>
          </a:p>
        </p:txBody>
      </p:sp>
      <p:sp>
        <p:nvSpPr>
          <p:cNvPr id="26" name="Text 24"/>
          <p:cNvSpPr txBox="1"/>
          <p:nvPr/>
        </p:nvSpPr>
        <p:spPr>
          <a:xfrm>
            <a:off x="1325880" y="5257800"/>
            <a:ext cx="4114800" cy="502920"/>
          </a:xfrm>
          <a:prstGeom prst="rect">
            <a:avLst/>
          </a:prstGeom>
          <a:noFill/>
          <a:ln/>
        </p:spPr>
        <p:txBody>
          <a:bodyPr wrap="square" lIns="0" tIns="0" rIns="0" bIns="0" rtlCol="0" anchor="ctr"/>
          <a:lstStyle/>
          <a:p>
            <a:pPr marL="0" indent="0">
              <a:lnSpc>
                <a:spcPct val="105000"/>
              </a:lnSpc>
              <a:buNone/>
            </a:pPr>
            <a:r>
              <a:rPr lang="en-US" sz="1050" dirty="0">
                <a:solidFill>
                  <a:srgbClr val="51606B"/>
                </a:solidFill>
                <a:latin typeface="Calibri" pitchFamily="34" charset="0"/>
                <a:ea typeface="Calibri" pitchFamily="34" charset="-122"/>
                <a:cs typeface="Calibri" pitchFamily="34" charset="-120"/>
              </a:rPr>
              <a:t>Stocks, bonds, or a mix — you own your proportional share</a:t>
            </a:r>
            <a:endParaRPr lang="en-US" sz="1050" dirty="0"/>
          </a:p>
        </p:txBody>
      </p:sp>
      <p:sp>
        <p:nvSpPr>
          <p:cNvPr id="27" name="Text 25"/>
          <p:cNvSpPr txBox="1"/>
          <p:nvPr/>
        </p:nvSpPr>
        <p:spPr>
          <a:xfrm>
            <a:off x="5806440" y="1691640"/>
            <a:ext cx="5852160" cy="4114800"/>
          </a:xfrm>
          <a:prstGeom prst="rect">
            <a:avLst/>
          </a:prstGeom>
          <a:noFill/>
          <a:ln/>
        </p:spPr>
        <p:txBody>
          <a:bodyPr wrap="square" lIns="0" tIns="0" rIns="0" bIns="0" rtlCol="0" anchor="t"/>
          <a:lstStyle/>
          <a:p>
            <a:pPr marL="228600" indent="-228600">
              <a:lnSpc>
                <a:spcPct val="108000"/>
              </a:lnSpc>
              <a:spcAft>
                <a:spcPts val="1000"/>
              </a:spcAft>
              <a:buSzPct val="100000"/>
              <a:buChar char="•"/>
            </a:pPr>
            <a:r>
              <a:rPr lang="en-US" sz="1350" dirty="0">
                <a:solidFill>
                  <a:srgbClr val="1C1C1C"/>
                </a:solidFill>
                <a:latin typeface="Calibri" pitchFamily="34" charset="0"/>
                <a:ea typeface="Calibri" pitchFamily="34" charset="-122"/>
                <a:cs typeface="Calibri" pitchFamily="34" charset="-120"/>
              </a:rPr>
              <a:t>A mutual fund pools money from many investors and invests it per the scheme’s stated objective.</a:t>
            </a:r>
            <a:endParaRPr lang="en-US" sz="1350" dirty="0"/>
          </a:p>
          <a:p>
            <a:pPr marL="228600" indent="-228600">
              <a:lnSpc>
                <a:spcPct val="108000"/>
              </a:lnSpc>
              <a:spcAft>
                <a:spcPts val="1000"/>
              </a:spcAft>
              <a:buSzPct val="100000"/>
              <a:buChar char="•"/>
            </a:pPr>
            <a:r>
              <a:rPr lang="en-US" sz="1350" dirty="0">
                <a:solidFill>
                  <a:srgbClr val="1C1C1C"/>
                </a:solidFill>
                <a:latin typeface="Calibri" pitchFamily="34" charset="0"/>
                <a:ea typeface="Calibri" pitchFamily="34" charset="-122"/>
                <a:cs typeface="Calibri" pitchFamily="34" charset="-120"/>
              </a:rPr>
              <a:t>Depending on the scheme, it can hold equities, bonds, government securities, money-market instruments, or a mix.</a:t>
            </a:r>
            <a:endParaRPr lang="en-US" sz="1350" dirty="0"/>
          </a:p>
          <a:p>
            <a:pPr marL="228600" indent="-228600">
              <a:lnSpc>
                <a:spcPct val="108000"/>
              </a:lnSpc>
              <a:spcAft>
                <a:spcPts val="1000"/>
              </a:spcAft>
              <a:buSzPct val="100000"/>
              <a:buChar char="•"/>
            </a:pPr>
            <a:r>
              <a:rPr lang="en-US" sz="1350" dirty="0">
                <a:solidFill>
                  <a:srgbClr val="1C1C1C"/>
                </a:solidFill>
                <a:latin typeface="Calibri" pitchFamily="34" charset="0"/>
                <a:ea typeface="Calibri" pitchFamily="34" charset="-122"/>
                <a:cs typeface="Calibri" pitchFamily="34" charset="-120"/>
              </a:rPr>
              <a:t>Investors get units representing their share — the unit value (NAV) moves as the portfolio’s value moves.</a:t>
            </a:r>
            <a:endParaRPr lang="en-US" sz="1350" dirty="0"/>
          </a:p>
        </p:txBody>
      </p:sp>
      <p:sp>
        <p:nvSpPr>
          <p:cNvPr id="28" name="Shape 26"/>
          <p:cNvSpPr/>
          <p:nvPr/>
        </p:nvSpPr>
        <p:spPr>
          <a:xfrm>
            <a:off x="5806440" y="3703320"/>
            <a:ext cx="5852160" cy="1691640"/>
          </a:xfrm>
          <a:prstGeom prst="roundRect">
            <a:avLst>
              <a:gd name="adj" fmla="val 4324"/>
            </a:avLst>
          </a:prstGeom>
          <a:solidFill>
            <a:srgbClr val="0A2A43"/>
          </a:solidFill>
          <a:ln/>
          <a:effectLst>
            <a:outerShdw blurRad="76200" dist="25400" dir="5400000" algn="bl" rotWithShape="0">
              <a:srgbClr val="1B1B1B">
                <a:alpha val="12000"/>
              </a:srgbClr>
            </a:outerShdw>
          </a:effectLst>
        </p:spPr>
        <p:txBody>
          <a:bodyPr/>
          <a:lstStyle/>
          <a:p>
            <a:endParaRPr lang="en-IN"/>
          </a:p>
        </p:txBody>
      </p:sp>
      <p:sp>
        <p:nvSpPr>
          <p:cNvPr id="29" name="Text 27"/>
          <p:cNvSpPr txBox="1"/>
          <p:nvPr/>
        </p:nvSpPr>
        <p:spPr>
          <a:xfrm>
            <a:off x="6126480" y="3840480"/>
            <a:ext cx="5212080" cy="320040"/>
          </a:xfrm>
          <a:prstGeom prst="rect">
            <a:avLst/>
          </a:prstGeom>
          <a:noFill/>
          <a:ln/>
        </p:spPr>
        <p:txBody>
          <a:bodyPr wrap="square" lIns="0" tIns="0" rIns="0" bIns="0" rtlCol="0" anchor="ctr"/>
          <a:lstStyle/>
          <a:p>
            <a:pPr marL="0" indent="0">
              <a:buNone/>
            </a:pPr>
            <a:r>
              <a:rPr lang="en-US" sz="1300" b="1" dirty="0">
                <a:solidFill>
                  <a:srgbClr val="F4A300"/>
                </a:solidFill>
                <a:latin typeface="Calibri" pitchFamily="34" charset="0"/>
                <a:ea typeface="Calibri" pitchFamily="34" charset="-122"/>
                <a:cs typeface="Calibri" pitchFamily="34" charset="-120"/>
              </a:rPr>
              <a:t>In plain numbers:</a:t>
            </a:r>
            <a:endParaRPr lang="en-US" sz="1300" dirty="0"/>
          </a:p>
        </p:txBody>
      </p:sp>
      <p:sp>
        <p:nvSpPr>
          <p:cNvPr id="30" name="Text 28"/>
          <p:cNvSpPr txBox="1"/>
          <p:nvPr/>
        </p:nvSpPr>
        <p:spPr>
          <a:xfrm>
            <a:off x="6126480" y="4160520"/>
            <a:ext cx="5212080" cy="1143000"/>
          </a:xfrm>
          <a:prstGeom prst="rect">
            <a:avLst/>
          </a:prstGeom>
          <a:noFill/>
          <a:ln/>
        </p:spPr>
        <p:txBody>
          <a:bodyPr wrap="square" lIns="0" tIns="0" rIns="0" bIns="0" rtlCol="0" anchor="ctr"/>
          <a:lstStyle/>
          <a:p>
            <a:pPr marL="0" indent="0">
              <a:lnSpc>
                <a:spcPct val="122000"/>
              </a:lnSpc>
              <a:buNone/>
            </a:pPr>
            <a:r>
              <a:rPr lang="en-US" sz="1250" i="1" dirty="0">
                <a:solidFill>
                  <a:srgbClr val="E4EEF0"/>
                </a:solidFill>
                <a:latin typeface="Calibri" pitchFamily="34" charset="0"/>
                <a:ea typeface="Calibri" pitchFamily="34" charset="-122"/>
                <a:cs typeface="Calibri" pitchFamily="34" charset="-120"/>
              </a:rPr>
              <a:t>You invest ₹100. Nine friends invest ₹100 each. The pool is now ₹1,000. The fund manager buys a diversified basket of securities with that ₹1,000. You now own 10% of everything the fund holds — instantly diversified, without picking a single stock yourself.</a:t>
            </a:r>
            <a:endParaRPr lang="en-US" sz="1250" dirty="0"/>
          </a:p>
        </p:txBody>
      </p:sp>
      <p:sp>
        <p:nvSpPr>
          <p:cNvPr id="31" name="Shape 29"/>
          <p:cNvSpPr/>
          <p:nvPr/>
        </p:nvSpPr>
        <p:spPr>
          <a:xfrm>
            <a:off x="5806440" y="5532120"/>
            <a:ext cx="5852160" cy="685800"/>
          </a:xfrm>
          <a:prstGeom prst="roundRect">
            <a:avLst>
              <a:gd name="adj" fmla="val 10667"/>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32" name="Text 30"/>
          <p:cNvSpPr txBox="1"/>
          <p:nvPr/>
        </p:nvSpPr>
        <p:spPr>
          <a:xfrm>
            <a:off x="6080760" y="5532120"/>
            <a:ext cx="5394960" cy="685800"/>
          </a:xfrm>
          <a:prstGeom prst="rect">
            <a:avLst/>
          </a:prstGeom>
          <a:noFill/>
          <a:ln/>
        </p:spPr>
        <p:txBody>
          <a:bodyPr wrap="square" lIns="0" tIns="0" rIns="0" bIns="0" rtlCol="0" anchor="ctr"/>
          <a:lstStyle/>
          <a:p>
            <a:pPr marL="0" indent="0">
              <a:lnSpc>
                <a:spcPct val="110000"/>
              </a:lnSpc>
              <a:buNone/>
            </a:pPr>
            <a:r>
              <a:rPr lang="en-US" sz="1200" b="1" dirty="0">
                <a:solidFill>
                  <a:srgbClr val="0A2A43"/>
                </a:solidFill>
                <a:latin typeface="Calibri" pitchFamily="34" charset="0"/>
                <a:ea typeface="Calibri" pitchFamily="34" charset="-122"/>
                <a:cs typeface="Calibri" pitchFamily="34" charset="-120"/>
              </a:rPr>
              <a:t>⚠️ Avoid the shortcut “MF = a basket of stocks.” Debt and hybrid funds show why that’s incomplete.</a:t>
            </a:r>
            <a:endParaRPr lang="en-US" sz="1200" dirty="0"/>
          </a:p>
        </p:txBody>
      </p:sp>
      <p:sp>
        <p:nvSpPr>
          <p:cNvPr id="33" name="Text 31"/>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900" dirty="0">
                <a:solidFill>
                  <a:srgbClr val="8A97A0"/>
                </a:solidFill>
                <a:latin typeface="Calibri" pitchFamily="34" charset="0"/>
                <a:ea typeface="Calibri" pitchFamily="34" charset="-122"/>
                <a:cs typeface="Calibri" pitchFamily="34" charset="-120"/>
              </a:rPr>
              <a:t>Mutual Funds: What My Investing Journey Taught Me</a:t>
            </a:r>
            <a:endParaRPr lang="en-US" sz="900" dirty="0"/>
          </a:p>
        </p:txBody>
      </p:sp>
      <p:sp>
        <p:nvSpPr>
          <p:cNvPr id="34" name="Text 32"/>
          <p:cNvSpPr txBox="1"/>
          <p:nvPr/>
        </p:nvSpPr>
        <p:spPr>
          <a:xfrm>
            <a:off x="11000232" y="6473952"/>
            <a:ext cx="731520" cy="274320"/>
          </a:xfrm>
          <a:prstGeom prst="rect">
            <a:avLst/>
          </a:prstGeom>
          <a:noFill/>
          <a:ln/>
        </p:spPr>
        <p:txBody>
          <a:bodyPr wrap="square" lIns="0" tIns="0" rIns="0" bIns="0" rtlCol="0" anchor="ctr"/>
          <a:lstStyle/>
          <a:p>
            <a:pPr marL="0" indent="0" algn="r">
              <a:buNone/>
            </a:pPr>
            <a:r>
              <a:rPr lang="en-US" sz="900" dirty="0">
                <a:solidFill>
                  <a:srgbClr val="8A97A0"/>
                </a:solidFill>
                <a:latin typeface="Calibri" pitchFamily="34" charset="0"/>
                <a:ea typeface="Calibri" pitchFamily="34" charset="-122"/>
                <a:cs typeface="Calibri" pitchFamily="34" charset="-120"/>
              </a:rPr>
              <a:t>4 / 31</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THE MECHANICS</a:t>
            </a:r>
            <a:endParaRPr lang="en-US" sz="1300" dirty="0"/>
          </a:p>
        </p:txBody>
      </p:sp>
      <p:sp>
        <p:nvSpPr>
          <p:cNvPr id="3" name="Text 1"/>
          <p:cNvSpPr txBox="1"/>
          <p:nvPr/>
        </p:nvSpPr>
        <p:spPr>
          <a:xfrm>
            <a:off x="548640" y="685800"/>
            <a:ext cx="11064240" cy="822960"/>
          </a:xfrm>
          <a:prstGeom prst="rect">
            <a:avLst/>
          </a:prstGeom>
          <a:noFill/>
          <a:ln/>
        </p:spPr>
        <p:txBody>
          <a:bodyPr wrap="square" lIns="0" tIns="0" rIns="0" bIns="0" rtlCol="0" anchor="ctr"/>
          <a:lstStyle/>
          <a:p>
            <a:pPr marL="0" indent="0">
              <a:buNone/>
            </a:pPr>
            <a:r>
              <a:rPr lang="en-US" sz="3000" b="1" dirty="0">
                <a:solidFill>
                  <a:srgbClr val="0A2A43"/>
                </a:solidFill>
                <a:latin typeface="Cambria" pitchFamily="34" charset="0"/>
                <a:ea typeface="Cambria" pitchFamily="34" charset="-122"/>
                <a:cs typeface="Cambria" pitchFamily="34" charset="-120"/>
              </a:rPr>
              <a:t>How Does an MF Actually Work?</a:t>
            </a:r>
            <a:endParaRPr lang="en-US" sz="3000" dirty="0"/>
          </a:p>
        </p:txBody>
      </p:sp>
      <p:sp>
        <p:nvSpPr>
          <p:cNvPr id="4" name="Shape 2"/>
          <p:cNvSpPr/>
          <p:nvPr/>
        </p:nvSpPr>
        <p:spPr>
          <a:xfrm>
            <a:off x="548640" y="1783080"/>
            <a:ext cx="2286000" cy="1051560"/>
          </a:xfrm>
          <a:prstGeom prst="roundRect">
            <a:avLst>
              <a:gd name="adj" fmla="val 6957"/>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5" name="Text 3"/>
          <p:cNvSpPr txBox="1"/>
          <p:nvPr/>
        </p:nvSpPr>
        <p:spPr>
          <a:xfrm>
            <a:off x="640080" y="1783080"/>
            <a:ext cx="2103120" cy="1051560"/>
          </a:xfrm>
          <a:prstGeom prst="rect">
            <a:avLst/>
          </a:prstGeom>
          <a:noFill/>
          <a:ln/>
        </p:spPr>
        <p:txBody>
          <a:bodyPr wrap="square" lIns="0" tIns="0" rIns="0" bIns="0" rtlCol="0" anchor="ctr"/>
          <a:lstStyle/>
          <a:p>
            <a:pPr marL="0" indent="0" algn="ctr">
              <a:buNone/>
            </a:pPr>
            <a:r>
              <a:rPr lang="en-US" sz="1300" b="1" dirty="0">
                <a:solidFill>
                  <a:srgbClr val="0A2A43"/>
                </a:solidFill>
                <a:latin typeface="Calibri" pitchFamily="34" charset="0"/>
                <a:ea typeface="Calibri" pitchFamily="34" charset="-122"/>
                <a:cs typeface="Calibri" pitchFamily="34" charset="-120"/>
              </a:rPr>
              <a:t>Investor</a:t>
            </a:r>
            <a:endParaRPr lang="en-US" sz="1300" dirty="0"/>
          </a:p>
        </p:txBody>
      </p:sp>
      <p:sp>
        <p:nvSpPr>
          <p:cNvPr id="6" name="Text 4"/>
          <p:cNvSpPr txBox="1"/>
          <p:nvPr/>
        </p:nvSpPr>
        <p:spPr>
          <a:xfrm>
            <a:off x="2834640" y="1783080"/>
            <a:ext cx="502920" cy="1051560"/>
          </a:xfrm>
          <a:prstGeom prst="rect">
            <a:avLst/>
          </a:prstGeom>
          <a:noFill/>
          <a:ln/>
        </p:spPr>
        <p:txBody>
          <a:bodyPr wrap="square" lIns="0" tIns="0" rIns="0" bIns="0" rtlCol="0" anchor="ctr"/>
          <a:lstStyle/>
          <a:p>
            <a:pPr marL="0" indent="0" algn="ctr">
              <a:buNone/>
            </a:pPr>
            <a:r>
              <a:rPr lang="en-US" sz="2200" b="1" dirty="0">
                <a:solidFill>
                  <a:srgbClr val="F4A300"/>
                </a:solidFill>
                <a:latin typeface="Calibri" pitchFamily="34" charset="0"/>
                <a:ea typeface="Calibri" pitchFamily="34" charset="-122"/>
                <a:cs typeface="Calibri" pitchFamily="34" charset="-120"/>
              </a:rPr>
              <a:t>→</a:t>
            </a:r>
            <a:endParaRPr lang="en-US" sz="2200" dirty="0"/>
          </a:p>
        </p:txBody>
      </p:sp>
      <p:sp>
        <p:nvSpPr>
          <p:cNvPr id="7" name="Shape 5"/>
          <p:cNvSpPr/>
          <p:nvPr/>
        </p:nvSpPr>
        <p:spPr>
          <a:xfrm>
            <a:off x="3337560" y="1783080"/>
            <a:ext cx="2286000" cy="1051560"/>
          </a:xfrm>
          <a:prstGeom prst="roundRect">
            <a:avLst>
              <a:gd name="adj" fmla="val 6957"/>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8" name="Text 6"/>
          <p:cNvSpPr txBox="1"/>
          <p:nvPr/>
        </p:nvSpPr>
        <p:spPr>
          <a:xfrm>
            <a:off x="3429000" y="1783080"/>
            <a:ext cx="2103120" cy="1051560"/>
          </a:xfrm>
          <a:prstGeom prst="rect">
            <a:avLst/>
          </a:prstGeom>
          <a:noFill/>
          <a:ln/>
        </p:spPr>
        <p:txBody>
          <a:bodyPr wrap="square" lIns="0" tIns="0" rIns="0" bIns="0" rtlCol="0" anchor="ctr"/>
          <a:lstStyle/>
          <a:p>
            <a:pPr marL="0" indent="0" algn="ctr">
              <a:buNone/>
            </a:pPr>
            <a:r>
              <a:rPr lang="en-US" sz="1300" b="1" dirty="0">
                <a:solidFill>
                  <a:srgbClr val="0A2A43"/>
                </a:solidFill>
                <a:latin typeface="Calibri" pitchFamily="34" charset="0"/>
                <a:ea typeface="Calibri" pitchFamily="34" charset="-122"/>
                <a:cs typeface="Calibri" pitchFamily="34" charset="-120"/>
              </a:rPr>
              <a:t>AMC / Platform /</a:t>
            </a:r>
            <a:endParaRPr lang="en-US" sz="1300" dirty="0"/>
          </a:p>
          <a:p>
            <a:pPr marL="0" indent="0" algn="ctr">
              <a:buNone/>
            </a:pPr>
            <a:r>
              <a:rPr lang="en-US" sz="1300" b="1" dirty="0">
                <a:solidFill>
                  <a:srgbClr val="0A2A43"/>
                </a:solidFill>
                <a:latin typeface="Calibri" pitchFamily="34" charset="0"/>
                <a:ea typeface="Calibri" pitchFamily="34" charset="-122"/>
                <a:cs typeface="Calibri" pitchFamily="34" charset="-120"/>
              </a:rPr>
              <a:t>Distributor</a:t>
            </a:r>
            <a:endParaRPr lang="en-US" sz="1300" dirty="0"/>
          </a:p>
        </p:txBody>
      </p:sp>
      <p:sp>
        <p:nvSpPr>
          <p:cNvPr id="9" name="Text 7"/>
          <p:cNvSpPr txBox="1"/>
          <p:nvPr/>
        </p:nvSpPr>
        <p:spPr>
          <a:xfrm>
            <a:off x="5623560" y="1783080"/>
            <a:ext cx="502920" cy="1051560"/>
          </a:xfrm>
          <a:prstGeom prst="rect">
            <a:avLst/>
          </a:prstGeom>
          <a:noFill/>
          <a:ln/>
        </p:spPr>
        <p:txBody>
          <a:bodyPr wrap="square" lIns="0" tIns="0" rIns="0" bIns="0" rtlCol="0" anchor="ctr"/>
          <a:lstStyle/>
          <a:p>
            <a:pPr marL="0" indent="0" algn="ctr">
              <a:buNone/>
            </a:pPr>
            <a:r>
              <a:rPr lang="en-US" sz="2200" b="1" dirty="0">
                <a:solidFill>
                  <a:srgbClr val="F4A300"/>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6126480" y="1783080"/>
            <a:ext cx="2286000" cy="1051560"/>
          </a:xfrm>
          <a:prstGeom prst="roundRect">
            <a:avLst>
              <a:gd name="adj" fmla="val 6957"/>
            </a:avLst>
          </a:prstGeom>
          <a:solidFill>
            <a:srgbClr val="028090"/>
          </a:solidFill>
          <a:ln/>
          <a:effectLst>
            <a:outerShdw blurRad="76200" dist="25400" dir="5400000" algn="bl" rotWithShape="0">
              <a:srgbClr val="1B1B1B">
                <a:alpha val="12000"/>
              </a:srgbClr>
            </a:outerShdw>
          </a:effectLst>
        </p:spPr>
        <p:txBody>
          <a:bodyPr/>
          <a:lstStyle/>
          <a:p>
            <a:endParaRPr lang="en-IN"/>
          </a:p>
        </p:txBody>
      </p:sp>
      <p:sp>
        <p:nvSpPr>
          <p:cNvPr id="11" name="Text 9"/>
          <p:cNvSpPr txBox="1"/>
          <p:nvPr/>
        </p:nvSpPr>
        <p:spPr>
          <a:xfrm>
            <a:off x="6217920" y="1783080"/>
            <a:ext cx="2103120" cy="10515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Mutual Fund</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Scheme</a:t>
            </a:r>
            <a:endParaRPr lang="en-US" sz="1300" dirty="0"/>
          </a:p>
        </p:txBody>
      </p:sp>
      <p:sp>
        <p:nvSpPr>
          <p:cNvPr id="12" name="Text 10"/>
          <p:cNvSpPr txBox="1"/>
          <p:nvPr/>
        </p:nvSpPr>
        <p:spPr>
          <a:xfrm>
            <a:off x="8412480" y="1783080"/>
            <a:ext cx="502920" cy="1051560"/>
          </a:xfrm>
          <a:prstGeom prst="rect">
            <a:avLst/>
          </a:prstGeom>
          <a:noFill/>
          <a:ln/>
        </p:spPr>
        <p:txBody>
          <a:bodyPr wrap="square" lIns="0" tIns="0" rIns="0" bIns="0" rtlCol="0" anchor="ctr"/>
          <a:lstStyle/>
          <a:p>
            <a:pPr marL="0" indent="0" algn="ctr">
              <a:buNone/>
            </a:pPr>
            <a:r>
              <a:rPr lang="en-US" sz="2200" b="1" dirty="0">
                <a:solidFill>
                  <a:srgbClr val="F4A300"/>
                </a:solidFill>
                <a:latin typeface="Calibri" pitchFamily="34" charset="0"/>
                <a:ea typeface="Calibri" pitchFamily="34" charset="-122"/>
                <a:cs typeface="Calibri" pitchFamily="34" charset="-120"/>
              </a:rPr>
              <a:t>→</a:t>
            </a:r>
            <a:endParaRPr lang="en-US" sz="2200" dirty="0"/>
          </a:p>
        </p:txBody>
      </p:sp>
      <p:sp>
        <p:nvSpPr>
          <p:cNvPr id="13" name="Shape 11"/>
          <p:cNvSpPr/>
          <p:nvPr/>
        </p:nvSpPr>
        <p:spPr>
          <a:xfrm>
            <a:off x="8915400" y="1783080"/>
            <a:ext cx="2286000" cy="1051560"/>
          </a:xfrm>
          <a:prstGeom prst="roundRect">
            <a:avLst>
              <a:gd name="adj" fmla="val 6957"/>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14" name="Text 12"/>
          <p:cNvSpPr txBox="1"/>
          <p:nvPr/>
        </p:nvSpPr>
        <p:spPr>
          <a:xfrm>
            <a:off x="9006840" y="1783080"/>
            <a:ext cx="2103120" cy="1051560"/>
          </a:xfrm>
          <a:prstGeom prst="rect">
            <a:avLst/>
          </a:prstGeom>
          <a:noFill/>
          <a:ln/>
        </p:spPr>
        <p:txBody>
          <a:bodyPr wrap="square" lIns="0" tIns="0" rIns="0" bIns="0" rtlCol="0" anchor="ctr"/>
          <a:lstStyle/>
          <a:p>
            <a:pPr marL="0" indent="0" algn="ctr">
              <a:buNone/>
            </a:pPr>
            <a:r>
              <a:rPr lang="en-US" sz="1300" b="1" dirty="0">
                <a:solidFill>
                  <a:srgbClr val="0A2A43"/>
                </a:solidFill>
                <a:latin typeface="Calibri" pitchFamily="34" charset="0"/>
                <a:ea typeface="Calibri" pitchFamily="34" charset="-122"/>
                <a:cs typeface="Calibri" pitchFamily="34" charset="-120"/>
              </a:rPr>
              <a:t>Portfolio of</a:t>
            </a:r>
            <a:endParaRPr lang="en-US" sz="1300" dirty="0"/>
          </a:p>
          <a:p>
            <a:pPr marL="0" indent="0" algn="ctr">
              <a:buNone/>
            </a:pPr>
            <a:r>
              <a:rPr lang="en-US" sz="1300" b="1" dirty="0">
                <a:solidFill>
                  <a:srgbClr val="0A2A43"/>
                </a:solidFill>
                <a:latin typeface="Calibri" pitchFamily="34" charset="0"/>
                <a:ea typeface="Calibri" pitchFamily="34" charset="-122"/>
                <a:cs typeface="Calibri" pitchFamily="34" charset="-120"/>
              </a:rPr>
              <a:t>Securities</a:t>
            </a:r>
            <a:endParaRPr lang="en-US" sz="1300" dirty="0"/>
          </a:p>
        </p:txBody>
      </p:sp>
      <p:sp>
        <p:nvSpPr>
          <p:cNvPr id="15" name="Text 13"/>
          <p:cNvSpPr txBox="1"/>
          <p:nvPr/>
        </p:nvSpPr>
        <p:spPr>
          <a:xfrm>
            <a:off x="548640" y="3017520"/>
            <a:ext cx="11064240" cy="548640"/>
          </a:xfrm>
          <a:prstGeom prst="rect">
            <a:avLst/>
          </a:prstGeom>
          <a:noFill/>
          <a:ln/>
        </p:spPr>
        <p:txBody>
          <a:bodyPr wrap="square" lIns="0" tIns="0" rIns="0" bIns="0" rtlCol="0" anchor="ctr"/>
          <a:lstStyle/>
          <a:p>
            <a:pPr marL="0" indent="0">
              <a:buNone/>
            </a:pPr>
            <a:r>
              <a:rPr lang="en-US" sz="1350" i="1" dirty="0">
                <a:solidFill>
                  <a:srgbClr val="51606B"/>
                </a:solidFill>
                <a:latin typeface="Calibri" pitchFamily="34" charset="0"/>
                <a:ea typeface="Calibri" pitchFamily="34" charset="-122"/>
                <a:cs typeface="Calibri" pitchFamily="34" charset="-120"/>
              </a:rPr>
              <a:t>The AMC (Asset Management Company) runs the scheme; the fund manager manages the portfolio within its mandate. Your money buys units at the applicable NAV.</a:t>
            </a:r>
            <a:endParaRPr lang="en-US" sz="1350" dirty="0"/>
          </a:p>
        </p:txBody>
      </p:sp>
      <p:sp>
        <p:nvSpPr>
          <p:cNvPr id="16" name="Shape 14"/>
          <p:cNvSpPr/>
          <p:nvPr/>
        </p:nvSpPr>
        <p:spPr>
          <a:xfrm>
            <a:off x="548640" y="3794760"/>
            <a:ext cx="5349240" cy="2240280"/>
          </a:xfrm>
          <a:prstGeom prst="roundRect">
            <a:avLst>
              <a:gd name="adj" fmla="val 3265"/>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17" name="Text 15"/>
          <p:cNvSpPr txBox="1"/>
          <p:nvPr/>
        </p:nvSpPr>
        <p:spPr>
          <a:xfrm>
            <a:off x="868680" y="3977640"/>
            <a:ext cx="4754880" cy="365760"/>
          </a:xfrm>
          <a:prstGeom prst="rect">
            <a:avLst/>
          </a:prstGeom>
          <a:noFill/>
          <a:ln/>
        </p:spPr>
        <p:txBody>
          <a:bodyPr wrap="square" lIns="0" tIns="0" rIns="0" bIns="0" rtlCol="0" anchor="ctr"/>
          <a:lstStyle/>
          <a:p>
            <a:pPr marL="0" indent="0">
              <a:buNone/>
            </a:pPr>
            <a:r>
              <a:rPr lang="en-US" sz="1400" b="1" dirty="0">
                <a:solidFill>
                  <a:srgbClr val="00A896"/>
                </a:solidFill>
                <a:latin typeface="Calibri" pitchFamily="34" charset="0"/>
                <a:ea typeface="Calibri" pitchFamily="34" charset="-122"/>
                <a:cs typeface="Calibri" pitchFamily="34" charset="-120"/>
              </a:rPr>
              <a:t>If NAV rises ↑</a:t>
            </a:r>
            <a:endParaRPr lang="en-US" sz="1400" dirty="0"/>
          </a:p>
        </p:txBody>
      </p:sp>
      <p:sp>
        <p:nvSpPr>
          <p:cNvPr id="18" name="Text 16"/>
          <p:cNvSpPr txBox="1"/>
          <p:nvPr/>
        </p:nvSpPr>
        <p:spPr>
          <a:xfrm>
            <a:off x="868680" y="4389120"/>
            <a:ext cx="4754880" cy="1463040"/>
          </a:xfrm>
          <a:prstGeom prst="rect">
            <a:avLst/>
          </a:prstGeom>
          <a:noFill/>
          <a:ln/>
        </p:spPr>
        <p:txBody>
          <a:bodyPr wrap="square" lIns="0" tIns="0" rIns="0" bIns="0" rtlCol="0" anchor="ctr"/>
          <a:lstStyle/>
          <a:p>
            <a:pPr marL="0" indent="0">
              <a:lnSpc>
                <a:spcPct val="120000"/>
              </a:lnSpc>
              <a:buNone/>
            </a:pPr>
            <a:r>
              <a:rPr lang="en-US" sz="1350" dirty="0">
                <a:solidFill>
                  <a:srgbClr val="1C1C1C"/>
                </a:solidFill>
                <a:latin typeface="Calibri" pitchFamily="34" charset="0"/>
                <a:ea typeface="Calibri" pitchFamily="34" charset="-122"/>
                <a:cs typeface="Calibri" pitchFamily="34" charset="-120"/>
              </a:rPr>
              <a:t>₹5,000 invested at NAV ₹50 = 100 units.</a:t>
            </a:r>
            <a:endParaRPr lang="en-US" sz="1350" dirty="0"/>
          </a:p>
          <a:p>
            <a:pPr marL="0" indent="0">
              <a:lnSpc>
                <a:spcPct val="120000"/>
              </a:lnSpc>
              <a:buNone/>
            </a:pPr>
            <a:r>
              <a:rPr lang="en-US" sz="1350" dirty="0">
                <a:solidFill>
                  <a:srgbClr val="1C1C1C"/>
                </a:solidFill>
                <a:latin typeface="Calibri" pitchFamily="34" charset="0"/>
                <a:ea typeface="Calibri" pitchFamily="34" charset="-122"/>
                <a:cs typeface="Calibri" pitchFamily="34" charset="-120"/>
              </a:rPr>
              <a:t>NAV later becomes ₹60 → 100 units ≈ ₹6,000 (before charges/taxes).</a:t>
            </a:r>
            <a:endParaRPr lang="en-US" sz="1350" dirty="0"/>
          </a:p>
        </p:txBody>
      </p:sp>
      <p:sp>
        <p:nvSpPr>
          <p:cNvPr id="19" name="Shape 17"/>
          <p:cNvSpPr/>
          <p:nvPr/>
        </p:nvSpPr>
        <p:spPr>
          <a:xfrm>
            <a:off x="6126480" y="3794760"/>
            <a:ext cx="5486400" cy="2240280"/>
          </a:xfrm>
          <a:prstGeom prst="roundRect">
            <a:avLst>
              <a:gd name="adj" fmla="val 3265"/>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20" name="Text 18"/>
          <p:cNvSpPr txBox="1"/>
          <p:nvPr/>
        </p:nvSpPr>
        <p:spPr>
          <a:xfrm>
            <a:off x="6446520" y="3977640"/>
            <a:ext cx="4754880" cy="365760"/>
          </a:xfrm>
          <a:prstGeom prst="rect">
            <a:avLst/>
          </a:prstGeom>
          <a:noFill/>
          <a:ln/>
        </p:spPr>
        <p:txBody>
          <a:bodyPr wrap="square" lIns="0" tIns="0" rIns="0" bIns="0" rtlCol="0" anchor="ctr"/>
          <a:lstStyle/>
          <a:p>
            <a:pPr marL="0" indent="0">
              <a:buNone/>
            </a:pPr>
            <a:r>
              <a:rPr lang="en-US" sz="1400" b="1" dirty="0">
                <a:solidFill>
                  <a:srgbClr val="C0392B"/>
                </a:solidFill>
                <a:latin typeface="Calibri" pitchFamily="34" charset="0"/>
                <a:ea typeface="Calibri" pitchFamily="34" charset="-122"/>
                <a:cs typeface="Calibri" pitchFamily="34" charset="-120"/>
              </a:rPr>
              <a:t>If NAV falls ↓</a:t>
            </a:r>
            <a:endParaRPr lang="en-US" sz="1400" dirty="0"/>
          </a:p>
        </p:txBody>
      </p:sp>
      <p:sp>
        <p:nvSpPr>
          <p:cNvPr id="21" name="Text 19"/>
          <p:cNvSpPr txBox="1"/>
          <p:nvPr/>
        </p:nvSpPr>
        <p:spPr>
          <a:xfrm>
            <a:off x="6446520" y="4389120"/>
            <a:ext cx="4937760" cy="1463040"/>
          </a:xfrm>
          <a:prstGeom prst="rect">
            <a:avLst/>
          </a:prstGeom>
          <a:noFill/>
          <a:ln/>
        </p:spPr>
        <p:txBody>
          <a:bodyPr wrap="square" lIns="0" tIns="0" rIns="0" bIns="0" rtlCol="0" anchor="ctr"/>
          <a:lstStyle/>
          <a:p>
            <a:pPr marL="0" indent="0">
              <a:lnSpc>
                <a:spcPct val="120000"/>
              </a:lnSpc>
              <a:buNone/>
            </a:pPr>
            <a:r>
              <a:rPr lang="en-US" sz="1350" dirty="0">
                <a:solidFill>
                  <a:srgbClr val="1C1C1C"/>
                </a:solidFill>
                <a:latin typeface="Calibri" pitchFamily="34" charset="0"/>
                <a:ea typeface="Calibri" pitchFamily="34" charset="-122"/>
                <a:cs typeface="Calibri" pitchFamily="34" charset="-120"/>
              </a:rPr>
              <a:t>Same 100 units, NAV falls to ₹40 → value becomes ₹4,000.</a:t>
            </a:r>
            <a:endParaRPr lang="en-US" sz="1350" dirty="0"/>
          </a:p>
          <a:p>
            <a:pPr marL="0" indent="0">
              <a:lnSpc>
                <a:spcPct val="120000"/>
              </a:lnSpc>
              <a:buNone/>
            </a:pPr>
            <a:r>
              <a:rPr lang="en-US" sz="1350" dirty="0">
                <a:solidFill>
                  <a:srgbClr val="1C1C1C"/>
                </a:solidFill>
                <a:latin typeface="Calibri" pitchFamily="34" charset="0"/>
                <a:ea typeface="Calibri" pitchFamily="34" charset="-122"/>
                <a:cs typeface="Calibri" pitchFamily="34" charset="-120"/>
              </a:rPr>
              <a:t>Key message: MF is market-linked — returns are never guaranteed.</a:t>
            </a:r>
            <a:endParaRPr lang="en-US" sz="1350" dirty="0"/>
          </a:p>
        </p:txBody>
      </p:sp>
      <p:sp>
        <p:nvSpPr>
          <p:cNvPr id="22" name="Text 20"/>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900" dirty="0">
                <a:solidFill>
                  <a:srgbClr val="8A97A0"/>
                </a:solidFill>
                <a:latin typeface="Calibri" pitchFamily="34" charset="0"/>
                <a:ea typeface="Calibri" pitchFamily="34" charset="-122"/>
                <a:cs typeface="Calibri" pitchFamily="34" charset="-120"/>
              </a:rPr>
              <a:t>Mutual Funds: What My Investing Journey Taught Me</a:t>
            </a:r>
            <a:endParaRPr lang="en-US" sz="900" dirty="0"/>
          </a:p>
        </p:txBody>
      </p:sp>
      <p:sp>
        <p:nvSpPr>
          <p:cNvPr id="23" name="Text 21"/>
          <p:cNvSpPr txBox="1"/>
          <p:nvPr/>
        </p:nvSpPr>
        <p:spPr>
          <a:xfrm>
            <a:off x="11000232" y="6473952"/>
            <a:ext cx="731520" cy="274320"/>
          </a:xfrm>
          <a:prstGeom prst="rect">
            <a:avLst/>
          </a:prstGeom>
          <a:noFill/>
          <a:ln/>
        </p:spPr>
        <p:txBody>
          <a:bodyPr wrap="square" lIns="0" tIns="0" rIns="0" bIns="0" rtlCol="0" anchor="ctr"/>
          <a:lstStyle/>
          <a:p>
            <a:pPr marL="0" indent="0" algn="r">
              <a:buNone/>
            </a:pPr>
            <a:r>
              <a:rPr lang="en-US" sz="900" dirty="0">
                <a:solidFill>
                  <a:srgbClr val="8A97A0"/>
                </a:solidFill>
                <a:latin typeface="Calibri" pitchFamily="34" charset="0"/>
                <a:ea typeface="Calibri" pitchFamily="34" charset="-122"/>
                <a:cs typeface="Calibri" pitchFamily="34" charset="-120"/>
              </a:rPr>
              <a:t>5 / 31</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MYTH-BUSTER</a:t>
            </a:r>
            <a:endParaRPr lang="en-US" sz="1300" dirty="0"/>
          </a:p>
        </p:txBody>
      </p:sp>
      <p:sp>
        <p:nvSpPr>
          <p:cNvPr id="3" name="Text 1"/>
          <p:cNvSpPr txBox="1"/>
          <p:nvPr/>
        </p:nvSpPr>
        <p:spPr>
          <a:xfrm>
            <a:off x="548640" y="685800"/>
            <a:ext cx="11064240" cy="822960"/>
          </a:xfrm>
          <a:prstGeom prst="rect">
            <a:avLst/>
          </a:prstGeom>
          <a:noFill/>
          <a:ln/>
        </p:spPr>
        <p:txBody>
          <a:bodyPr wrap="square" lIns="0" tIns="0" rIns="0" bIns="0" rtlCol="0" anchor="ctr"/>
          <a:lstStyle/>
          <a:p>
            <a:pPr marL="0" indent="0">
              <a:buNone/>
            </a:pPr>
            <a:r>
              <a:rPr lang="en-US" sz="3000" b="1" dirty="0">
                <a:solidFill>
                  <a:srgbClr val="0A2A43"/>
                </a:solidFill>
                <a:latin typeface="Cambria" pitchFamily="34" charset="0"/>
                <a:ea typeface="Cambria" pitchFamily="34" charset="-122"/>
                <a:cs typeface="Cambria" pitchFamily="34" charset="-120"/>
              </a:rPr>
              <a:t>NAV: The Number Many Investors Misread</a:t>
            </a:r>
            <a:endParaRPr lang="en-US" sz="3000" dirty="0"/>
          </a:p>
        </p:txBody>
      </p:sp>
      <p:sp>
        <p:nvSpPr>
          <p:cNvPr id="4" name="Text 2"/>
          <p:cNvSpPr txBox="1"/>
          <p:nvPr/>
        </p:nvSpPr>
        <p:spPr>
          <a:xfrm>
            <a:off x="548640" y="1645920"/>
            <a:ext cx="10058400" cy="365760"/>
          </a:xfrm>
          <a:prstGeom prst="rect">
            <a:avLst/>
          </a:prstGeom>
          <a:noFill/>
          <a:ln/>
        </p:spPr>
        <p:txBody>
          <a:bodyPr wrap="square" lIns="0" tIns="0" rIns="0" bIns="0" rtlCol="0" anchor="ctr"/>
          <a:lstStyle/>
          <a:p>
            <a:pPr marL="0" indent="0">
              <a:buNone/>
            </a:pPr>
            <a:r>
              <a:rPr lang="en-US" sz="1500" i="1" dirty="0">
                <a:solidFill>
                  <a:srgbClr val="51606B"/>
                </a:solidFill>
                <a:latin typeface="Calibri" pitchFamily="34" charset="0"/>
                <a:ea typeface="Calibri" pitchFamily="34" charset="-122"/>
                <a:cs typeface="Calibri" pitchFamily="34" charset="-120"/>
              </a:rPr>
              <a:t>Quick question for the room:</a:t>
            </a:r>
            <a:endParaRPr lang="en-US" sz="1500" dirty="0"/>
          </a:p>
        </p:txBody>
      </p:sp>
      <p:sp>
        <p:nvSpPr>
          <p:cNvPr id="5" name="Text 3"/>
          <p:cNvSpPr txBox="1"/>
          <p:nvPr/>
        </p:nvSpPr>
        <p:spPr>
          <a:xfrm>
            <a:off x="548640" y="2011680"/>
            <a:ext cx="10972800" cy="548640"/>
          </a:xfrm>
          <a:prstGeom prst="rect">
            <a:avLst/>
          </a:prstGeom>
          <a:noFill/>
          <a:ln/>
        </p:spPr>
        <p:txBody>
          <a:bodyPr wrap="square" lIns="0" tIns="0" rIns="0" bIns="0" rtlCol="0" anchor="ctr"/>
          <a:lstStyle/>
          <a:p>
            <a:pPr marL="0" indent="0">
              <a:buNone/>
            </a:pPr>
            <a:r>
              <a:rPr lang="en-US" sz="2200" b="1" dirty="0">
                <a:solidFill>
                  <a:srgbClr val="0A2A43"/>
                </a:solidFill>
                <a:latin typeface="Cambria" pitchFamily="34" charset="0"/>
                <a:ea typeface="Cambria" pitchFamily="34" charset="-122"/>
                <a:cs typeface="Cambria" pitchFamily="34" charset="-120"/>
              </a:rPr>
              <a:t>“Which is cheaper — a fund with NAV ₹20, or one with NAV ₹200?”</a:t>
            </a:r>
            <a:endParaRPr lang="en-US" sz="2200" dirty="0"/>
          </a:p>
        </p:txBody>
      </p:sp>
      <p:sp>
        <p:nvSpPr>
          <p:cNvPr id="6" name="Shape 4"/>
          <p:cNvSpPr/>
          <p:nvPr/>
        </p:nvSpPr>
        <p:spPr>
          <a:xfrm>
            <a:off x="548640" y="2423160"/>
            <a:ext cx="5212080" cy="1783080"/>
          </a:xfrm>
          <a:prstGeom prst="roundRect">
            <a:avLst>
              <a:gd name="adj" fmla="val 4103"/>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7" name="Text 5"/>
          <p:cNvSpPr txBox="1"/>
          <p:nvPr/>
        </p:nvSpPr>
        <p:spPr>
          <a:xfrm>
            <a:off x="868680" y="2560320"/>
            <a:ext cx="2743200" cy="365760"/>
          </a:xfrm>
          <a:prstGeom prst="rect">
            <a:avLst/>
          </a:prstGeom>
          <a:noFill/>
          <a:ln/>
        </p:spPr>
        <p:txBody>
          <a:bodyPr wrap="square" lIns="0" tIns="0" rIns="0" bIns="0" rtlCol="0" anchor="ctr"/>
          <a:lstStyle/>
          <a:p>
            <a:pPr marL="0" indent="0">
              <a:buNone/>
            </a:pPr>
            <a:r>
              <a:rPr lang="en-US" sz="1500" b="1" dirty="0">
                <a:solidFill>
                  <a:srgbClr val="028090"/>
                </a:solidFill>
                <a:latin typeface="Calibri" pitchFamily="34" charset="0"/>
                <a:ea typeface="Calibri" pitchFamily="34" charset="-122"/>
                <a:cs typeface="Calibri" pitchFamily="34" charset="-120"/>
              </a:rPr>
              <a:t>Fund A</a:t>
            </a:r>
            <a:endParaRPr lang="en-US" sz="1500" dirty="0"/>
          </a:p>
        </p:txBody>
      </p:sp>
      <p:sp>
        <p:nvSpPr>
          <p:cNvPr id="8" name="Text 6"/>
          <p:cNvSpPr txBox="1"/>
          <p:nvPr/>
        </p:nvSpPr>
        <p:spPr>
          <a:xfrm>
            <a:off x="868680" y="2880360"/>
            <a:ext cx="2743200" cy="594360"/>
          </a:xfrm>
          <a:prstGeom prst="rect">
            <a:avLst/>
          </a:prstGeom>
          <a:noFill/>
          <a:ln/>
        </p:spPr>
        <p:txBody>
          <a:bodyPr wrap="square" lIns="0" tIns="0" rIns="0" bIns="0" rtlCol="0" anchor="ctr"/>
          <a:lstStyle/>
          <a:p>
            <a:pPr marL="0" indent="0">
              <a:buNone/>
            </a:pPr>
            <a:r>
              <a:rPr lang="en-US" sz="3000" b="1" dirty="0">
                <a:solidFill>
                  <a:srgbClr val="0A2A43"/>
                </a:solidFill>
                <a:latin typeface="Cambria" pitchFamily="34" charset="0"/>
                <a:ea typeface="Cambria" pitchFamily="34" charset="-122"/>
                <a:cs typeface="Cambria" pitchFamily="34" charset="-120"/>
              </a:rPr>
              <a:t>NAV ₹20</a:t>
            </a:r>
            <a:endParaRPr lang="en-US" sz="3000" dirty="0"/>
          </a:p>
        </p:txBody>
      </p:sp>
      <p:sp>
        <p:nvSpPr>
          <p:cNvPr id="9" name="Text 7"/>
          <p:cNvSpPr txBox="1"/>
          <p:nvPr/>
        </p:nvSpPr>
        <p:spPr>
          <a:xfrm>
            <a:off x="868680" y="3520440"/>
            <a:ext cx="4572000" cy="365760"/>
          </a:xfrm>
          <a:prstGeom prst="rect">
            <a:avLst/>
          </a:prstGeom>
          <a:noFill/>
          <a:ln/>
        </p:spPr>
        <p:txBody>
          <a:bodyPr wrap="square" lIns="0" tIns="0" rIns="0" bIns="0" rtlCol="0" anchor="ctr"/>
          <a:lstStyle/>
          <a:p>
            <a:pPr marL="0" indent="0">
              <a:buNone/>
            </a:pPr>
            <a:r>
              <a:rPr lang="en-US" sz="1250" dirty="0">
                <a:solidFill>
                  <a:srgbClr val="51606B"/>
                </a:solidFill>
                <a:latin typeface="Calibri" pitchFamily="34" charset="0"/>
                <a:ea typeface="Calibri" pitchFamily="34" charset="-122"/>
                <a:cs typeface="Calibri" pitchFamily="34" charset="-120"/>
              </a:rPr>
              <a:t>₹10,000 invested = 500 units</a:t>
            </a:r>
            <a:endParaRPr lang="en-US" sz="1250" dirty="0"/>
          </a:p>
        </p:txBody>
      </p:sp>
      <p:sp>
        <p:nvSpPr>
          <p:cNvPr id="10" name="Shape 8"/>
          <p:cNvSpPr/>
          <p:nvPr/>
        </p:nvSpPr>
        <p:spPr>
          <a:xfrm>
            <a:off x="6126480" y="2423160"/>
            <a:ext cx="5486400" cy="1783080"/>
          </a:xfrm>
          <a:prstGeom prst="roundRect">
            <a:avLst>
              <a:gd name="adj" fmla="val 4103"/>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11" name="Text 9"/>
          <p:cNvSpPr txBox="1"/>
          <p:nvPr/>
        </p:nvSpPr>
        <p:spPr>
          <a:xfrm>
            <a:off x="6446520" y="2560320"/>
            <a:ext cx="2743200" cy="365760"/>
          </a:xfrm>
          <a:prstGeom prst="rect">
            <a:avLst/>
          </a:prstGeom>
          <a:noFill/>
          <a:ln/>
        </p:spPr>
        <p:txBody>
          <a:bodyPr wrap="square" lIns="0" tIns="0" rIns="0" bIns="0" rtlCol="0" anchor="ctr"/>
          <a:lstStyle/>
          <a:p>
            <a:pPr marL="0" indent="0">
              <a:buNone/>
            </a:pPr>
            <a:r>
              <a:rPr lang="en-US" sz="1500" b="1" dirty="0">
                <a:solidFill>
                  <a:srgbClr val="00A896"/>
                </a:solidFill>
                <a:latin typeface="Calibri" pitchFamily="34" charset="0"/>
                <a:ea typeface="Calibri" pitchFamily="34" charset="-122"/>
                <a:cs typeface="Calibri" pitchFamily="34" charset="-120"/>
              </a:rPr>
              <a:t>Fund B</a:t>
            </a:r>
            <a:endParaRPr lang="en-US" sz="1500" dirty="0"/>
          </a:p>
        </p:txBody>
      </p:sp>
      <p:sp>
        <p:nvSpPr>
          <p:cNvPr id="12" name="Text 10"/>
          <p:cNvSpPr txBox="1"/>
          <p:nvPr/>
        </p:nvSpPr>
        <p:spPr>
          <a:xfrm>
            <a:off x="6446520" y="2880360"/>
            <a:ext cx="3200400" cy="594360"/>
          </a:xfrm>
          <a:prstGeom prst="rect">
            <a:avLst/>
          </a:prstGeom>
          <a:noFill/>
          <a:ln/>
        </p:spPr>
        <p:txBody>
          <a:bodyPr wrap="square" lIns="0" tIns="0" rIns="0" bIns="0" rtlCol="0" anchor="ctr"/>
          <a:lstStyle/>
          <a:p>
            <a:pPr marL="0" indent="0">
              <a:buNone/>
            </a:pPr>
            <a:r>
              <a:rPr lang="en-US" sz="3000" b="1" dirty="0">
                <a:solidFill>
                  <a:srgbClr val="0A2A43"/>
                </a:solidFill>
                <a:latin typeface="Cambria" pitchFamily="34" charset="0"/>
                <a:ea typeface="Cambria" pitchFamily="34" charset="-122"/>
                <a:cs typeface="Cambria" pitchFamily="34" charset="-120"/>
              </a:rPr>
              <a:t>NAV ₹200</a:t>
            </a:r>
            <a:endParaRPr lang="en-US" sz="3000" dirty="0"/>
          </a:p>
        </p:txBody>
      </p:sp>
      <p:sp>
        <p:nvSpPr>
          <p:cNvPr id="13" name="Text 11"/>
          <p:cNvSpPr txBox="1"/>
          <p:nvPr/>
        </p:nvSpPr>
        <p:spPr>
          <a:xfrm>
            <a:off x="6446520" y="3520440"/>
            <a:ext cx="4572000" cy="365760"/>
          </a:xfrm>
          <a:prstGeom prst="rect">
            <a:avLst/>
          </a:prstGeom>
          <a:noFill/>
          <a:ln/>
        </p:spPr>
        <p:txBody>
          <a:bodyPr wrap="square" lIns="0" tIns="0" rIns="0" bIns="0" rtlCol="0" anchor="ctr"/>
          <a:lstStyle/>
          <a:p>
            <a:pPr marL="0" indent="0">
              <a:buNone/>
            </a:pPr>
            <a:r>
              <a:rPr lang="en-US" sz="1250" dirty="0">
                <a:solidFill>
                  <a:srgbClr val="51606B"/>
                </a:solidFill>
                <a:latin typeface="Calibri" pitchFamily="34" charset="0"/>
                <a:ea typeface="Calibri" pitchFamily="34" charset="-122"/>
                <a:cs typeface="Calibri" pitchFamily="34" charset="-120"/>
              </a:rPr>
              <a:t>₹10,000 invested = 50 units</a:t>
            </a:r>
            <a:endParaRPr lang="en-US" sz="1250" dirty="0"/>
          </a:p>
        </p:txBody>
      </p:sp>
      <p:sp>
        <p:nvSpPr>
          <p:cNvPr id="14" name="Shape 12"/>
          <p:cNvSpPr/>
          <p:nvPr/>
        </p:nvSpPr>
        <p:spPr>
          <a:xfrm>
            <a:off x="548640" y="4343400"/>
            <a:ext cx="11064240" cy="1051560"/>
          </a:xfrm>
          <a:prstGeom prst="roundRect">
            <a:avLst>
              <a:gd name="adj" fmla="val 6957"/>
            </a:avLst>
          </a:prstGeom>
          <a:solidFill>
            <a:srgbClr val="0F3A57"/>
          </a:solidFill>
          <a:ln/>
          <a:effectLst>
            <a:outerShdw blurRad="76200" dist="25400" dir="5400000" algn="bl" rotWithShape="0">
              <a:srgbClr val="1B1B1B">
                <a:alpha val="12000"/>
              </a:srgbClr>
            </a:outerShdw>
          </a:effectLst>
        </p:spPr>
        <p:txBody>
          <a:bodyPr/>
          <a:lstStyle/>
          <a:p>
            <a:endParaRPr lang="en-IN"/>
          </a:p>
        </p:txBody>
      </p:sp>
      <p:sp>
        <p:nvSpPr>
          <p:cNvPr id="15" name="Text 13"/>
          <p:cNvSpPr txBox="1"/>
          <p:nvPr/>
        </p:nvSpPr>
        <p:spPr>
          <a:xfrm>
            <a:off x="868680" y="4453128"/>
            <a:ext cx="3108960" cy="320040"/>
          </a:xfrm>
          <a:prstGeom prst="rect">
            <a:avLst/>
          </a:prstGeom>
          <a:noFill/>
          <a:ln/>
        </p:spPr>
        <p:txBody>
          <a:bodyPr wrap="square" lIns="0" tIns="0" rIns="0" bIns="0" rtlCol="0" anchor="ctr"/>
          <a:lstStyle/>
          <a:p>
            <a:pPr marL="0" indent="0">
              <a:buNone/>
            </a:pPr>
            <a:r>
              <a:rPr lang="en-US" sz="1150" b="1" dirty="0">
                <a:solidFill>
                  <a:srgbClr val="6FE7DD"/>
                </a:solidFill>
                <a:latin typeface="Calibri" pitchFamily="34" charset="0"/>
                <a:ea typeface="Calibri" pitchFamily="34" charset="-122"/>
                <a:cs typeface="Calibri" pitchFamily="34" charset="-120"/>
              </a:rPr>
              <a:t>Real example (live-demo it):</a:t>
            </a:r>
            <a:endParaRPr lang="en-US" sz="1150" dirty="0"/>
          </a:p>
        </p:txBody>
      </p:sp>
      <p:sp>
        <p:nvSpPr>
          <p:cNvPr id="16" name="Text 14"/>
          <p:cNvSpPr txBox="1"/>
          <p:nvPr/>
        </p:nvSpPr>
        <p:spPr>
          <a:xfrm>
            <a:off x="868680" y="4736592"/>
            <a:ext cx="5120640" cy="54864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Parag Parikh Flexi Cap Fund — Direct Plan</a:t>
            </a:r>
            <a:endParaRPr lang="en-US" sz="1600" dirty="0"/>
          </a:p>
        </p:txBody>
      </p:sp>
      <p:sp>
        <p:nvSpPr>
          <p:cNvPr id="17" name="Text 15"/>
          <p:cNvSpPr txBox="1"/>
          <p:nvPr/>
        </p:nvSpPr>
        <p:spPr>
          <a:xfrm>
            <a:off x="6309360" y="4526280"/>
            <a:ext cx="2377440" cy="411480"/>
          </a:xfrm>
          <a:prstGeom prst="rect">
            <a:avLst/>
          </a:prstGeom>
          <a:noFill/>
          <a:ln/>
        </p:spPr>
        <p:txBody>
          <a:bodyPr wrap="square" lIns="0" tIns="0" rIns="0" bIns="0" rtlCol="0" anchor="ctr"/>
          <a:lstStyle/>
          <a:p>
            <a:pPr marL="0" indent="0">
              <a:buNone/>
            </a:pPr>
            <a:r>
              <a:rPr lang="en-US" sz="1500" b="1" dirty="0">
                <a:solidFill>
                  <a:srgbClr val="F4A300"/>
                </a:solidFill>
                <a:latin typeface="Calibri" pitchFamily="34" charset="0"/>
                <a:ea typeface="Calibri" pitchFamily="34" charset="-122"/>
                <a:cs typeface="Calibri" pitchFamily="34" charset="-120"/>
              </a:rPr>
              <a:t>NAV: ₹89.86</a:t>
            </a:r>
            <a:endParaRPr lang="en-US" sz="1500" dirty="0"/>
          </a:p>
        </p:txBody>
      </p:sp>
      <p:sp>
        <p:nvSpPr>
          <p:cNvPr id="18" name="Text 16"/>
          <p:cNvSpPr txBox="1"/>
          <p:nvPr/>
        </p:nvSpPr>
        <p:spPr>
          <a:xfrm>
            <a:off x="6309360" y="4892040"/>
            <a:ext cx="2377440" cy="320040"/>
          </a:xfrm>
          <a:prstGeom prst="rect">
            <a:avLst/>
          </a:prstGeom>
          <a:noFill/>
          <a:ln/>
        </p:spPr>
        <p:txBody>
          <a:bodyPr wrap="square" lIns="0" tIns="0" rIns="0" bIns="0" rtlCol="0" anchor="ctr"/>
          <a:lstStyle/>
          <a:p>
            <a:pPr marL="0" indent="0">
              <a:buNone/>
            </a:pPr>
            <a:r>
              <a:rPr lang="en-US" sz="1050" i="1" dirty="0">
                <a:solidFill>
                  <a:srgbClr val="C8D6DB"/>
                </a:solidFill>
                <a:latin typeface="Calibri" pitchFamily="34" charset="0"/>
                <a:ea typeface="Calibri" pitchFamily="34" charset="-122"/>
                <a:cs typeface="Calibri" pitchFamily="34" charset="-120"/>
              </a:rPr>
              <a:t>(per-unit price)</a:t>
            </a:r>
            <a:endParaRPr lang="en-US" sz="1050" dirty="0"/>
          </a:p>
        </p:txBody>
      </p:sp>
      <p:sp>
        <p:nvSpPr>
          <p:cNvPr id="19" name="Text 17"/>
          <p:cNvSpPr txBox="1"/>
          <p:nvPr/>
        </p:nvSpPr>
        <p:spPr>
          <a:xfrm>
            <a:off x="8778240" y="4526280"/>
            <a:ext cx="2743200" cy="411480"/>
          </a:xfrm>
          <a:prstGeom prst="rect">
            <a:avLst/>
          </a:prstGeom>
          <a:noFill/>
          <a:ln/>
        </p:spPr>
        <p:txBody>
          <a:bodyPr wrap="square" lIns="0" tIns="0" rIns="0" bIns="0" rtlCol="0" anchor="ctr"/>
          <a:lstStyle/>
          <a:p>
            <a:pPr marL="0" indent="0">
              <a:buNone/>
            </a:pPr>
            <a:r>
              <a:rPr lang="en-US" sz="1500" b="1" dirty="0">
                <a:solidFill>
                  <a:srgbClr val="F4A300"/>
                </a:solidFill>
                <a:latin typeface="Calibri" pitchFamily="34" charset="0"/>
                <a:ea typeface="Calibri" pitchFamily="34" charset="-122"/>
                <a:cs typeface="Calibri" pitchFamily="34" charset="-120"/>
              </a:rPr>
              <a:t>AUM: ₹1,47,405 Cr</a:t>
            </a:r>
            <a:endParaRPr lang="en-US" sz="1500" dirty="0"/>
          </a:p>
        </p:txBody>
      </p:sp>
      <p:sp>
        <p:nvSpPr>
          <p:cNvPr id="20" name="Text 18"/>
          <p:cNvSpPr txBox="1"/>
          <p:nvPr/>
        </p:nvSpPr>
        <p:spPr>
          <a:xfrm>
            <a:off x="8778240" y="4892040"/>
            <a:ext cx="2743200" cy="320040"/>
          </a:xfrm>
          <a:prstGeom prst="rect">
            <a:avLst/>
          </a:prstGeom>
          <a:noFill/>
          <a:ln/>
        </p:spPr>
        <p:txBody>
          <a:bodyPr wrap="square" lIns="0" tIns="0" rIns="0" bIns="0" rtlCol="0" anchor="ctr"/>
          <a:lstStyle/>
          <a:p>
            <a:pPr marL="0" indent="0">
              <a:buNone/>
            </a:pPr>
            <a:r>
              <a:rPr lang="en-US" sz="1050" i="1" dirty="0">
                <a:solidFill>
                  <a:srgbClr val="C8D6DB"/>
                </a:solidFill>
                <a:latin typeface="Calibri" pitchFamily="34" charset="0"/>
                <a:ea typeface="Calibri" pitchFamily="34" charset="-122"/>
                <a:cs typeface="Calibri" pitchFamily="34" charset="-120"/>
              </a:rPr>
              <a:t>(total money managed)</a:t>
            </a:r>
            <a:endParaRPr lang="en-US" sz="1050" dirty="0"/>
          </a:p>
        </p:txBody>
      </p:sp>
      <p:sp>
        <p:nvSpPr>
          <p:cNvPr id="21" name="Shape 19"/>
          <p:cNvSpPr/>
          <p:nvPr/>
        </p:nvSpPr>
        <p:spPr>
          <a:xfrm>
            <a:off x="548640" y="5577840"/>
            <a:ext cx="11064240" cy="685800"/>
          </a:xfrm>
          <a:prstGeom prst="roundRect">
            <a:avLst>
              <a:gd name="adj" fmla="val 10667"/>
            </a:avLst>
          </a:prstGeom>
          <a:solidFill>
            <a:srgbClr val="0A2A43"/>
          </a:solidFill>
          <a:ln/>
          <a:effectLst>
            <a:outerShdw blurRad="76200" dist="25400" dir="5400000" algn="bl" rotWithShape="0">
              <a:srgbClr val="1B1B1B">
                <a:alpha val="12000"/>
              </a:srgbClr>
            </a:outerShdw>
          </a:effectLst>
        </p:spPr>
        <p:txBody>
          <a:bodyPr/>
          <a:lstStyle/>
          <a:p>
            <a:endParaRPr lang="en-IN"/>
          </a:p>
        </p:txBody>
      </p:sp>
      <p:sp>
        <p:nvSpPr>
          <p:cNvPr id="22" name="Text 20"/>
          <p:cNvSpPr txBox="1"/>
          <p:nvPr/>
        </p:nvSpPr>
        <p:spPr>
          <a:xfrm>
            <a:off x="868680" y="5577840"/>
            <a:ext cx="10424160" cy="685800"/>
          </a:xfrm>
          <a:prstGeom prst="rect">
            <a:avLst/>
          </a:prstGeom>
          <a:noFill/>
          <a:ln/>
        </p:spPr>
        <p:txBody>
          <a:bodyPr wrap="square" lIns="0" tIns="0" rIns="0" bIns="0" rtlCol="0" anchor="ctr"/>
          <a:lstStyle/>
          <a:p>
            <a:pPr marL="0" indent="0">
              <a:lnSpc>
                <a:spcPct val="115000"/>
              </a:lnSpc>
              <a:buNone/>
            </a:pPr>
            <a:r>
              <a:rPr lang="en-US" sz="1250" b="1" dirty="0">
                <a:solidFill>
                  <a:srgbClr val="F4A300"/>
                </a:solidFill>
                <a:latin typeface="Calibri" pitchFamily="34" charset="0"/>
                <a:ea typeface="Calibri" pitchFamily="34" charset="-122"/>
                <a:cs typeface="Calibri" pitchFamily="34" charset="-120"/>
              </a:rPr>
              <a:t>Two funds with the same % return make investors the same money, whatever their NAV. NAV is just the unit price; AUM (total assets managed) is what tells you the fund’s scale.</a:t>
            </a:r>
            <a:endParaRPr lang="en-US" sz="1250" dirty="0"/>
          </a:p>
        </p:txBody>
      </p:sp>
      <p:sp>
        <p:nvSpPr>
          <p:cNvPr id="23" name="Text 21"/>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900" dirty="0">
                <a:solidFill>
                  <a:srgbClr val="8A97A0"/>
                </a:solidFill>
                <a:latin typeface="Calibri" pitchFamily="34" charset="0"/>
                <a:ea typeface="Calibri" pitchFamily="34" charset="-122"/>
                <a:cs typeface="Calibri" pitchFamily="34" charset="-120"/>
              </a:rPr>
              <a:t>Mutual Funds: What My Investing Journey Taught Me</a:t>
            </a:r>
            <a:endParaRPr lang="en-US" sz="900" dirty="0"/>
          </a:p>
        </p:txBody>
      </p:sp>
      <p:sp>
        <p:nvSpPr>
          <p:cNvPr id="24" name="Text 22"/>
          <p:cNvSpPr txBox="1"/>
          <p:nvPr/>
        </p:nvSpPr>
        <p:spPr>
          <a:xfrm>
            <a:off x="11000232" y="6473952"/>
            <a:ext cx="731520" cy="274320"/>
          </a:xfrm>
          <a:prstGeom prst="rect">
            <a:avLst/>
          </a:prstGeom>
          <a:noFill/>
          <a:ln/>
        </p:spPr>
        <p:txBody>
          <a:bodyPr wrap="square" lIns="0" tIns="0" rIns="0" bIns="0" rtlCol="0" anchor="ctr"/>
          <a:lstStyle/>
          <a:p>
            <a:pPr marL="0" indent="0" algn="r">
              <a:buNone/>
            </a:pPr>
            <a:r>
              <a:rPr lang="en-US" sz="900" dirty="0">
                <a:solidFill>
                  <a:srgbClr val="8A97A0"/>
                </a:solidFill>
                <a:latin typeface="Calibri" pitchFamily="34" charset="0"/>
                <a:ea typeface="Calibri" pitchFamily="34" charset="-122"/>
                <a:cs typeface="Calibri" pitchFamily="34" charset="-120"/>
              </a:rPr>
              <a:t>6 / 31</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THE UNIVERSE</a:t>
            </a:r>
            <a:endParaRPr lang="en-US" sz="1300" dirty="0"/>
          </a:p>
        </p:txBody>
      </p:sp>
      <p:sp>
        <p:nvSpPr>
          <p:cNvPr id="3" name="Text 1"/>
          <p:cNvSpPr txBox="1"/>
          <p:nvPr/>
        </p:nvSpPr>
        <p:spPr>
          <a:xfrm>
            <a:off x="548640" y="685800"/>
            <a:ext cx="11064240" cy="822960"/>
          </a:xfrm>
          <a:prstGeom prst="rect">
            <a:avLst/>
          </a:prstGeom>
          <a:noFill/>
          <a:ln/>
        </p:spPr>
        <p:txBody>
          <a:bodyPr wrap="square" lIns="0" tIns="0" rIns="0" bIns="0" rtlCol="0" anchor="ctr"/>
          <a:lstStyle/>
          <a:p>
            <a:pPr marL="0" indent="0">
              <a:buNone/>
            </a:pPr>
            <a:r>
              <a:rPr lang="en-US" sz="3000" b="1" dirty="0">
                <a:solidFill>
                  <a:srgbClr val="0A2A43"/>
                </a:solidFill>
                <a:latin typeface="Cambria" pitchFamily="34" charset="0"/>
                <a:ea typeface="Cambria" pitchFamily="34" charset="-122"/>
                <a:cs typeface="Cambria" pitchFamily="34" charset="-120"/>
              </a:rPr>
              <a:t>Types of Mutual Funds — A Quick Map</a:t>
            </a:r>
            <a:endParaRPr lang="en-US" sz="3000" dirty="0"/>
          </a:p>
        </p:txBody>
      </p:sp>
      <p:sp>
        <p:nvSpPr>
          <p:cNvPr id="4" name="Shape 2"/>
          <p:cNvSpPr/>
          <p:nvPr/>
        </p:nvSpPr>
        <p:spPr>
          <a:xfrm>
            <a:off x="548640" y="1691640"/>
            <a:ext cx="2606040" cy="3931920"/>
          </a:xfrm>
          <a:prstGeom prst="roundRect">
            <a:avLst>
              <a:gd name="adj" fmla="val 2807"/>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5" name="Shape 3"/>
          <p:cNvSpPr/>
          <p:nvPr/>
        </p:nvSpPr>
        <p:spPr>
          <a:xfrm>
            <a:off x="548640" y="1691640"/>
            <a:ext cx="2606040" cy="502920"/>
          </a:xfrm>
          <a:prstGeom prst="roundRect">
            <a:avLst>
              <a:gd name="adj" fmla="val 14545"/>
            </a:avLst>
          </a:prstGeom>
          <a:solidFill>
            <a:srgbClr val="028090"/>
          </a:solidFill>
          <a:ln/>
        </p:spPr>
        <p:txBody>
          <a:bodyPr/>
          <a:lstStyle/>
          <a:p>
            <a:endParaRPr lang="en-IN"/>
          </a:p>
        </p:txBody>
      </p:sp>
      <p:sp>
        <p:nvSpPr>
          <p:cNvPr id="6" name="Text 4"/>
          <p:cNvSpPr txBox="1"/>
          <p:nvPr/>
        </p:nvSpPr>
        <p:spPr>
          <a:xfrm>
            <a:off x="640080" y="1691640"/>
            <a:ext cx="242316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Equity Funds</a:t>
            </a:r>
            <a:endParaRPr lang="en-US" sz="1300" dirty="0"/>
          </a:p>
        </p:txBody>
      </p:sp>
      <p:sp>
        <p:nvSpPr>
          <p:cNvPr id="7" name="Text 5"/>
          <p:cNvSpPr txBox="1"/>
          <p:nvPr/>
        </p:nvSpPr>
        <p:spPr>
          <a:xfrm>
            <a:off x="713232" y="2331720"/>
            <a:ext cx="2276856" cy="1600200"/>
          </a:xfrm>
          <a:prstGeom prst="rect">
            <a:avLst/>
          </a:prstGeom>
          <a:noFill/>
          <a:ln/>
        </p:spPr>
        <p:txBody>
          <a:bodyPr wrap="square" lIns="0" tIns="0" rIns="0" bIns="0" rtlCol="0" anchor="ctr"/>
          <a:lstStyle/>
          <a:p>
            <a:pPr marL="0" indent="0">
              <a:lnSpc>
                <a:spcPct val="118000"/>
              </a:lnSpc>
              <a:buNone/>
            </a:pPr>
            <a:r>
              <a:rPr lang="en-US" sz="1150" dirty="0">
                <a:solidFill>
                  <a:srgbClr val="1C1C1C"/>
                </a:solidFill>
                <a:latin typeface="Calibri" pitchFamily="34" charset="0"/>
                <a:ea typeface="Calibri" pitchFamily="34" charset="-122"/>
                <a:cs typeface="Calibri" pitchFamily="34" charset="-120"/>
              </a:rPr>
              <a:t>Invest mainly in stocks — large/mid/small-cap, flexi-cap, sectoral. Higher risk, higher long-term growth potential.</a:t>
            </a:r>
            <a:endParaRPr lang="en-US" sz="1150" dirty="0"/>
          </a:p>
        </p:txBody>
      </p:sp>
      <p:sp>
        <p:nvSpPr>
          <p:cNvPr id="8" name="Text 6"/>
          <p:cNvSpPr txBox="1"/>
          <p:nvPr/>
        </p:nvSpPr>
        <p:spPr>
          <a:xfrm>
            <a:off x="713232" y="4023360"/>
            <a:ext cx="2276856" cy="274320"/>
          </a:xfrm>
          <a:prstGeom prst="rect">
            <a:avLst/>
          </a:prstGeom>
          <a:noFill/>
          <a:ln/>
        </p:spPr>
        <p:txBody>
          <a:bodyPr wrap="square" lIns="0" tIns="0" rIns="0" bIns="0" rtlCol="0" anchor="ctr"/>
          <a:lstStyle/>
          <a:p>
            <a:pPr marL="0" indent="0">
              <a:buNone/>
            </a:pPr>
            <a:r>
              <a:rPr lang="en-US" sz="900" i="1" dirty="0">
                <a:solidFill>
                  <a:srgbClr val="51606B"/>
                </a:solidFill>
                <a:latin typeface="Calibri" pitchFamily="34" charset="0"/>
                <a:ea typeface="Calibri" pitchFamily="34" charset="-122"/>
                <a:cs typeface="Calibri" pitchFamily="34" charset="-120"/>
              </a:rPr>
              <a:t>Illustrative long-term avg. return</a:t>
            </a:r>
            <a:endParaRPr lang="en-US" sz="900" dirty="0"/>
          </a:p>
        </p:txBody>
      </p:sp>
      <p:sp>
        <p:nvSpPr>
          <p:cNvPr id="9" name="Text 7"/>
          <p:cNvSpPr txBox="1"/>
          <p:nvPr/>
        </p:nvSpPr>
        <p:spPr>
          <a:xfrm>
            <a:off x="713232" y="4279392"/>
            <a:ext cx="2276856" cy="411480"/>
          </a:xfrm>
          <a:prstGeom prst="rect">
            <a:avLst/>
          </a:prstGeom>
          <a:noFill/>
          <a:ln/>
        </p:spPr>
        <p:txBody>
          <a:bodyPr wrap="square" lIns="0" tIns="0" rIns="0" bIns="0" rtlCol="0" anchor="ctr"/>
          <a:lstStyle/>
          <a:p>
            <a:pPr marL="0" indent="0">
              <a:lnSpc>
                <a:spcPct val="100000"/>
              </a:lnSpc>
              <a:buNone/>
            </a:pPr>
            <a:r>
              <a:rPr lang="en-US" sz="2000" b="1" dirty="0">
                <a:solidFill>
                  <a:srgbClr val="0A2A43"/>
                </a:solidFill>
                <a:latin typeface="Cambria" pitchFamily="34" charset="0"/>
                <a:ea typeface="Cambria" pitchFamily="34" charset="-122"/>
                <a:cs typeface="Cambria" pitchFamily="34" charset="-120"/>
              </a:rPr>
              <a:t>10–15%</a:t>
            </a:r>
            <a:endParaRPr lang="en-US" sz="2000" dirty="0"/>
          </a:p>
        </p:txBody>
      </p:sp>
      <p:sp>
        <p:nvSpPr>
          <p:cNvPr id="10" name="Shape 8"/>
          <p:cNvSpPr/>
          <p:nvPr/>
        </p:nvSpPr>
        <p:spPr>
          <a:xfrm>
            <a:off x="713232" y="4754880"/>
            <a:ext cx="2276856" cy="146304"/>
          </a:xfrm>
          <a:prstGeom prst="roundRect">
            <a:avLst>
              <a:gd name="adj" fmla="val 18750"/>
            </a:avLst>
          </a:prstGeom>
          <a:solidFill>
            <a:srgbClr val="E3E9EA"/>
          </a:solidFill>
          <a:ln/>
        </p:spPr>
        <p:txBody>
          <a:bodyPr/>
          <a:lstStyle/>
          <a:p>
            <a:endParaRPr lang="en-IN"/>
          </a:p>
        </p:txBody>
      </p:sp>
      <p:sp>
        <p:nvSpPr>
          <p:cNvPr id="11" name="Shape 9"/>
          <p:cNvSpPr/>
          <p:nvPr/>
        </p:nvSpPr>
        <p:spPr>
          <a:xfrm>
            <a:off x="713232" y="4754880"/>
            <a:ext cx="1958096" cy="146304"/>
          </a:xfrm>
          <a:prstGeom prst="roundRect">
            <a:avLst>
              <a:gd name="adj" fmla="val 18750"/>
            </a:avLst>
          </a:prstGeom>
          <a:solidFill>
            <a:srgbClr val="028090"/>
          </a:solidFill>
          <a:ln/>
        </p:spPr>
        <p:txBody>
          <a:bodyPr/>
          <a:lstStyle/>
          <a:p>
            <a:endParaRPr lang="en-IN"/>
          </a:p>
        </p:txBody>
      </p:sp>
      <p:sp>
        <p:nvSpPr>
          <p:cNvPr id="12" name="Shape 10"/>
          <p:cNvSpPr/>
          <p:nvPr/>
        </p:nvSpPr>
        <p:spPr>
          <a:xfrm>
            <a:off x="3337560" y="1691640"/>
            <a:ext cx="2606040" cy="3931920"/>
          </a:xfrm>
          <a:prstGeom prst="roundRect">
            <a:avLst>
              <a:gd name="adj" fmla="val 2807"/>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13" name="Shape 11"/>
          <p:cNvSpPr/>
          <p:nvPr/>
        </p:nvSpPr>
        <p:spPr>
          <a:xfrm>
            <a:off x="3337560" y="1691640"/>
            <a:ext cx="2606040" cy="502920"/>
          </a:xfrm>
          <a:prstGeom prst="roundRect">
            <a:avLst>
              <a:gd name="adj" fmla="val 14545"/>
            </a:avLst>
          </a:prstGeom>
          <a:solidFill>
            <a:srgbClr val="00A896"/>
          </a:solidFill>
          <a:ln/>
        </p:spPr>
        <p:txBody>
          <a:bodyPr/>
          <a:lstStyle/>
          <a:p>
            <a:endParaRPr lang="en-IN"/>
          </a:p>
        </p:txBody>
      </p:sp>
      <p:sp>
        <p:nvSpPr>
          <p:cNvPr id="14" name="Text 12"/>
          <p:cNvSpPr txBox="1"/>
          <p:nvPr/>
        </p:nvSpPr>
        <p:spPr>
          <a:xfrm>
            <a:off x="3429000" y="1691640"/>
            <a:ext cx="242316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Debt Funds</a:t>
            </a:r>
            <a:endParaRPr lang="en-US" sz="1300" dirty="0"/>
          </a:p>
        </p:txBody>
      </p:sp>
      <p:sp>
        <p:nvSpPr>
          <p:cNvPr id="15" name="Text 13"/>
          <p:cNvSpPr txBox="1"/>
          <p:nvPr/>
        </p:nvSpPr>
        <p:spPr>
          <a:xfrm>
            <a:off x="3502152" y="2331720"/>
            <a:ext cx="2276856" cy="1600200"/>
          </a:xfrm>
          <a:prstGeom prst="rect">
            <a:avLst/>
          </a:prstGeom>
          <a:noFill/>
          <a:ln/>
        </p:spPr>
        <p:txBody>
          <a:bodyPr wrap="square" lIns="0" tIns="0" rIns="0" bIns="0" rtlCol="0" anchor="ctr"/>
          <a:lstStyle/>
          <a:p>
            <a:pPr marL="0" indent="0">
              <a:lnSpc>
                <a:spcPct val="118000"/>
              </a:lnSpc>
              <a:buNone/>
            </a:pPr>
            <a:r>
              <a:rPr lang="en-US" sz="1150" dirty="0">
                <a:solidFill>
                  <a:srgbClr val="1C1C1C"/>
                </a:solidFill>
                <a:latin typeface="Calibri" pitchFamily="34" charset="0"/>
                <a:ea typeface="Calibri" pitchFamily="34" charset="-122"/>
                <a:cs typeface="Calibri" pitchFamily="34" charset="-120"/>
              </a:rPr>
              <a:t>Invest in bonds, G-secs, money-market instruments. Lower volatility, income-oriented.</a:t>
            </a:r>
            <a:endParaRPr lang="en-US" sz="1150" dirty="0"/>
          </a:p>
        </p:txBody>
      </p:sp>
      <p:sp>
        <p:nvSpPr>
          <p:cNvPr id="16" name="Text 14"/>
          <p:cNvSpPr txBox="1"/>
          <p:nvPr/>
        </p:nvSpPr>
        <p:spPr>
          <a:xfrm>
            <a:off x="3502152" y="4023360"/>
            <a:ext cx="2276856" cy="274320"/>
          </a:xfrm>
          <a:prstGeom prst="rect">
            <a:avLst/>
          </a:prstGeom>
          <a:noFill/>
          <a:ln/>
        </p:spPr>
        <p:txBody>
          <a:bodyPr wrap="square" lIns="0" tIns="0" rIns="0" bIns="0" rtlCol="0" anchor="ctr"/>
          <a:lstStyle/>
          <a:p>
            <a:pPr marL="0" indent="0">
              <a:buNone/>
            </a:pPr>
            <a:r>
              <a:rPr lang="en-US" sz="900" i="1" dirty="0">
                <a:solidFill>
                  <a:srgbClr val="51606B"/>
                </a:solidFill>
                <a:latin typeface="Calibri" pitchFamily="34" charset="0"/>
                <a:ea typeface="Calibri" pitchFamily="34" charset="-122"/>
                <a:cs typeface="Calibri" pitchFamily="34" charset="-120"/>
              </a:rPr>
              <a:t>Illustrative long-term avg. return</a:t>
            </a:r>
            <a:endParaRPr lang="en-US" sz="900" dirty="0"/>
          </a:p>
        </p:txBody>
      </p:sp>
      <p:sp>
        <p:nvSpPr>
          <p:cNvPr id="17" name="Text 15"/>
          <p:cNvSpPr txBox="1"/>
          <p:nvPr/>
        </p:nvSpPr>
        <p:spPr>
          <a:xfrm>
            <a:off x="3502152" y="4279392"/>
            <a:ext cx="2276856" cy="411480"/>
          </a:xfrm>
          <a:prstGeom prst="rect">
            <a:avLst/>
          </a:prstGeom>
          <a:noFill/>
          <a:ln/>
        </p:spPr>
        <p:txBody>
          <a:bodyPr wrap="square" lIns="0" tIns="0" rIns="0" bIns="0" rtlCol="0" anchor="ctr"/>
          <a:lstStyle/>
          <a:p>
            <a:pPr marL="0" indent="0">
              <a:lnSpc>
                <a:spcPct val="100000"/>
              </a:lnSpc>
              <a:buNone/>
            </a:pPr>
            <a:r>
              <a:rPr lang="en-US" sz="2000" b="1" dirty="0">
                <a:solidFill>
                  <a:srgbClr val="0A2A43"/>
                </a:solidFill>
                <a:latin typeface="Cambria" pitchFamily="34" charset="0"/>
                <a:ea typeface="Cambria" pitchFamily="34" charset="-122"/>
                <a:cs typeface="Cambria" pitchFamily="34" charset="-120"/>
              </a:rPr>
              <a:t>6–8%</a:t>
            </a:r>
            <a:endParaRPr lang="en-US" sz="2000" dirty="0"/>
          </a:p>
        </p:txBody>
      </p:sp>
      <p:sp>
        <p:nvSpPr>
          <p:cNvPr id="18" name="Shape 16"/>
          <p:cNvSpPr/>
          <p:nvPr/>
        </p:nvSpPr>
        <p:spPr>
          <a:xfrm>
            <a:off x="3502152" y="4754880"/>
            <a:ext cx="2276856" cy="146304"/>
          </a:xfrm>
          <a:prstGeom prst="roundRect">
            <a:avLst>
              <a:gd name="adj" fmla="val 18750"/>
            </a:avLst>
          </a:prstGeom>
          <a:solidFill>
            <a:srgbClr val="E3E9EA"/>
          </a:solidFill>
          <a:ln/>
        </p:spPr>
        <p:txBody>
          <a:bodyPr/>
          <a:lstStyle/>
          <a:p>
            <a:endParaRPr lang="en-IN"/>
          </a:p>
        </p:txBody>
      </p:sp>
      <p:sp>
        <p:nvSpPr>
          <p:cNvPr id="19" name="Shape 17"/>
          <p:cNvSpPr/>
          <p:nvPr/>
        </p:nvSpPr>
        <p:spPr>
          <a:xfrm>
            <a:off x="3502152" y="4754880"/>
            <a:ext cx="1047354" cy="146304"/>
          </a:xfrm>
          <a:prstGeom prst="roundRect">
            <a:avLst>
              <a:gd name="adj" fmla="val 18750"/>
            </a:avLst>
          </a:prstGeom>
          <a:solidFill>
            <a:srgbClr val="00A896"/>
          </a:solidFill>
          <a:ln/>
        </p:spPr>
        <p:txBody>
          <a:bodyPr/>
          <a:lstStyle/>
          <a:p>
            <a:endParaRPr lang="en-IN"/>
          </a:p>
        </p:txBody>
      </p:sp>
      <p:sp>
        <p:nvSpPr>
          <p:cNvPr id="20" name="Shape 18"/>
          <p:cNvSpPr/>
          <p:nvPr/>
        </p:nvSpPr>
        <p:spPr>
          <a:xfrm>
            <a:off x="6126480" y="1691640"/>
            <a:ext cx="2606040" cy="3931920"/>
          </a:xfrm>
          <a:prstGeom prst="roundRect">
            <a:avLst>
              <a:gd name="adj" fmla="val 2807"/>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21" name="Shape 19"/>
          <p:cNvSpPr/>
          <p:nvPr/>
        </p:nvSpPr>
        <p:spPr>
          <a:xfrm>
            <a:off x="6126480" y="1691640"/>
            <a:ext cx="2606040" cy="502920"/>
          </a:xfrm>
          <a:prstGeom prst="roundRect">
            <a:avLst>
              <a:gd name="adj" fmla="val 14545"/>
            </a:avLst>
          </a:prstGeom>
          <a:solidFill>
            <a:srgbClr val="6D2E46"/>
          </a:solidFill>
          <a:ln/>
        </p:spPr>
        <p:txBody>
          <a:bodyPr/>
          <a:lstStyle/>
          <a:p>
            <a:endParaRPr lang="en-IN"/>
          </a:p>
        </p:txBody>
      </p:sp>
      <p:sp>
        <p:nvSpPr>
          <p:cNvPr id="22" name="Text 20"/>
          <p:cNvSpPr txBox="1"/>
          <p:nvPr/>
        </p:nvSpPr>
        <p:spPr>
          <a:xfrm>
            <a:off x="6217920" y="1691640"/>
            <a:ext cx="242316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Hybrid Funds</a:t>
            </a:r>
            <a:endParaRPr lang="en-US" sz="1300" dirty="0"/>
          </a:p>
        </p:txBody>
      </p:sp>
      <p:sp>
        <p:nvSpPr>
          <p:cNvPr id="23" name="Text 21"/>
          <p:cNvSpPr txBox="1"/>
          <p:nvPr/>
        </p:nvSpPr>
        <p:spPr>
          <a:xfrm>
            <a:off x="6291072" y="2331720"/>
            <a:ext cx="2276856" cy="1600200"/>
          </a:xfrm>
          <a:prstGeom prst="rect">
            <a:avLst/>
          </a:prstGeom>
          <a:noFill/>
          <a:ln/>
        </p:spPr>
        <p:txBody>
          <a:bodyPr wrap="square" lIns="0" tIns="0" rIns="0" bIns="0" rtlCol="0" anchor="ctr"/>
          <a:lstStyle/>
          <a:p>
            <a:pPr marL="0" indent="0">
              <a:lnSpc>
                <a:spcPct val="118000"/>
              </a:lnSpc>
              <a:buNone/>
            </a:pPr>
            <a:r>
              <a:rPr lang="en-US" sz="1150" dirty="0">
                <a:solidFill>
                  <a:srgbClr val="1C1C1C"/>
                </a:solidFill>
                <a:latin typeface="Calibri" pitchFamily="34" charset="0"/>
                <a:ea typeface="Calibri" pitchFamily="34" charset="-122"/>
                <a:cs typeface="Calibri" pitchFamily="34" charset="-120"/>
              </a:rPr>
              <a:t>Mix of equity + debt in varying proportions. Balances growth and stability.</a:t>
            </a:r>
            <a:endParaRPr lang="en-US" sz="1150" dirty="0"/>
          </a:p>
        </p:txBody>
      </p:sp>
      <p:sp>
        <p:nvSpPr>
          <p:cNvPr id="24" name="Text 22"/>
          <p:cNvSpPr txBox="1"/>
          <p:nvPr/>
        </p:nvSpPr>
        <p:spPr>
          <a:xfrm>
            <a:off x="6291072" y="4023360"/>
            <a:ext cx="2276856" cy="274320"/>
          </a:xfrm>
          <a:prstGeom prst="rect">
            <a:avLst/>
          </a:prstGeom>
          <a:noFill/>
          <a:ln/>
        </p:spPr>
        <p:txBody>
          <a:bodyPr wrap="square" lIns="0" tIns="0" rIns="0" bIns="0" rtlCol="0" anchor="ctr"/>
          <a:lstStyle/>
          <a:p>
            <a:pPr marL="0" indent="0">
              <a:buNone/>
            </a:pPr>
            <a:r>
              <a:rPr lang="en-US" sz="900" i="1" dirty="0">
                <a:solidFill>
                  <a:srgbClr val="51606B"/>
                </a:solidFill>
                <a:latin typeface="Calibri" pitchFamily="34" charset="0"/>
                <a:ea typeface="Calibri" pitchFamily="34" charset="-122"/>
                <a:cs typeface="Calibri" pitchFamily="34" charset="-120"/>
              </a:rPr>
              <a:t>Illustrative long-term avg. return</a:t>
            </a:r>
            <a:endParaRPr lang="en-US" sz="900" dirty="0"/>
          </a:p>
        </p:txBody>
      </p:sp>
      <p:sp>
        <p:nvSpPr>
          <p:cNvPr id="25" name="Text 23"/>
          <p:cNvSpPr txBox="1"/>
          <p:nvPr/>
        </p:nvSpPr>
        <p:spPr>
          <a:xfrm>
            <a:off x="6291072" y="4279392"/>
            <a:ext cx="2276856" cy="411480"/>
          </a:xfrm>
          <a:prstGeom prst="rect">
            <a:avLst/>
          </a:prstGeom>
          <a:noFill/>
          <a:ln/>
        </p:spPr>
        <p:txBody>
          <a:bodyPr wrap="square" lIns="0" tIns="0" rIns="0" bIns="0" rtlCol="0" anchor="ctr"/>
          <a:lstStyle/>
          <a:p>
            <a:pPr marL="0" indent="0">
              <a:lnSpc>
                <a:spcPct val="100000"/>
              </a:lnSpc>
              <a:buNone/>
            </a:pPr>
            <a:r>
              <a:rPr lang="en-US" sz="2000" b="1" dirty="0">
                <a:solidFill>
                  <a:srgbClr val="0A2A43"/>
                </a:solidFill>
                <a:latin typeface="Cambria" pitchFamily="34" charset="0"/>
                <a:ea typeface="Cambria" pitchFamily="34" charset="-122"/>
                <a:cs typeface="Cambria" pitchFamily="34" charset="-120"/>
              </a:rPr>
              <a:t>8–11%</a:t>
            </a:r>
            <a:endParaRPr lang="en-US" sz="2000" dirty="0"/>
          </a:p>
        </p:txBody>
      </p:sp>
      <p:sp>
        <p:nvSpPr>
          <p:cNvPr id="26" name="Shape 24"/>
          <p:cNvSpPr/>
          <p:nvPr/>
        </p:nvSpPr>
        <p:spPr>
          <a:xfrm>
            <a:off x="6291072" y="4754880"/>
            <a:ext cx="2276856" cy="146304"/>
          </a:xfrm>
          <a:prstGeom prst="roundRect">
            <a:avLst>
              <a:gd name="adj" fmla="val 18750"/>
            </a:avLst>
          </a:prstGeom>
          <a:solidFill>
            <a:srgbClr val="E3E9EA"/>
          </a:solidFill>
          <a:ln/>
        </p:spPr>
        <p:txBody>
          <a:bodyPr/>
          <a:lstStyle/>
          <a:p>
            <a:endParaRPr lang="en-IN"/>
          </a:p>
        </p:txBody>
      </p:sp>
      <p:sp>
        <p:nvSpPr>
          <p:cNvPr id="27" name="Shape 25"/>
          <p:cNvSpPr/>
          <p:nvPr/>
        </p:nvSpPr>
        <p:spPr>
          <a:xfrm>
            <a:off x="6291072" y="4754880"/>
            <a:ext cx="1434419" cy="146304"/>
          </a:xfrm>
          <a:prstGeom prst="roundRect">
            <a:avLst>
              <a:gd name="adj" fmla="val 18750"/>
            </a:avLst>
          </a:prstGeom>
          <a:solidFill>
            <a:srgbClr val="6D2E46"/>
          </a:solidFill>
          <a:ln/>
        </p:spPr>
        <p:txBody>
          <a:bodyPr/>
          <a:lstStyle/>
          <a:p>
            <a:endParaRPr lang="en-IN"/>
          </a:p>
        </p:txBody>
      </p:sp>
      <p:sp>
        <p:nvSpPr>
          <p:cNvPr id="28" name="Shape 26"/>
          <p:cNvSpPr/>
          <p:nvPr/>
        </p:nvSpPr>
        <p:spPr>
          <a:xfrm>
            <a:off x="8915400" y="1691640"/>
            <a:ext cx="2606040" cy="3931920"/>
          </a:xfrm>
          <a:prstGeom prst="roundRect">
            <a:avLst>
              <a:gd name="adj" fmla="val 2807"/>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29" name="Shape 27"/>
          <p:cNvSpPr/>
          <p:nvPr/>
        </p:nvSpPr>
        <p:spPr>
          <a:xfrm>
            <a:off x="8915400" y="1691640"/>
            <a:ext cx="2606040" cy="502920"/>
          </a:xfrm>
          <a:prstGeom prst="roundRect">
            <a:avLst>
              <a:gd name="adj" fmla="val 14545"/>
            </a:avLst>
          </a:prstGeom>
          <a:solidFill>
            <a:srgbClr val="1C7293"/>
          </a:solidFill>
          <a:ln/>
        </p:spPr>
        <p:txBody>
          <a:bodyPr/>
          <a:lstStyle/>
          <a:p>
            <a:endParaRPr lang="en-IN"/>
          </a:p>
        </p:txBody>
      </p:sp>
      <p:sp>
        <p:nvSpPr>
          <p:cNvPr id="30" name="Text 28"/>
          <p:cNvSpPr txBox="1"/>
          <p:nvPr/>
        </p:nvSpPr>
        <p:spPr>
          <a:xfrm>
            <a:off x="9006840" y="1691640"/>
            <a:ext cx="242316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Other / Solution-Oriented</a:t>
            </a:r>
            <a:endParaRPr lang="en-US" sz="1300" dirty="0"/>
          </a:p>
        </p:txBody>
      </p:sp>
      <p:sp>
        <p:nvSpPr>
          <p:cNvPr id="31" name="Text 29"/>
          <p:cNvSpPr txBox="1"/>
          <p:nvPr/>
        </p:nvSpPr>
        <p:spPr>
          <a:xfrm>
            <a:off x="9079992" y="2331720"/>
            <a:ext cx="2276856" cy="1600200"/>
          </a:xfrm>
          <a:prstGeom prst="rect">
            <a:avLst/>
          </a:prstGeom>
          <a:noFill/>
          <a:ln/>
        </p:spPr>
        <p:txBody>
          <a:bodyPr wrap="square" lIns="0" tIns="0" rIns="0" bIns="0" rtlCol="0" anchor="ctr"/>
          <a:lstStyle/>
          <a:p>
            <a:pPr marL="0" indent="0">
              <a:lnSpc>
                <a:spcPct val="118000"/>
              </a:lnSpc>
              <a:buNone/>
            </a:pPr>
            <a:r>
              <a:rPr lang="en-US" sz="1150" dirty="0">
                <a:solidFill>
                  <a:srgbClr val="1C1C1C"/>
                </a:solidFill>
                <a:latin typeface="Calibri" pitchFamily="34" charset="0"/>
                <a:ea typeface="Calibri" pitchFamily="34" charset="-122"/>
                <a:cs typeface="Calibri" pitchFamily="34" charset="-120"/>
              </a:rPr>
              <a:t>Index funds, ELSS (tax-saving), retirement &amp; children’s funds, gold, international funds.</a:t>
            </a:r>
            <a:endParaRPr lang="en-US" sz="1150" dirty="0"/>
          </a:p>
        </p:txBody>
      </p:sp>
      <p:sp>
        <p:nvSpPr>
          <p:cNvPr id="32" name="Text 30"/>
          <p:cNvSpPr txBox="1"/>
          <p:nvPr/>
        </p:nvSpPr>
        <p:spPr>
          <a:xfrm>
            <a:off x="9079992" y="4023360"/>
            <a:ext cx="2276856" cy="274320"/>
          </a:xfrm>
          <a:prstGeom prst="rect">
            <a:avLst/>
          </a:prstGeom>
          <a:noFill/>
          <a:ln/>
        </p:spPr>
        <p:txBody>
          <a:bodyPr wrap="square" lIns="0" tIns="0" rIns="0" bIns="0" rtlCol="0" anchor="ctr"/>
          <a:lstStyle/>
          <a:p>
            <a:pPr marL="0" indent="0">
              <a:buNone/>
            </a:pPr>
            <a:r>
              <a:rPr lang="en-US" sz="900" i="1" dirty="0">
                <a:solidFill>
                  <a:srgbClr val="51606B"/>
                </a:solidFill>
                <a:latin typeface="Calibri" pitchFamily="34" charset="0"/>
                <a:ea typeface="Calibri" pitchFamily="34" charset="-122"/>
                <a:cs typeface="Calibri" pitchFamily="34" charset="-120"/>
              </a:rPr>
              <a:t>Illustrative long-term avg. return</a:t>
            </a:r>
            <a:endParaRPr lang="en-US" sz="900" dirty="0"/>
          </a:p>
        </p:txBody>
      </p:sp>
      <p:sp>
        <p:nvSpPr>
          <p:cNvPr id="33" name="Text 31"/>
          <p:cNvSpPr txBox="1"/>
          <p:nvPr/>
        </p:nvSpPr>
        <p:spPr>
          <a:xfrm>
            <a:off x="9079992" y="4279392"/>
            <a:ext cx="2276856" cy="411480"/>
          </a:xfrm>
          <a:prstGeom prst="rect">
            <a:avLst/>
          </a:prstGeom>
          <a:noFill/>
          <a:ln/>
        </p:spPr>
        <p:txBody>
          <a:bodyPr wrap="square" lIns="0" tIns="0" rIns="0" bIns="0" rtlCol="0" anchor="ctr"/>
          <a:lstStyle/>
          <a:p>
            <a:pPr marL="0" indent="0">
              <a:lnSpc>
                <a:spcPct val="100000"/>
              </a:lnSpc>
              <a:buNone/>
            </a:pPr>
            <a:r>
              <a:rPr lang="en-US" sz="1300" b="1" dirty="0">
                <a:solidFill>
                  <a:srgbClr val="0A2A43"/>
                </a:solidFill>
                <a:latin typeface="Cambria" pitchFamily="34" charset="0"/>
                <a:ea typeface="Cambria" pitchFamily="34" charset="-122"/>
                <a:cs typeface="Cambria" pitchFamily="34" charset="-120"/>
              </a:rPr>
              <a:t>Varies</a:t>
            </a:r>
            <a:endParaRPr lang="en-US" sz="1300" dirty="0"/>
          </a:p>
          <a:p>
            <a:pPr marL="0" indent="0">
              <a:lnSpc>
                <a:spcPct val="100000"/>
              </a:lnSpc>
              <a:buNone/>
            </a:pPr>
            <a:r>
              <a:rPr lang="en-US" sz="1300" b="1" dirty="0">
                <a:solidFill>
                  <a:srgbClr val="0A2A43"/>
                </a:solidFill>
                <a:latin typeface="Cambria" pitchFamily="34" charset="0"/>
                <a:ea typeface="Cambria" pitchFamily="34" charset="-122"/>
                <a:cs typeface="Cambria" pitchFamily="34" charset="-120"/>
              </a:rPr>
              <a:t>by type</a:t>
            </a:r>
            <a:endParaRPr lang="en-US" sz="1300" dirty="0"/>
          </a:p>
        </p:txBody>
      </p:sp>
      <p:sp>
        <p:nvSpPr>
          <p:cNvPr id="34" name="Text 32"/>
          <p:cNvSpPr txBox="1"/>
          <p:nvPr/>
        </p:nvSpPr>
        <p:spPr>
          <a:xfrm>
            <a:off x="548640" y="5806440"/>
            <a:ext cx="11064240" cy="502920"/>
          </a:xfrm>
          <a:prstGeom prst="rect">
            <a:avLst/>
          </a:prstGeom>
          <a:noFill/>
          <a:ln/>
        </p:spPr>
        <p:txBody>
          <a:bodyPr wrap="square" lIns="0" tIns="0" rIns="0" bIns="0" rtlCol="0" anchor="ctr"/>
          <a:lstStyle/>
          <a:p>
            <a:pPr marL="0" indent="0">
              <a:buNone/>
            </a:pPr>
            <a:r>
              <a:rPr lang="en-US" sz="1300" b="1" i="1" dirty="0">
                <a:solidFill>
                  <a:srgbClr val="0A2A43"/>
                </a:solidFill>
                <a:latin typeface="Calibri" pitchFamily="34" charset="0"/>
                <a:ea typeface="Calibri" pitchFamily="34" charset="-122"/>
                <a:cs typeface="Calibri" pitchFamily="34" charset="-120"/>
              </a:rPr>
              <a:t>Category first, fund second — and these are broad historical averages, not promises: don’t chase names before understanding what a category is built to do.</a:t>
            </a:r>
            <a:endParaRPr lang="en-US" sz="1300" dirty="0"/>
          </a:p>
        </p:txBody>
      </p:sp>
      <p:sp>
        <p:nvSpPr>
          <p:cNvPr id="35" name="Text 33"/>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900" dirty="0">
                <a:solidFill>
                  <a:srgbClr val="8A97A0"/>
                </a:solidFill>
                <a:latin typeface="Calibri" pitchFamily="34" charset="0"/>
                <a:ea typeface="Calibri" pitchFamily="34" charset="-122"/>
                <a:cs typeface="Calibri" pitchFamily="34" charset="-120"/>
              </a:rPr>
              <a:t>Mutual Funds: What My Investing Journey Taught Me</a:t>
            </a:r>
            <a:endParaRPr lang="en-US" sz="900" dirty="0"/>
          </a:p>
        </p:txBody>
      </p:sp>
      <p:sp>
        <p:nvSpPr>
          <p:cNvPr id="36" name="Text 34"/>
          <p:cNvSpPr txBox="1"/>
          <p:nvPr/>
        </p:nvSpPr>
        <p:spPr>
          <a:xfrm>
            <a:off x="11000232" y="6473952"/>
            <a:ext cx="731520" cy="274320"/>
          </a:xfrm>
          <a:prstGeom prst="rect">
            <a:avLst/>
          </a:prstGeom>
          <a:noFill/>
          <a:ln/>
        </p:spPr>
        <p:txBody>
          <a:bodyPr wrap="square" lIns="0" tIns="0" rIns="0" bIns="0" rtlCol="0" anchor="ctr"/>
          <a:lstStyle/>
          <a:p>
            <a:pPr marL="0" indent="0" algn="r">
              <a:buNone/>
            </a:pPr>
            <a:r>
              <a:rPr lang="en-US" sz="900" dirty="0">
                <a:solidFill>
                  <a:srgbClr val="8A97A0"/>
                </a:solidFill>
                <a:latin typeface="Calibri" pitchFamily="34" charset="0"/>
                <a:ea typeface="Calibri" pitchFamily="34" charset="-122"/>
                <a:cs typeface="Calibri" pitchFamily="34" charset="-120"/>
              </a:rPr>
              <a:t>7 / 31</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A COMMON POINT OF CONFUSION</a:t>
            </a:r>
            <a:endParaRPr lang="en-US" sz="1300" dirty="0"/>
          </a:p>
        </p:txBody>
      </p:sp>
      <p:sp>
        <p:nvSpPr>
          <p:cNvPr id="3" name="Text 1"/>
          <p:cNvSpPr txBox="1"/>
          <p:nvPr/>
        </p:nvSpPr>
        <p:spPr>
          <a:xfrm>
            <a:off x="548640" y="685800"/>
            <a:ext cx="11064240" cy="822960"/>
          </a:xfrm>
          <a:prstGeom prst="rect">
            <a:avLst/>
          </a:prstGeom>
          <a:noFill/>
          <a:ln/>
        </p:spPr>
        <p:txBody>
          <a:bodyPr wrap="square" lIns="0" tIns="0" rIns="0" bIns="0" rtlCol="0" anchor="ctr"/>
          <a:lstStyle/>
          <a:p>
            <a:pPr marL="0" indent="0">
              <a:buNone/>
            </a:pPr>
            <a:r>
              <a:rPr lang="en-US" sz="3000" b="1" dirty="0">
                <a:solidFill>
                  <a:srgbClr val="0A2A43"/>
                </a:solidFill>
                <a:latin typeface="Cambria" pitchFamily="34" charset="0"/>
                <a:ea typeface="Cambria" pitchFamily="34" charset="-122"/>
                <a:cs typeface="Cambria" pitchFamily="34" charset="-120"/>
              </a:rPr>
              <a:t>ELSS: The One Mutual Fund With a Lock-In</a:t>
            </a:r>
            <a:endParaRPr lang="en-US" sz="3000" dirty="0"/>
          </a:p>
        </p:txBody>
      </p:sp>
      <p:sp>
        <p:nvSpPr>
          <p:cNvPr id="4" name="Text 2"/>
          <p:cNvSpPr txBox="1"/>
          <p:nvPr/>
        </p:nvSpPr>
        <p:spPr>
          <a:xfrm>
            <a:off x="548640" y="1691640"/>
            <a:ext cx="5486400" cy="4114800"/>
          </a:xfrm>
          <a:prstGeom prst="rect">
            <a:avLst/>
          </a:prstGeom>
          <a:noFill/>
          <a:ln/>
        </p:spPr>
        <p:txBody>
          <a:bodyPr wrap="square" lIns="0" tIns="0" rIns="0" bIns="0" rtlCol="0" anchor="t"/>
          <a:lstStyle/>
          <a:p>
            <a:pPr marL="228600" indent="-228600">
              <a:lnSpc>
                <a:spcPct val="108000"/>
              </a:lnSpc>
              <a:spcAft>
                <a:spcPts val="1100"/>
              </a:spcAft>
              <a:buSzPct val="100000"/>
              <a:buChar char="•"/>
            </a:pPr>
            <a:r>
              <a:rPr lang="en-US" sz="1350" dirty="0">
                <a:solidFill>
                  <a:srgbClr val="1C1C1C"/>
                </a:solidFill>
                <a:latin typeface="Calibri" pitchFamily="34" charset="0"/>
                <a:ea typeface="Calibri" pitchFamily="34" charset="-122"/>
                <a:cs typeface="Calibri" pitchFamily="34" charset="-120"/>
              </a:rPr>
              <a:t>ELSS (Equity Linked Savings Scheme) is the tax-saving equity fund category under Section 80C — invest up to ₹1.5 lakh/year and reduce taxable income.</a:t>
            </a:r>
            <a:endParaRPr lang="en-US" sz="1350" dirty="0"/>
          </a:p>
          <a:p>
            <a:pPr marL="228600" indent="-228600">
              <a:lnSpc>
                <a:spcPct val="108000"/>
              </a:lnSpc>
              <a:spcAft>
                <a:spcPts val="1100"/>
              </a:spcAft>
              <a:buSzPct val="100000"/>
              <a:buChar char="•"/>
            </a:pPr>
            <a:r>
              <a:rPr lang="en-US" sz="1350" dirty="0">
                <a:solidFill>
                  <a:srgbClr val="1C1C1C"/>
                </a:solidFill>
                <a:latin typeface="Calibri" pitchFamily="34" charset="0"/>
                <a:ea typeface="Calibri" pitchFamily="34" charset="-122"/>
                <a:cs typeface="Calibri" pitchFamily="34" charset="-120"/>
              </a:rPr>
              <a:t>It carries a mandatory 3-year lock-in — the shortest lock-in of any 80C option.</a:t>
            </a:r>
            <a:endParaRPr lang="en-US" sz="1350" dirty="0"/>
          </a:p>
          <a:p>
            <a:pPr marL="228600" indent="-228600">
              <a:lnSpc>
                <a:spcPct val="108000"/>
              </a:lnSpc>
              <a:spcAft>
                <a:spcPts val="1100"/>
              </a:spcAft>
              <a:buSzPct val="100000"/>
              <a:buChar char="•"/>
            </a:pPr>
            <a:r>
              <a:rPr lang="en-US" sz="1350" dirty="0">
                <a:solidFill>
                  <a:srgbClr val="1C1C1C"/>
                </a:solidFill>
                <a:latin typeface="Calibri" pitchFamily="34" charset="0"/>
                <a:ea typeface="Calibri" pitchFamily="34" charset="-122"/>
                <a:cs typeface="Calibri" pitchFamily="34" charset="-120"/>
              </a:rPr>
              <a:t>SIP into ELSS? Each instalment is locked for 3 years from its own purchase date — same FIFO logic as the SIP tax lots in the Excel model, not one lock-in date for the whole SIP.</a:t>
            </a:r>
            <a:endParaRPr lang="en-US" sz="1350" dirty="0"/>
          </a:p>
          <a:p>
            <a:pPr marL="228600" indent="-228600">
              <a:lnSpc>
                <a:spcPct val="108000"/>
              </a:lnSpc>
              <a:spcAft>
                <a:spcPts val="1100"/>
              </a:spcAft>
              <a:buSzPct val="100000"/>
              <a:buChar char="•"/>
            </a:pPr>
            <a:r>
              <a:rPr lang="en-US" sz="1350" dirty="0">
                <a:solidFill>
                  <a:srgbClr val="1C1C1C"/>
                </a:solidFill>
                <a:latin typeface="Calibri" pitchFamily="34" charset="0"/>
                <a:ea typeface="Calibri" pitchFamily="34" charset="-122"/>
                <a:cs typeface="Calibri" pitchFamily="34" charset="-120"/>
              </a:rPr>
              <a:t>After the lock-in, it behaves like a normal open-ended equity fund — no forced exit; you can stay invested as long as you want.</a:t>
            </a:r>
            <a:endParaRPr lang="en-US" sz="1350" dirty="0"/>
          </a:p>
        </p:txBody>
      </p:sp>
      <p:sp>
        <p:nvSpPr>
          <p:cNvPr id="5" name="Shape 3"/>
          <p:cNvSpPr/>
          <p:nvPr/>
        </p:nvSpPr>
        <p:spPr>
          <a:xfrm>
            <a:off x="6309360" y="1691640"/>
            <a:ext cx="5349240" cy="3703320"/>
          </a:xfrm>
          <a:prstGeom prst="roundRect">
            <a:avLst>
              <a:gd name="adj" fmla="val 1975"/>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6" name="Text 4"/>
          <p:cNvSpPr txBox="1"/>
          <p:nvPr/>
        </p:nvSpPr>
        <p:spPr>
          <a:xfrm>
            <a:off x="6629400" y="1828800"/>
            <a:ext cx="4754880" cy="365760"/>
          </a:xfrm>
          <a:prstGeom prst="rect">
            <a:avLst/>
          </a:prstGeom>
          <a:noFill/>
          <a:ln/>
        </p:spPr>
        <p:txBody>
          <a:bodyPr wrap="square" lIns="0" tIns="0" rIns="0" bIns="0" rtlCol="0" anchor="ctr"/>
          <a:lstStyle/>
          <a:p>
            <a:pPr marL="0" indent="0">
              <a:buNone/>
            </a:pPr>
            <a:r>
              <a:rPr lang="en-US" sz="1300" b="1" dirty="0">
                <a:solidFill>
                  <a:srgbClr val="0A2A43"/>
                </a:solidFill>
                <a:latin typeface="Calibri" pitchFamily="34" charset="0"/>
                <a:ea typeface="Calibri" pitchFamily="34" charset="-122"/>
                <a:cs typeface="Calibri" pitchFamily="34" charset="-120"/>
              </a:rPr>
              <a:t>Lock-in period across 80C options</a:t>
            </a:r>
            <a:endParaRPr lang="en-US" sz="1300" dirty="0"/>
          </a:p>
        </p:txBody>
      </p:sp>
      <p:sp>
        <p:nvSpPr>
          <p:cNvPr id="7" name="Text 5"/>
          <p:cNvSpPr txBox="1"/>
          <p:nvPr/>
        </p:nvSpPr>
        <p:spPr>
          <a:xfrm>
            <a:off x="6629400" y="2286000"/>
            <a:ext cx="1737360" cy="320040"/>
          </a:xfrm>
          <a:prstGeom prst="rect">
            <a:avLst/>
          </a:prstGeom>
          <a:noFill/>
          <a:ln/>
        </p:spPr>
        <p:txBody>
          <a:bodyPr wrap="square" lIns="0" tIns="0" rIns="0" bIns="0" rtlCol="0" anchor="ctr"/>
          <a:lstStyle/>
          <a:p>
            <a:pPr marL="0" indent="0">
              <a:buNone/>
            </a:pPr>
            <a:r>
              <a:rPr lang="en-US" sz="1200" b="1" dirty="0">
                <a:solidFill>
                  <a:srgbClr val="1C1C1C"/>
                </a:solidFill>
                <a:latin typeface="Calibri" pitchFamily="34" charset="0"/>
                <a:ea typeface="Calibri" pitchFamily="34" charset="-122"/>
                <a:cs typeface="Calibri" pitchFamily="34" charset="-120"/>
              </a:rPr>
              <a:t>PPF</a:t>
            </a:r>
            <a:endParaRPr lang="en-US" sz="1200" dirty="0"/>
          </a:p>
        </p:txBody>
      </p:sp>
      <p:sp>
        <p:nvSpPr>
          <p:cNvPr id="8" name="Shape 6"/>
          <p:cNvSpPr/>
          <p:nvPr/>
        </p:nvSpPr>
        <p:spPr>
          <a:xfrm>
            <a:off x="6629400" y="2633472"/>
            <a:ext cx="2743200" cy="256032"/>
          </a:xfrm>
          <a:prstGeom prst="roundRect">
            <a:avLst>
              <a:gd name="adj" fmla="val 14286"/>
            </a:avLst>
          </a:prstGeom>
          <a:solidFill>
            <a:srgbClr val="E3E9EA"/>
          </a:solidFill>
          <a:ln/>
        </p:spPr>
        <p:txBody>
          <a:bodyPr/>
          <a:lstStyle/>
          <a:p>
            <a:endParaRPr lang="en-IN"/>
          </a:p>
        </p:txBody>
      </p:sp>
      <p:sp>
        <p:nvSpPr>
          <p:cNvPr id="9" name="Shape 7"/>
          <p:cNvSpPr/>
          <p:nvPr/>
        </p:nvSpPr>
        <p:spPr>
          <a:xfrm>
            <a:off x="6629400" y="2633472"/>
            <a:ext cx="2743200" cy="256032"/>
          </a:xfrm>
          <a:prstGeom prst="roundRect">
            <a:avLst>
              <a:gd name="adj" fmla="val 14286"/>
            </a:avLst>
          </a:prstGeom>
          <a:solidFill>
            <a:srgbClr val="028090"/>
          </a:solidFill>
          <a:ln/>
        </p:spPr>
        <p:txBody>
          <a:bodyPr/>
          <a:lstStyle/>
          <a:p>
            <a:endParaRPr lang="en-IN"/>
          </a:p>
        </p:txBody>
      </p:sp>
      <p:sp>
        <p:nvSpPr>
          <p:cNvPr id="10" name="Text 8"/>
          <p:cNvSpPr txBox="1"/>
          <p:nvPr/>
        </p:nvSpPr>
        <p:spPr>
          <a:xfrm>
            <a:off x="9464040" y="2578608"/>
            <a:ext cx="822960" cy="365760"/>
          </a:xfrm>
          <a:prstGeom prst="rect">
            <a:avLst/>
          </a:prstGeom>
          <a:noFill/>
          <a:ln/>
        </p:spPr>
        <p:txBody>
          <a:bodyPr wrap="square" lIns="0" tIns="0" rIns="0" bIns="0" rtlCol="0" anchor="ctr"/>
          <a:lstStyle/>
          <a:p>
            <a:pPr marL="0" indent="0">
              <a:buNone/>
            </a:pPr>
            <a:r>
              <a:rPr lang="en-US" sz="1200" b="1" dirty="0">
                <a:solidFill>
                  <a:srgbClr val="0A2A43"/>
                </a:solidFill>
                <a:latin typeface="Calibri" pitchFamily="34" charset="0"/>
                <a:ea typeface="Calibri" pitchFamily="34" charset="-122"/>
                <a:cs typeface="Calibri" pitchFamily="34" charset="-120"/>
              </a:rPr>
              <a:t>15 yrs</a:t>
            </a:r>
            <a:endParaRPr lang="en-US" sz="1200" dirty="0"/>
          </a:p>
        </p:txBody>
      </p:sp>
      <p:sp>
        <p:nvSpPr>
          <p:cNvPr id="11" name="Text 9"/>
          <p:cNvSpPr txBox="1"/>
          <p:nvPr/>
        </p:nvSpPr>
        <p:spPr>
          <a:xfrm>
            <a:off x="6629400" y="3035808"/>
            <a:ext cx="1737360" cy="320040"/>
          </a:xfrm>
          <a:prstGeom prst="rect">
            <a:avLst/>
          </a:prstGeom>
          <a:noFill/>
          <a:ln/>
        </p:spPr>
        <p:txBody>
          <a:bodyPr wrap="square" lIns="0" tIns="0" rIns="0" bIns="0" rtlCol="0" anchor="ctr"/>
          <a:lstStyle/>
          <a:p>
            <a:pPr marL="0" indent="0">
              <a:buNone/>
            </a:pPr>
            <a:r>
              <a:rPr lang="en-US" sz="1200" b="1" dirty="0">
                <a:solidFill>
                  <a:srgbClr val="1C1C1C"/>
                </a:solidFill>
                <a:latin typeface="Calibri" pitchFamily="34" charset="0"/>
                <a:ea typeface="Calibri" pitchFamily="34" charset="-122"/>
                <a:cs typeface="Calibri" pitchFamily="34" charset="-120"/>
              </a:rPr>
              <a:t>NSC</a:t>
            </a:r>
            <a:endParaRPr lang="en-US" sz="1200" dirty="0"/>
          </a:p>
        </p:txBody>
      </p:sp>
      <p:sp>
        <p:nvSpPr>
          <p:cNvPr id="12" name="Shape 10"/>
          <p:cNvSpPr/>
          <p:nvPr/>
        </p:nvSpPr>
        <p:spPr>
          <a:xfrm>
            <a:off x="6629400" y="3383280"/>
            <a:ext cx="2743200" cy="256032"/>
          </a:xfrm>
          <a:prstGeom prst="roundRect">
            <a:avLst>
              <a:gd name="adj" fmla="val 14286"/>
            </a:avLst>
          </a:prstGeom>
          <a:solidFill>
            <a:srgbClr val="E3E9EA"/>
          </a:solidFill>
          <a:ln/>
        </p:spPr>
        <p:txBody>
          <a:bodyPr/>
          <a:lstStyle/>
          <a:p>
            <a:endParaRPr lang="en-IN"/>
          </a:p>
        </p:txBody>
      </p:sp>
      <p:sp>
        <p:nvSpPr>
          <p:cNvPr id="13" name="Shape 11"/>
          <p:cNvSpPr/>
          <p:nvPr/>
        </p:nvSpPr>
        <p:spPr>
          <a:xfrm>
            <a:off x="6629400" y="3383280"/>
            <a:ext cx="914400" cy="256032"/>
          </a:xfrm>
          <a:prstGeom prst="roundRect">
            <a:avLst>
              <a:gd name="adj" fmla="val 14286"/>
            </a:avLst>
          </a:prstGeom>
          <a:solidFill>
            <a:srgbClr val="00A896"/>
          </a:solidFill>
          <a:ln/>
        </p:spPr>
        <p:txBody>
          <a:bodyPr/>
          <a:lstStyle/>
          <a:p>
            <a:endParaRPr lang="en-IN"/>
          </a:p>
        </p:txBody>
      </p:sp>
      <p:sp>
        <p:nvSpPr>
          <p:cNvPr id="14" name="Text 12"/>
          <p:cNvSpPr txBox="1"/>
          <p:nvPr/>
        </p:nvSpPr>
        <p:spPr>
          <a:xfrm>
            <a:off x="9464040" y="3328416"/>
            <a:ext cx="822960" cy="365760"/>
          </a:xfrm>
          <a:prstGeom prst="rect">
            <a:avLst/>
          </a:prstGeom>
          <a:noFill/>
          <a:ln/>
        </p:spPr>
        <p:txBody>
          <a:bodyPr wrap="square" lIns="0" tIns="0" rIns="0" bIns="0" rtlCol="0" anchor="ctr"/>
          <a:lstStyle/>
          <a:p>
            <a:pPr marL="0" indent="0">
              <a:buNone/>
            </a:pPr>
            <a:r>
              <a:rPr lang="en-US" sz="1200" b="1" dirty="0">
                <a:solidFill>
                  <a:srgbClr val="0A2A43"/>
                </a:solidFill>
                <a:latin typeface="Calibri" pitchFamily="34" charset="0"/>
                <a:ea typeface="Calibri" pitchFamily="34" charset="-122"/>
                <a:cs typeface="Calibri" pitchFamily="34" charset="-120"/>
              </a:rPr>
              <a:t>5 yrs</a:t>
            </a:r>
            <a:endParaRPr lang="en-US" sz="1200" dirty="0"/>
          </a:p>
        </p:txBody>
      </p:sp>
      <p:sp>
        <p:nvSpPr>
          <p:cNvPr id="15" name="Text 13"/>
          <p:cNvSpPr txBox="1"/>
          <p:nvPr/>
        </p:nvSpPr>
        <p:spPr>
          <a:xfrm>
            <a:off x="6629400" y="3785616"/>
            <a:ext cx="1737360" cy="320040"/>
          </a:xfrm>
          <a:prstGeom prst="rect">
            <a:avLst/>
          </a:prstGeom>
          <a:noFill/>
          <a:ln/>
        </p:spPr>
        <p:txBody>
          <a:bodyPr wrap="square" lIns="0" tIns="0" rIns="0" bIns="0" rtlCol="0" anchor="ctr"/>
          <a:lstStyle/>
          <a:p>
            <a:pPr marL="0" indent="0">
              <a:buNone/>
            </a:pPr>
            <a:r>
              <a:rPr lang="en-US" sz="1200" b="1" dirty="0">
                <a:solidFill>
                  <a:srgbClr val="1C1C1C"/>
                </a:solidFill>
                <a:latin typeface="Calibri" pitchFamily="34" charset="0"/>
                <a:ea typeface="Calibri" pitchFamily="34" charset="-122"/>
                <a:cs typeface="Calibri" pitchFamily="34" charset="-120"/>
              </a:rPr>
              <a:t>Tax-saving FD</a:t>
            </a:r>
            <a:endParaRPr lang="en-US" sz="1200" dirty="0"/>
          </a:p>
        </p:txBody>
      </p:sp>
      <p:sp>
        <p:nvSpPr>
          <p:cNvPr id="16" name="Shape 14"/>
          <p:cNvSpPr/>
          <p:nvPr/>
        </p:nvSpPr>
        <p:spPr>
          <a:xfrm>
            <a:off x="6629400" y="4133088"/>
            <a:ext cx="2743200" cy="256032"/>
          </a:xfrm>
          <a:prstGeom prst="roundRect">
            <a:avLst>
              <a:gd name="adj" fmla="val 14286"/>
            </a:avLst>
          </a:prstGeom>
          <a:solidFill>
            <a:srgbClr val="E3E9EA"/>
          </a:solidFill>
          <a:ln/>
        </p:spPr>
        <p:txBody>
          <a:bodyPr/>
          <a:lstStyle/>
          <a:p>
            <a:endParaRPr lang="en-IN"/>
          </a:p>
        </p:txBody>
      </p:sp>
      <p:sp>
        <p:nvSpPr>
          <p:cNvPr id="17" name="Shape 15"/>
          <p:cNvSpPr/>
          <p:nvPr/>
        </p:nvSpPr>
        <p:spPr>
          <a:xfrm>
            <a:off x="6629400" y="4133088"/>
            <a:ext cx="914400" cy="256032"/>
          </a:xfrm>
          <a:prstGeom prst="roundRect">
            <a:avLst>
              <a:gd name="adj" fmla="val 14286"/>
            </a:avLst>
          </a:prstGeom>
          <a:solidFill>
            <a:srgbClr val="1C7293"/>
          </a:solidFill>
          <a:ln/>
        </p:spPr>
        <p:txBody>
          <a:bodyPr/>
          <a:lstStyle/>
          <a:p>
            <a:endParaRPr lang="en-IN"/>
          </a:p>
        </p:txBody>
      </p:sp>
      <p:sp>
        <p:nvSpPr>
          <p:cNvPr id="18" name="Text 16"/>
          <p:cNvSpPr txBox="1"/>
          <p:nvPr/>
        </p:nvSpPr>
        <p:spPr>
          <a:xfrm>
            <a:off x="9464040" y="4078224"/>
            <a:ext cx="822960" cy="365760"/>
          </a:xfrm>
          <a:prstGeom prst="rect">
            <a:avLst/>
          </a:prstGeom>
          <a:noFill/>
          <a:ln/>
        </p:spPr>
        <p:txBody>
          <a:bodyPr wrap="square" lIns="0" tIns="0" rIns="0" bIns="0" rtlCol="0" anchor="ctr"/>
          <a:lstStyle/>
          <a:p>
            <a:pPr marL="0" indent="0">
              <a:buNone/>
            </a:pPr>
            <a:r>
              <a:rPr lang="en-US" sz="1200" b="1" dirty="0">
                <a:solidFill>
                  <a:srgbClr val="0A2A43"/>
                </a:solidFill>
                <a:latin typeface="Calibri" pitchFamily="34" charset="0"/>
                <a:ea typeface="Calibri" pitchFamily="34" charset="-122"/>
                <a:cs typeface="Calibri" pitchFamily="34" charset="-120"/>
              </a:rPr>
              <a:t>5 yrs</a:t>
            </a:r>
            <a:endParaRPr lang="en-US" sz="1200" dirty="0"/>
          </a:p>
        </p:txBody>
      </p:sp>
      <p:sp>
        <p:nvSpPr>
          <p:cNvPr id="19" name="Text 17"/>
          <p:cNvSpPr txBox="1"/>
          <p:nvPr/>
        </p:nvSpPr>
        <p:spPr>
          <a:xfrm>
            <a:off x="6629400" y="4535424"/>
            <a:ext cx="1737360" cy="320040"/>
          </a:xfrm>
          <a:prstGeom prst="rect">
            <a:avLst/>
          </a:prstGeom>
          <a:noFill/>
          <a:ln/>
        </p:spPr>
        <p:txBody>
          <a:bodyPr wrap="square" lIns="0" tIns="0" rIns="0" bIns="0" rtlCol="0" anchor="ctr"/>
          <a:lstStyle/>
          <a:p>
            <a:pPr marL="0" indent="0">
              <a:buNone/>
            </a:pPr>
            <a:r>
              <a:rPr lang="en-US" sz="1200" b="1" dirty="0">
                <a:solidFill>
                  <a:srgbClr val="1C1C1C"/>
                </a:solidFill>
                <a:latin typeface="Calibri" pitchFamily="34" charset="0"/>
                <a:ea typeface="Calibri" pitchFamily="34" charset="-122"/>
                <a:cs typeface="Calibri" pitchFamily="34" charset="-120"/>
              </a:rPr>
              <a:t>ELSS</a:t>
            </a:r>
            <a:endParaRPr lang="en-US" sz="1200" dirty="0"/>
          </a:p>
        </p:txBody>
      </p:sp>
      <p:sp>
        <p:nvSpPr>
          <p:cNvPr id="20" name="Shape 18"/>
          <p:cNvSpPr/>
          <p:nvPr/>
        </p:nvSpPr>
        <p:spPr>
          <a:xfrm>
            <a:off x="6629400" y="4882896"/>
            <a:ext cx="2743200" cy="256032"/>
          </a:xfrm>
          <a:prstGeom prst="roundRect">
            <a:avLst>
              <a:gd name="adj" fmla="val 14286"/>
            </a:avLst>
          </a:prstGeom>
          <a:solidFill>
            <a:srgbClr val="E3E9EA"/>
          </a:solidFill>
          <a:ln/>
        </p:spPr>
        <p:txBody>
          <a:bodyPr/>
          <a:lstStyle/>
          <a:p>
            <a:endParaRPr lang="en-IN"/>
          </a:p>
        </p:txBody>
      </p:sp>
      <p:sp>
        <p:nvSpPr>
          <p:cNvPr id="21" name="Shape 19"/>
          <p:cNvSpPr/>
          <p:nvPr/>
        </p:nvSpPr>
        <p:spPr>
          <a:xfrm>
            <a:off x="6629400" y="4882896"/>
            <a:ext cx="548640" cy="256032"/>
          </a:xfrm>
          <a:prstGeom prst="roundRect">
            <a:avLst>
              <a:gd name="adj" fmla="val 14286"/>
            </a:avLst>
          </a:prstGeom>
          <a:solidFill>
            <a:srgbClr val="F4A300"/>
          </a:solidFill>
          <a:ln/>
        </p:spPr>
        <p:txBody>
          <a:bodyPr/>
          <a:lstStyle/>
          <a:p>
            <a:endParaRPr lang="en-IN"/>
          </a:p>
        </p:txBody>
      </p:sp>
      <p:sp>
        <p:nvSpPr>
          <p:cNvPr id="22" name="Text 20"/>
          <p:cNvSpPr txBox="1"/>
          <p:nvPr/>
        </p:nvSpPr>
        <p:spPr>
          <a:xfrm>
            <a:off x="9464040" y="4828032"/>
            <a:ext cx="822960" cy="365760"/>
          </a:xfrm>
          <a:prstGeom prst="rect">
            <a:avLst/>
          </a:prstGeom>
          <a:noFill/>
          <a:ln/>
        </p:spPr>
        <p:txBody>
          <a:bodyPr wrap="square" lIns="0" tIns="0" rIns="0" bIns="0" rtlCol="0" anchor="ctr"/>
          <a:lstStyle/>
          <a:p>
            <a:pPr marL="0" indent="0">
              <a:buNone/>
            </a:pPr>
            <a:r>
              <a:rPr lang="en-US" sz="1200" b="1" dirty="0">
                <a:solidFill>
                  <a:srgbClr val="0A2A43"/>
                </a:solidFill>
                <a:latin typeface="Calibri" pitchFamily="34" charset="0"/>
                <a:ea typeface="Calibri" pitchFamily="34" charset="-122"/>
                <a:cs typeface="Calibri" pitchFamily="34" charset="-120"/>
              </a:rPr>
              <a:t>3 yrs</a:t>
            </a:r>
            <a:endParaRPr lang="en-US" sz="1200" dirty="0"/>
          </a:p>
        </p:txBody>
      </p:sp>
      <p:sp>
        <p:nvSpPr>
          <p:cNvPr id="23" name="Shape 21"/>
          <p:cNvSpPr/>
          <p:nvPr/>
        </p:nvSpPr>
        <p:spPr>
          <a:xfrm>
            <a:off x="548640" y="5486400"/>
            <a:ext cx="11109960" cy="777240"/>
          </a:xfrm>
          <a:prstGeom prst="roundRect">
            <a:avLst>
              <a:gd name="adj" fmla="val 9412"/>
            </a:avLst>
          </a:prstGeom>
          <a:solidFill>
            <a:srgbClr val="0A2A43"/>
          </a:solidFill>
          <a:ln/>
          <a:effectLst>
            <a:outerShdw blurRad="76200" dist="25400" dir="5400000" algn="bl" rotWithShape="0">
              <a:srgbClr val="1B1B1B">
                <a:alpha val="12000"/>
              </a:srgbClr>
            </a:outerShdw>
          </a:effectLst>
        </p:spPr>
        <p:txBody>
          <a:bodyPr/>
          <a:lstStyle/>
          <a:p>
            <a:endParaRPr lang="en-IN"/>
          </a:p>
        </p:txBody>
      </p:sp>
      <p:sp>
        <p:nvSpPr>
          <p:cNvPr id="24" name="Text 22"/>
          <p:cNvSpPr txBox="1"/>
          <p:nvPr/>
        </p:nvSpPr>
        <p:spPr>
          <a:xfrm>
            <a:off x="868680" y="5486400"/>
            <a:ext cx="10515600" cy="777240"/>
          </a:xfrm>
          <a:prstGeom prst="rect">
            <a:avLst/>
          </a:prstGeom>
          <a:noFill/>
          <a:ln/>
        </p:spPr>
        <p:txBody>
          <a:bodyPr wrap="square" lIns="0" tIns="0" rIns="0" bIns="0" rtlCol="0" anchor="ctr"/>
          <a:lstStyle/>
          <a:p>
            <a:pPr marL="0" indent="0">
              <a:lnSpc>
                <a:spcPct val="115000"/>
              </a:lnSpc>
              <a:buNone/>
            </a:pPr>
            <a:r>
              <a:rPr lang="en-US" sz="1250" b="1" dirty="0">
                <a:solidFill>
                  <a:srgbClr val="F4A300"/>
                </a:solidFill>
                <a:latin typeface="Calibri" pitchFamily="34" charset="0"/>
                <a:ea typeface="Calibri" pitchFamily="34" charset="-122"/>
                <a:cs typeface="Calibri" pitchFamily="34" charset="-120"/>
              </a:rPr>
              <a:t>ELSS is often the easiest 80C entry point for equity-first investors — but “locked for 3 years” still means locked; don’t put money you’ll need sooner into it.</a:t>
            </a:r>
            <a:endParaRPr lang="en-US" sz="1250" dirty="0"/>
          </a:p>
        </p:txBody>
      </p:sp>
      <p:sp>
        <p:nvSpPr>
          <p:cNvPr id="25" name="Text 23"/>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900" dirty="0">
                <a:solidFill>
                  <a:srgbClr val="8A97A0"/>
                </a:solidFill>
                <a:latin typeface="Calibri" pitchFamily="34" charset="0"/>
                <a:ea typeface="Calibri" pitchFamily="34" charset="-122"/>
                <a:cs typeface="Calibri" pitchFamily="34" charset="-120"/>
              </a:rPr>
              <a:t>Mutual Funds: What My Investing Journey Taught Me</a:t>
            </a:r>
            <a:endParaRPr lang="en-US" sz="900" dirty="0"/>
          </a:p>
        </p:txBody>
      </p:sp>
      <p:sp>
        <p:nvSpPr>
          <p:cNvPr id="26" name="Text 24"/>
          <p:cNvSpPr txBox="1"/>
          <p:nvPr/>
        </p:nvSpPr>
        <p:spPr>
          <a:xfrm>
            <a:off x="11000232" y="6473952"/>
            <a:ext cx="731520" cy="274320"/>
          </a:xfrm>
          <a:prstGeom prst="rect">
            <a:avLst/>
          </a:prstGeom>
          <a:noFill/>
          <a:ln/>
        </p:spPr>
        <p:txBody>
          <a:bodyPr wrap="square" lIns="0" tIns="0" rIns="0" bIns="0" rtlCol="0" anchor="ctr"/>
          <a:lstStyle/>
          <a:p>
            <a:pPr marL="0" indent="0" algn="r">
              <a:buNone/>
            </a:pPr>
            <a:r>
              <a:rPr lang="en-US" sz="900" dirty="0">
                <a:solidFill>
                  <a:srgbClr val="8A97A0"/>
                </a:solidFill>
                <a:latin typeface="Calibri" pitchFamily="34" charset="0"/>
                <a:ea typeface="Calibri" pitchFamily="34" charset="-122"/>
                <a:cs typeface="Calibri" pitchFamily="34" charset="-120"/>
              </a:rPr>
              <a:t>8 / 31</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2A43"/>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300" b="1" kern="0" spc="200" dirty="0">
                <a:solidFill>
                  <a:srgbClr val="6FE7DD"/>
                </a:solidFill>
                <a:latin typeface="Calibri" pitchFamily="34" charset="0"/>
                <a:ea typeface="Calibri" pitchFamily="34" charset="-122"/>
                <a:cs typeface="Calibri" pitchFamily="34" charset="-120"/>
              </a:rPr>
              <a:t>SUITABILITY</a:t>
            </a:r>
            <a:endParaRPr lang="en-US" sz="1300" dirty="0"/>
          </a:p>
        </p:txBody>
      </p:sp>
      <p:sp>
        <p:nvSpPr>
          <p:cNvPr id="3" name="Text 1"/>
          <p:cNvSpPr txBox="1"/>
          <p:nvPr/>
        </p:nvSpPr>
        <p:spPr>
          <a:xfrm>
            <a:off x="548640" y="685800"/>
            <a:ext cx="11064240" cy="82296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Start With the Goal, Not the Fund</a:t>
            </a:r>
            <a:endParaRPr lang="en-US" sz="3000" dirty="0"/>
          </a:p>
        </p:txBody>
      </p:sp>
      <p:sp>
        <p:nvSpPr>
          <p:cNvPr id="4" name="Text 2"/>
          <p:cNvSpPr txBox="1"/>
          <p:nvPr/>
        </p:nvSpPr>
        <p:spPr>
          <a:xfrm>
            <a:off x="548640" y="1783080"/>
            <a:ext cx="10515600" cy="365760"/>
          </a:xfrm>
          <a:prstGeom prst="rect">
            <a:avLst/>
          </a:prstGeom>
          <a:noFill/>
          <a:ln/>
        </p:spPr>
        <p:txBody>
          <a:bodyPr wrap="square" lIns="0" tIns="0" rIns="0" bIns="0" rtlCol="0" anchor="ctr"/>
          <a:lstStyle/>
          <a:p>
            <a:pPr marL="0" indent="0">
              <a:buNone/>
            </a:pPr>
            <a:r>
              <a:rPr lang="en-US" sz="1400" i="1" dirty="0">
                <a:solidFill>
                  <a:srgbClr val="C8D6DB"/>
                </a:solidFill>
                <a:latin typeface="Calibri" pitchFamily="34" charset="0"/>
                <a:ea typeface="Calibri" pitchFamily="34" charset="-122"/>
                <a:cs typeface="Calibri" pitchFamily="34" charset="-120"/>
              </a:rPr>
              <a:t>The same fund can be perfectly suitable for one goal — and completely wrong for another.</a:t>
            </a:r>
            <a:endParaRPr lang="en-US" sz="1400" dirty="0"/>
          </a:p>
        </p:txBody>
      </p:sp>
      <p:sp>
        <p:nvSpPr>
          <p:cNvPr id="5" name="Shape 3"/>
          <p:cNvSpPr/>
          <p:nvPr/>
        </p:nvSpPr>
        <p:spPr>
          <a:xfrm>
            <a:off x="548640" y="2240280"/>
            <a:ext cx="11064240" cy="960120"/>
          </a:xfrm>
          <a:prstGeom prst="roundRect">
            <a:avLst>
              <a:gd name="adj" fmla="val 7619"/>
            </a:avLst>
          </a:prstGeom>
          <a:solidFill>
            <a:srgbClr val="0F3A57"/>
          </a:solidFill>
          <a:ln/>
          <a:effectLst>
            <a:outerShdw blurRad="76200" dist="25400" dir="5400000" algn="bl" rotWithShape="0">
              <a:srgbClr val="1B1B1B">
                <a:alpha val="12000"/>
              </a:srgbClr>
            </a:outerShdw>
          </a:effectLst>
        </p:spPr>
        <p:txBody>
          <a:bodyPr/>
          <a:lstStyle/>
          <a:p>
            <a:endParaRPr lang="en-IN"/>
          </a:p>
        </p:txBody>
      </p:sp>
      <p:sp>
        <p:nvSpPr>
          <p:cNvPr id="6" name="Text 4"/>
          <p:cNvSpPr txBox="1"/>
          <p:nvPr/>
        </p:nvSpPr>
        <p:spPr>
          <a:xfrm>
            <a:off x="914400" y="2240280"/>
            <a:ext cx="10332720" cy="960120"/>
          </a:xfrm>
          <a:prstGeom prst="rect">
            <a:avLst/>
          </a:prstGeom>
          <a:noFill/>
          <a:ln/>
        </p:spPr>
        <p:txBody>
          <a:bodyPr wrap="square" lIns="0" tIns="0" rIns="0" bIns="0" rtlCol="0" anchor="ctr"/>
          <a:lstStyle/>
          <a:p>
            <a:pPr marL="0" indent="0">
              <a:lnSpc>
                <a:spcPct val="115000"/>
              </a:lnSpc>
              <a:buNone/>
            </a:pPr>
            <a:r>
              <a:rPr lang="en-US" sz="1800" b="1" dirty="0">
                <a:solidFill>
                  <a:srgbClr val="F4A300"/>
                </a:solidFill>
                <a:latin typeface="Cambria" pitchFamily="34" charset="0"/>
                <a:ea typeface="Cambria" pitchFamily="34" charset="-122"/>
                <a:cs typeface="Cambria" pitchFamily="34" charset="-120"/>
              </a:rPr>
              <a:t>“If I need this money in 18 months, can I really tolerate a 30% equity-market fall?”</a:t>
            </a:r>
            <a:endParaRPr lang="en-US" sz="1800" dirty="0"/>
          </a:p>
        </p:txBody>
      </p:sp>
      <p:sp>
        <p:nvSpPr>
          <p:cNvPr id="7" name="Text 5"/>
          <p:cNvSpPr txBox="1"/>
          <p:nvPr/>
        </p:nvSpPr>
        <p:spPr>
          <a:xfrm>
            <a:off x="548640" y="3429000"/>
            <a:ext cx="9144000" cy="365760"/>
          </a:xfrm>
          <a:prstGeom prst="rect">
            <a:avLst/>
          </a:prstGeom>
          <a:noFill/>
          <a:ln/>
        </p:spPr>
        <p:txBody>
          <a:bodyPr wrap="square" lIns="0" tIns="0" rIns="0" bIns="0" rtlCol="0" anchor="ctr"/>
          <a:lstStyle/>
          <a:p>
            <a:pPr marL="0" indent="0">
              <a:buNone/>
            </a:pPr>
            <a:r>
              <a:rPr lang="en-US" sz="1350" b="1" dirty="0">
                <a:solidFill>
                  <a:srgbClr val="6FE7DD"/>
                </a:solidFill>
                <a:latin typeface="Calibri" pitchFamily="34" charset="0"/>
                <a:ea typeface="Calibri" pitchFamily="34" charset="-122"/>
                <a:cs typeface="Calibri" pitchFamily="34" charset="-120"/>
              </a:rPr>
              <a:t>Real-time examples — goal decides the category:</a:t>
            </a:r>
            <a:endParaRPr lang="en-US" sz="1350" dirty="0"/>
          </a:p>
        </p:txBody>
      </p:sp>
      <p:sp>
        <p:nvSpPr>
          <p:cNvPr id="8" name="Shape 6"/>
          <p:cNvSpPr/>
          <p:nvPr/>
        </p:nvSpPr>
        <p:spPr>
          <a:xfrm>
            <a:off x="548640" y="3840480"/>
            <a:ext cx="3520440" cy="1965960"/>
          </a:xfrm>
          <a:prstGeom prst="roundRect">
            <a:avLst>
              <a:gd name="adj" fmla="val 3721"/>
            </a:avLst>
          </a:prstGeom>
          <a:solidFill>
            <a:srgbClr val="0F3A57"/>
          </a:solidFill>
          <a:ln/>
          <a:effectLst>
            <a:outerShdw blurRad="76200" dist="25400" dir="5400000" algn="bl" rotWithShape="0">
              <a:srgbClr val="1B1B1B">
                <a:alpha val="12000"/>
              </a:srgbClr>
            </a:outerShdw>
          </a:effectLst>
        </p:spPr>
        <p:txBody>
          <a:bodyPr/>
          <a:lstStyle/>
          <a:p>
            <a:endParaRPr lang="en-IN"/>
          </a:p>
        </p:txBody>
      </p:sp>
      <p:sp>
        <p:nvSpPr>
          <p:cNvPr id="9" name="Text 7"/>
          <p:cNvSpPr txBox="1"/>
          <p:nvPr/>
        </p:nvSpPr>
        <p:spPr>
          <a:xfrm>
            <a:off x="731520" y="3977640"/>
            <a:ext cx="640080" cy="502920"/>
          </a:xfrm>
          <a:prstGeom prst="rect">
            <a:avLst/>
          </a:prstGeom>
          <a:noFill/>
          <a:ln/>
        </p:spPr>
        <p:txBody>
          <a:bodyPr wrap="square" lIns="0" tIns="0" rIns="0" bIns="0" rtlCol="0" anchor="ctr"/>
          <a:lstStyle/>
          <a:p>
            <a:pPr marL="0" indent="0">
              <a:buNone/>
            </a:pPr>
            <a:r>
              <a:rPr lang="en-US" sz="2400" dirty="0">
                <a:solidFill>
                  <a:srgbClr val="000000"/>
                </a:solidFill>
              </a:rPr>
              <a:t>🎓</a:t>
            </a:r>
            <a:endParaRPr lang="en-US" sz="2400" dirty="0"/>
          </a:p>
        </p:txBody>
      </p:sp>
      <p:sp>
        <p:nvSpPr>
          <p:cNvPr id="10" name="Text 8"/>
          <p:cNvSpPr txBox="1"/>
          <p:nvPr/>
        </p:nvSpPr>
        <p:spPr>
          <a:xfrm>
            <a:off x="731520" y="4434840"/>
            <a:ext cx="315468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Child’s education</a:t>
            </a:r>
            <a:endParaRPr lang="en-US" sz="1400" dirty="0"/>
          </a:p>
        </p:txBody>
      </p:sp>
      <p:sp>
        <p:nvSpPr>
          <p:cNvPr id="11" name="Text 9"/>
          <p:cNvSpPr txBox="1"/>
          <p:nvPr/>
        </p:nvSpPr>
        <p:spPr>
          <a:xfrm>
            <a:off x="731520" y="4754880"/>
            <a:ext cx="3154680" cy="274320"/>
          </a:xfrm>
          <a:prstGeom prst="rect">
            <a:avLst/>
          </a:prstGeom>
          <a:noFill/>
          <a:ln/>
        </p:spPr>
        <p:txBody>
          <a:bodyPr wrap="square" lIns="0" tIns="0" rIns="0" bIns="0" rtlCol="0" anchor="ctr"/>
          <a:lstStyle/>
          <a:p>
            <a:pPr marL="0" indent="0">
              <a:buNone/>
            </a:pPr>
            <a:r>
              <a:rPr lang="en-US" sz="1100" i="1" dirty="0">
                <a:solidFill>
                  <a:srgbClr val="F4A300"/>
                </a:solidFill>
                <a:latin typeface="Calibri" pitchFamily="34" charset="0"/>
                <a:ea typeface="Calibri" pitchFamily="34" charset="-122"/>
                <a:cs typeface="Calibri" pitchFamily="34" charset="-120"/>
              </a:rPr>
              <a:t>~15 years away</a:t>
            </a:r>
            <a:endParaRPr lang="en-US" sz="1100" dirty="0"/>
          </a:p>
        </p:txBody>
      </p:sp>
      <p:sp>
        <p:nvSpPr>
          <p:cNvPr id="12" name="Text 10"/>
          <p:cNvSpPr txBox="1"/>
          <p:nvPr/>
        </p:nvSpPr>
        <p:spPr>
          <a:xfrm>
            <a:off x="731520" y="5047488"/>
            <a:ext cx="3154680" cy="731520"/>
          </a:xfrm>
          <a:prstGeom prst="rect">
            <a:avLst/>
          </a:prstGeom>
          <a:noFill/>
          <a:ln/>
        </p:spPr>
        <p:txBody>
          <a:bodyPr wrap="square" lIns="0" tIns="0" rIns="0" bIns="0" rtlCol="0" anchor="ctr"/>
          <a:lstStyle/>
          <a:p>
            <a:pPr marL="0" indent="0">
              <a:lnSpc>
                <a:spcPct val="115000"/>
              </a:lnSpc>
              <a:buNone/>
            </a:pPr>
            <a:r>
              <a:rPr lang="en-US" sz="1050" dirty="0">
                <a:solidFill>
                  <a:srgbClr val="C8D6DB"/>
                </a:solidFill>
                <a:latin typeface="Calibri" pitchFamily="34" charset="0"/>
                <a:ea typeface="Calibri" pitchFamily="34" charset="-122"/>
                <a:cs typeface="Calibri" pitchFamily="34" charset="-120"/>
              </a:rPr>
              <a:t>Equity-heavy (Flexi/Multi-cap) — long horizon absorbs volatility, then shift to debt in the last 2–3 years.</a:t>
            </a:r>
            <a:endParaRPr lang="en-US" sz="1050" dirty="0"/>
          </a:p>
        </p:txBody>
      </p:sp>
      <p:sp>
        <p:nvSpPr>
          <p:cNvPr id="13" name="Shape 11"/>
          <p:cNvSpPr/>
          <p:nvPr/>
        </p:nvSpPr>
        <p:spPr>
          <a:xfrm>
            <a:off x="4343400" y="3840480"/>
            <a:ext cx="3520440" cy="1965960"/>
          </a:xfrm>
          <a:prstGeom prst="roundRect">
            <a:avLst>
              <a:gd name="adj" fmla="val 3721"/>
            </a:avLst>
          </a:prstGeom>
          <a:solidFill>
            <a:srgbClr val="0F3A57"/>
          </a:solidFill>
          <a:ln/>
          <a:effectLst>
            <a:outerShdw blurRad="76200" dist="25400" dir="5400000" algn="bl" rotWithShape="0">
              <a:srgbClr val="1B1B1B">
                <a:alpha val="12000"/>
              </a:srgbClr>
            </a:outerShdw>
          </a:effectLst>
        </p:spPr>
        <p:txBody>
          <a:bodyPr/>
          <a:lstStyle/>
          <a:p>
            <a:endParaRPr lang="en-IN"/>
          </a:p>
        </p:txBody>
      </p:sp>
      <p:sp>
        <p:nvSpPr>
          <p:cNvPr id="14" name="Text 12"/>
          <p:cNvSpPr txBox="1"/>
          <p:nvPr/>
        </p:nvSpPr>
        <p:spPr>
          <a:xfrm>
            <a:off x="4526280" y="3977640"/>
            <a:ext cx="640080" cy="502920"/>
          </a:xfrm>
          <a:prstGeom prst="rect">
            <a:avLst/>
          </a:prstGeom>
          <a:noFill/>
          <a:ln/>
        </p:spPr>
        <p:txBody>
          <a:bodyPr wrap="square" lIns="0" tIns="0" rIns="0" bIns="0" rtlCol="0" anchor="ctr"/>
          <a:lstStyle/>
          <a:p>
            <a:pPr marL="0" indent="0">
              <a:buNone/>
            </a:pPr>
            <a:r>
              <a:rPr lang="en-US" sz="2400" dirty="0">
                <a:solidFill>
                  <a:srgbClr val="000000"/>
                </a:solidFill>
              </a:rPr>
              <a:t>🚗</a:t>
            </a:r>
            <a:endParaRPr lang="en-US" sz="2400" dirty="0"/>
          </a:p>
        </p:txBody>
      </p:sp>
      <p:sp>
        <p:nvSpPr>
          <p:cNvPr id="15" name="Text 13"/>
          <p:cNvSpPr txBox="1"/>
          <p:nvPr/>
        </p:nvSpPr>
        <p:spPr>
          <a:xfrm>
            <a:off x="4526280" y="4434840"/>
            <a:ext cx="315468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Car purchase</a:t>
            </a:r>
            <a:endParaRPr lang="en-US" sz="1400" dirty="0"/>
          </a:p>
        </p:txBody>
      </p:sp>
      <p:sp>
        <p:nvSpPr>
          <p:cNvPr id="16" name="Text 14"/>
          <p:cNvSpPr txBox="1"/>
          <p:nvPr/>
        </p:nvSpPr>
        <p:spPr>
          <a:xfrm>
            <a:off x="4526280" y="4754880"/>
            <a:ext cx="3154680" cy="274320"/>
          </a:xfrm>
          <a:prstGeom prst="rect">
            <a:avLst/>
          </a:prstGeom>
          <a:noFill/>
          <a:ln/>
        </p:spPr>
        <p:txBody>
          <a:bodyPr wrap="square" lIns="0" tIns="0" rIns="0" bIns="0" rtlCol="0" anchor="ctr"/>
          <a:lstStyle/>
          <a:p>
            <a:pPr marL="0" indent="0">
              <a:buNone/>
            </a:pPr>
            <a:r>
              <a:rPr lang="en-US" sz="1100" i="1" dirty="0">
                <a:solidFill>
                  <a:srgbClr val="F4A300"/>
                </a:solidFill>
                <a:latin typeface="Calibri" pitchFamily="34" charset="0"/>
                <a:ea typeface="Calibri" pitchFamily="34" charset="-122"/>
                <a:cs typeface="Calibri" pitchFamily="34" charset="-120"/>
              </a:rPr>
              <a:t>~2 years away</a:t>
            </a:r>
            <a:endParaRPr lang="en-US" sz="1100" dirty="0"/>
          </a:p>
        </p:txBody>
      </p:sp>
      <p:sp>
        <p:nvSpPr>
          <p:cNvPr id="17" name="Text 15"/>
          <p:cNvSpPr txBox="1"/>
          <p:nvPr/>
        </p:nvSpPr>
        <p:spPr>
          <a:xfrm>
            <a:off x="4526280" y="5047488"/>
            <a:ext cx="3154680" cy="731520"/>
          </a:xfrm>
          <a:prstGeom prst="rect">
            <a:avLst/>
          </a:prstGeom>
          <a:noFill/>
          <a:ln/>
        </p:spPr>
        <p:txBody>
          <a:bodyPr wrap="square" lIns="0" tIns="0" rIns="0" bIns="0" rtlCol="0" anchor="ctr"/>
          <a:lstStyle/>
          <a:p>
            <a:pPr marL="0" indent="0">
              <a:lnSpc>
                <a:spcPct val="115000"/>
              </a:lnSpc>
              <a:buNone/>
            </a:pPr>
            <a:r>
              <a:rPr lang="en-US" sz="1050" dirty="0">
                <a:solidFill>
                  <a:srgbClr val="C8D6DB"/>
                </a:solidFill>
                <a:latin typeface="Calibri" pitchFamily="34" charset="0"/>
                <a:ea typeface="Calibri" pitchFamily="34" charset="-122"/>
                <a:cs typeface="Calibri" pitchFamily="34" charset="-120"/>
              </a:rPr>
              <a:t>Debt / liquid fund — capital safety and liquidity matter far more than extra return here.</a:t>
            </a:r>
            <a:endParaRPr lang="en-US" sz="1050" dirty="0"/>
          </a:p>
        </p:txBody>
      </p:sp>
      <p:sp>
        <p:nvSpPr>
          <p:cNvPr id="18" name="Shape 16"/>
          <p:cNvSpPr/>
          <p:nvPr/>
        </p:nvSpPr>
        <p:spPr>
          <a:xfrm>
            <a:off x="8138160" y="3840480"/>
            <a:ext cx="3520440" cy="1965960"/>
          </a:xfrm>
          <a:prstGeom prst="roundRect">
            <a:avLst>
              <a:gd name="adj" fmla="val 3721"/>
            </a:avLst>
          </a:prstGeom>
          <a:solidFill>
            <a:srgbClr val="0F3A57"/>
          </a:solidFill>
          <a:ln/>
          <a:effectLst>
            <a:outerShdw blurRad="76200" dist="25400" dir="5400000" algn="bl" rotWithShape="0">
              <a:srgbClr val="1B1B1B">
                <a:alpha val="12000"/>
              </a:srgbClr>
            </a:outerShdw>
          </a:effectLst>
        </p:spPr>
        <p:txBody>
          <a:bodyPr/>
          <a:lstStyle/>
          <a:p>
            <a:endParaRPr lang="en-IN"/>
          </a:p>
        </p:txBody>
      </p:sp>
      <p:sp>
        <p:nvSpPr>
          <p:cNvPr id="19" name="Text 17"/>
          <p:cNvSpPr txBox="1"/>
          <p:nvPr/>
        </p:nvSpPr>
        <p:spPr>
          <a:xfrm>
            <a:off x="8321040" y="3977640"/>
            <a:ext cx="640080" cy="502920"/>
          </a:xfrm>
          <a:prstGeom prst="rect">
            <a:avLst/>
          </a:prstGeom>
          <a:noFill/>
          <a:ln/>
        </p:spPr>
        <p:txBody>
          <a:bodyPr wrap="square" lIns="0" tIns="0" rIns="0" bIns="0" rtlCol="0" anchor="ctr"/>
          <a:lstStyle/>
          <a:p>
            <a:pPr marL="0" indent="0">
              <a:buNone/>
            </a:pPr>
            <a:r>
              <a:rPr lang="en-US" sz="2400" dirty="0">
                <a:solidFill>
                  <a:srgbClr val="000000"/>
                </a:solidFill>
              </a:rPr>
              <a:t>🏖️</a:t>
            </a:r>
            <a:endParaRPr lang="en-US" sz="2400" dirty="0"/>
          </a:p>
        </p:txBody>
      </p:sp>
      <p:sp>
        <p:nvSpPr>
          <p:cNvPr id="20" name="Text 18"/>
          <p:cNvSpPr txBox="1"/>
          <p:nvPr/>
        </p:nvSpPr>
        <p:spPr>
          <a:xfrm>
            <a:off x="8321040" y="4434840"/>
            <a:ext cx="315468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Retirement corpus</a:t>
            </a:r>
            <a:endParaRPr lang="en-US" sz="1400" dirty="0"/>
          </a:p>
        </p:txBody>
      </p:sp>
      <p:sp>
        <p:nvSpPr>
          <p:cNvPr id="21" name="Text 19"/>
          <p:cNvSpPr txBox="1"/>
          <p:nvPr/>
        </p:nvSpPr>
        <p:spPr>
          <a:xfrm>
            <a:off x="8321040" y="4754880"/>
            <a:ext cx="3154680" cy="274320"/>
          </a:xfrm>
          <a:prstGeom prst="rect">
            <a:avLst/>
          </a:prstGeom>
          <a:noFill/>
          <a:ln/>
        </p:spPr>
        <p:txBody>
          <a:bodyPr wrap="square" lIns="0" tIns="0" rIns="0" bIns="0" rtlCol="0" anchor="ctr"/>
          <a:lstStyle/>
          <a:p>
            <a:pPr marL="0" indent="0">
              <a:buNone/>
            </a:pPr>
            <a:r>
              <a:rPr lang="en-US" sz="1100" i="1" dirty="0">
                <a:solidFill>
                  <a:srgbClr val="F4A300"/>
                </a:solidFill>
                <a:latin typeface="Calibri" pitchFamily="34" charset="0"/>
                <a:ea typeface="Calibri" pitchFamily="34" charset="-122"/>
                <a:cs typeface="Calibri" pitchFamily="34" charset="-120"/>
              </a:rPr>
              <a:t>~25 years away</a:t>
            </a:r>
            <a:endParaRPr lang="en-US" sz="1100" dirty="0"/>
          </a:p>
        </p:txBody>
      </p:sp>
      <p:sp>
        <p:nvSpPr>
          <p:cNvPr id="22" name="Text 20"/>
          <p:cNvSpPr txBox="1"/>
          <p:nvPr/>
        </p:nvSpPr>
        <p:spPr>
          <a:xfrm>
            <a:off x="8321040" y="5047488"/>
            <a:ext cx="3154680" cy="731520"/>
          </a:xfrm>
          <a:prstGeom prst="rect">
            <a:avLst/>
          </a:prstGeom>
          <a:noFill/>
          <a:ln/>
        </p:spPr>
        <p:txBody>
          <a:bodyPr wrap="square" lIns="0" tIns="0" rIns="0" bIns="0" rtlCol="0" anchor="ctr"/>
          <a:lstStyle/>
          <a:p>
            <a:pPr marL="0" indent="0">
              <a:lnSpc>
                <a:spcPct val="115000"/>
              </a:lnSpc>
              <a:buNone/>
            </a:pPr>
            <a:r>
              <a:rPr lang="en-US" sz="1050" dirty="0">
                <a:solidFill>
                  <a:srgbClr val="C8D6DB"/>
                </a:solidFill>
                <a:latin typeface="Calibri" pitchFamily="34" charset="0"/>
                <a:ea typeface="Calibri" pitchFamily="34" charset="-122"/>
                <a:cs typeface="Calibri" pitchFamily="34" charset="-120"/>
              </a:rPr>
              <a:t>Equity-heavy to start, gradually shifting to debt/hybrid as retirement approaches (“glide path”).</a:t>
            </a:r>
            <a:endParaRPr lang="en-US" sz="1050" dirty="0"/>
          </a:p>
        </p:txBody>
      </p:sp>
      <p:sp>
        <p:nvSpPr>
          <p:cNvPr id="23" name="Text 21"/>
          <p:cNvSpPr txBox="1"/>
          <p:nvPr/>
        </p:nvSpPr>
        <p:spPr>
          <a:xfrm>
            <a:off x="548640" y="5989320"/>
            <a:ext cx="10972800" cy="457200"/>
          </a:xfrm>
          <a:prstGeom prst="rect">
            <a:avLst/>
          </a:prstGeom>
          <a:noFill/>
          <a:ln/>
        </p:spPr>
        <p:txBody>
          <a:bodyPr wrap="square" lIns="0" tIns="0" rIns="0" bIns="0" rtlCol="0" anchor="ctr"/>
          <a:lstStyle/>
          <a:p>
            <a:pPr marL="0" indent="0">
              <a:buNone/>
            </a:pPr>
            <a:r>
              <a:rPr lang="en-US" sz="1250" i="1" dirty="0">
                <a:solidFill>
                  <a:srgbClr val="E4EEF0"/>
                </a:solidFill>
                <a:latin typeface="Calibri" pitchFamily="34" charset="0"/>
                <a:ea typeface="Calibri" pitchFamily="34" charset="-122"/>
                <a:cs typeface="Calibri" pitchFamily="34" charset="-120"/>
              </a:rPr>
              <a:t>This one question naturally introduces time horizon and risk capacity — the two filters that should come before fund selection.</a:t>
            </a:r>
            <a:endParaRPr lang="en-US" sz="1250" dirty="0"/>
          </a:p>
        </p:txBody>
      </p:sp>
      <p:sp>
        <p:nvSpPr>
          <p:cNvPr id="24" name="Text 22"/>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900" dirty="0">
                <a:solidFill>
                  <a:srgbClr val="8A97A0"/>
                </a:solidFill>
                <a:latin typeface="Calibri" pitchFamily="34" charset="0"/>
                <a:ea typeface="Calibri" pitchFamily="34" charset="-122"/>
                <a:cs typeface="Calibri" pitchFamily="34" charset="-120"/>
              </a:rPr>
              <a:t>Mutual Funds: What My Investing Journey Taught Me</a:t>
            </a:r>
            <a:endParaRPr lang="en-US" sz="900" dirty="0"/>
          </a:p>
        </p:txBody>
      </p:sp>
      <p:sp>
        <p:nvSpPr>
          <p:cNvPr id="25" name="Text 23"/>
          <p:cNvSpPr txBox="1"/>
          <p:nvPr/>
        </p:nvSpPr>
        <p:spPr>
          <a:xfrm>
            <a:off x="11000232" y="6473952"/>
            <a:ext cx="731520" cy="274320"/>
          </a:xfrm>
          <a:prstGeom prst="rect">
            <a:avLst/>
          </a:prstGeom>
          <a:noFill/>
          <a:ln/>
        </p:spPr>
        <p:txBody>
          <a:bodyPr wrap="square" lIns="0" tIns="0" rIns="0" bIns="0" rtlCol="0" anchor="ctr"/>
          <a:lstStyle/>
          <a:p>
            <a:pPr marL="0" indent="0" algn="r">
              <a:buNone/>
            </a:pPr>
            <a:r>
              <a:rPr lang="en-US" sz="900" dirty="0">
                <a:solidFill>
                  <a:srgbClr val="8A97A0"/>
                </a:solidFill>
                <a:latin typeface="Calibri" pitchFamily="34" charset="0"/>
                <a:ea typeface="Calibri" pitchFamily="34" charset="-122"/>
                <a:cs typeface="Calibri" pitchFamily="34" charset="-120"/>
              </a:rPr>
              <a:t>9 / 31</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READINESS CHECK</a:t>
            </a:r>
            <a:endParaRPr lang="en-US" sz="1300" dirty="0"/>
          </a:p>
        </p:txBody>
      </p:sp>
      <p:sp>
        <p:nvSpPr>
          <p:cNvPr id="3" name="Text 1"/>
          <p:cNvSpPr txBox="1"/>
          <p:nvPr/>
        </p:nvSpPr>
        <p:spPr>
          <a:xfrm>
            <a:off x="548640" y="685800"/>
            <a:ext cx="11064240" cy="822960"/>
          </a:xfrm>
          <a:prstGeom prst="rect">
            <a:avLst/>
          </a:prstGeom>
          <a:noFill/>
          <a:ln/>
        </p:spPr>
        <p:txBody>
          <a:bodyPr wrap="square" lIns="0" tIns="0" rIns="0" bIns="0" rtlCol="0" anchor="ctr"/>
          <a:lstStyle/>
          <a:p>
            <a:pPr marL="0" indent="0">
              <a:buNone/>
            </a:pPr>
            <a:r>
              <a:rPr lang="en-US" sz="3000" b="1" dirty="0">
                <a:solidFill>
                  <a:srgbClr val="0A2A43"/>
                </a:solidFill>
                <a:latin typeface="Cambria" pitchFamily="34" charset="0"/>
                <a:ea typeface="Cambria" pitchFamily="34" charset="-122"/>
                <a:cs typeface="Cambria" pitchFamily="34" charset="-120"/>
              </a:rPr>
              <a:t>Before You Invest a Rupee: Two Checks</a:t>
            </a:r>
            <a:endParaRPr lang="en-US" sz="3000" dirty="0"/>
          </a:p>
        </p:txBody>
      </p:sp>
      <p:sp>
        <p:nvSpPr>
          <p:cNvPr id="4" name="Shape 2"/>
          <p:cNvSpPr/>
          <p:nvPr/>
        </p:nvSpPr>
        <p:spPr>
          <a:xfrm>
            <a:off x="548640" y="1737360"/>
            <a:ext cx="5349240" cy="3794760"/>
          </a:xfrm>
          <a:prstGeom prst="roundRect">
            <a:avLst>
              <a:gd name="adj" fmla="val 1928"/>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5" name="Shape 3"/>
          <p:cNvSpPr/>
          <p:nvPr/>
        </p:nvSpPr>
        <p:spPr>
          <a:xfrm>
            <a:off x="868680" y="1920240"/>
            <a:ext cx="502920" cy="502920"/>
          </a:xfrm>
          <a:prstGeom prst="ellipse">
            <a:avLst/>
          </a:prstGeom>
          <a:solidFill>
            <a:srgbClr val="028090"/>
          </a:solidFill>
          <a:ln/>
        </p:spPr>
        <p:txBody>
          <a:bodyPr/>
          <a:lstStyle/>
          <a:p>
            <a:endParaRPr lang="en-IN"/>
          </a:p>
        </p:txBody>
      </p:sp>
      <p:sp>
        <p:nvSpPr>
          <p:cNvPr id="6" name="Text 4"/>
          <p:cNvSpPr txBox="1"/>
          <p:nvPr/>
        </p:nvSpPr>
        <p:spPr>
          <a:xfrm>
            <a:off x="822960" y="1920240"/>
            <a:ext cx="59436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7" name="Text 5"/>
          <p:cNvSpPr txBox="1"/>
          <p:nvPr/>
        </p:nvSpPr>
        <p:spPr>
          <a:xfrm>
            <a:off x="1508760" y="1920240"/>
            <a:ext cx="4297680" cy="502920"/>
          </a:xfrm>
          <a:prstGeom prst="rect">
            <a:avLst/>
          </a:prstGeom>
          <a:noFill/>
          <a:ln/>
        </p:spPr>
        <p:txBody>
          <a:bodyPr wrap="square" lIns="0" tIns="0" rIns="0" bIns="0" rtlCol="0" anchor="ctr"/>
          <a:lstStyle/>
          <a:p>
            <a:pPr marL="0" indent="0">
              <a:buNone/>
            </a:pPr>
            <a:r>
              <a:rPr lang="en-US" sz="1500" b="1" dirty="0">
                <a:solidFill>
                  <a:srgbClr val="0A2A43"/>
                </a:solidFill>
                <a:latin typeface="Calibri" pitchFamily="34" charset="0"/>
                <a:ea typeface="Calibri" pitchFamily="34" charset="-122"/>
                <a:cs typeface="Calibri" pitchFamily="34" charset="-120"/>
              </a:rPr>
              <a:t>1. Build the Emergency Fund First</a:t>
            </a:r>
            <a:endParaRPr lang="en-US" sz="1500" dirty="0"/>
          </a:p>
        </p:txBody>
      </p:sp>
      <p:sp>
        <p:nvSpPr>
          <p:cNvPr id="8" name="Text 6"/>
          <p:cNvSpPr txBox="1"/>
          <p:nvPr/>
        </p:nvSpPr>
        <p:spPr>
          <a:xfrm>
            <a:off x="868680" y="2560320"/>
            <a:ext cx="4754880" cy="4114800"/>
          </a:xfrm>
          <a:prstGeom prst="rect">
            <a:avLst/>
          </a:prstGeom>
          <a:noFill/>
          <a:ln/>
        </p:spPr>
        <p:txBody>
          <a:bodyPr wrap="square" lIns="0" tIns="0" rIns="0" bIns="0" rtlCol="0" anchor="t"/>
          <a:lstStyle/>
          <a:p>
            <a:pPr marL="228600" indent="-228600">
              <a:lnSpc>
                <a:spcPct val="108000"/>
              </a:lnSpc>
              <a:spcAft>
                <a:spcPts val="1000"/>
              </a:spcAft>
              <a:buSzPct val="100000"/>
              <a:buChar char="•"/>
            </a:pPr>
            <a:r>
              <a:rPr lang="en-US" sz="1250" dirty="0">
                <a:solidFill>
                  <a:srgbClr val="1C1C1C"/>
                </a:solidFill>
                <a:latin typeface="Calibri" pitchFamily="34" charset="0"/>
                <a:ea typeface="Calibri" pitchFamily="34" charset="-122"/>
                <a:cs typeface="Calibri" pitchFamily="34" charset="-120"/>
              </a:rPr>
              <a:t>3–6 months of essential expenses, parked in a savings account, liquid fund or FD — not equity.</a:t>
            </a:r>
            <a:endParaRPr lang="en-US" sz="1250" dirty="0"/>
          </a:p>
          <a:p>
            <a:pPr marL="228600" indent="-228600">
              <a:lnSpc>
                <a:spcPct val="108000"/>
              </a:lnSpc>
              <a:spcAft>
                <a:spcPts val="1000"/>
              </a:spcAft>
              <a:buSzPct val="100000"/>
              <a:buChar char="•"/>
            </a:pPr>
            <a:r>
              <a:rPr lang="en-US" sz="1250" dirty="0">
                <a:solidFill>
                  <a:srgbClr val="1C1C1C"/>
                </a:solidFill>
                <a:latin typeface="Calibri" pitchFamily="34" charset="0"/>
                <a:ea typeface="Calibri" pitchFamily="34" charset="-122"/>
                <a:cs typeface="Calibri" pitchFamily="34" charset="-120"/>
              </a:rPr>
              <a:t>This is what stops a job loss or medical emergency from forcing you to redeem equity SIPs at the worst possible time.</a:t>
            </a:r>
            <a:endParaRPr lang="en-US" sz="1250" dirty="0"/>
          </a:p>
          <a:p>
            <a:pPr marL="228600" indent="-228600">
              <a:lnSpc>
                <a:spcPct val="108000"/>
              </a:lnSpc>
              <a:spcAft>
                <a:spcPts val="1000"/>
              </a:spcAft>
              <a:buSzPct val="100000"/>
              <a:buChar char="•"/>
            </a:pPr>
            <a:r>
              <a:rPr lang="en-US" sz="1250" dirty="0">
                <a:solidFill>
                  <a:srgbClr val="1C1C1C"/>
                </a:solidFill>
                <a:latin typeface="Calibri" pitchFamily="34" charset="0"/>
                <a:ea typeface="Calibri" pitchFamily="34" charset="-122"/>
                <a:cs typeface="Calibri" pitchFamily="34" charset="-120"/>
              </a:rPr>
              <a:t>Build this before — or alongside — your first SIP, not after.</a:t>
            </a:r>
            <a:endParaRPr lang="en-US" sz="1250" dirty="0"/>
          </a:p>
        </p:txBody>
      </p:sp>
      <p:sp>
        <p:nvSpPr>
          <p:cNvPr id="9" name="Shape 7"/>
          <p:cNvSpPr/>
          <p:nvPr/>
        </p:nvSpPr>
        <p:spPr>
          <a:xfrm>
            <a:off x="6126480" y="1737360"/>
            <a:ext cx="5532120" cy="3794760"/>
          </a:xfrm>
          <a:prstGeom prst="roundRect">
            <a:avLst>
              <a:gd name="adj" fmla="val 1928"/>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10" name="Shape 8"/>
          <p:cNvSpPr/>
          <p:nvPr/>
        </p:nvSpPr>
        <p:spPr>
          <a:xfrm>
            <a:off x="6446520" y="1920240"/>
            <a:ext cx="502920" cy="502920"/>
          </a:xfrm>
          <a:prstGeom prst="ellipse">
            <a:avLst/>
          </a:prstGeom>
          <a:solidFill>
            <a:srgbClr val="00A896"/>
          </a:solidFill>
          <a:ln/>
        </p:spPr>
        <p:txBody>
          <a:bodyPr/>
          <a:lstStyle/>
          <a:p>
            <a:endParaRPr lang="en-IN"/>
          </a:p>
        </p:txBody>
      </p:sp>
      <p:sp>
        <p:nvSpPr>
          <p:cNvPr id="11" name="Text 9"/>
          <p:cNvSpPr txBox="1"/>
          <p:nvPr/>
        </p:nvSpPr>
        <p:spPr>
          <a:xfrm>
            <a:off x="6400800" y="1920240"/>
            <a:ext cx="59436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2" name="Text 10"/>
          <p:cNvSpPr txBox="1"/>
          <p:nvPr/>
        </p:nvSpPr>
        <p:spPr>
          <a:xfrm>
            <a:off x="7086600" y="1920240"/>
            <a:ext cx="4389120" cy="502920"/>
          </a:xfrm>
          <a:prstGeom prst="rect">
            <a:avLst/>
          </a:prstGeom>
          <a:noFill/>
          <a:ln/>
        </p:spPr>
        <p:txBody>
          <a:bodyPr wrap="square" lIns="0" tIns="0" rIns="0" bIns="0" rtlCol="0" anchor="ctr"/>
          <a:lstStyle/>
          <a:p>
            <a:pPr marL="0" indent="0">
              <a:buNone/>
            </a:pPr>
            <a:r>
              <a:rPr lang="en-US" sz="1500" b="1" dirty="0">
                <a:solidFill>
                  <a:srgbClr val="0A2A43"/>
                </a:solidFill>
                <a:latin typeface="Calibri" pitchFamily="34" charset="0"/>
                <a:ea typeface="Calibri" pitchFamily="34" charset="-122"/>
                <a:cs typeface="Calibri" pitchFamily="34" charset="-120"/>
              </a:rPr>
              <a:t>2. Know Your Real Risk Profile</a:t>
            </a:r>
            <a:endParaRPr lang="en-US" sz="1500" dirty="0"/>
          </a:p>
        </p:txBody>
      </p:sp>
      <p:sp>
        <p:nvSpPr>
          <p:cNvPr id="13" name="Text 11"/>
          <p:cNvSpPr txBox="1"/>
          <p:nvPr/>
        </p:nvSpPr>
        <p:spPr>
          <a:xfrm>
            <a:off x="6446520" y="2606040"/>
            <a:ext cx="5029200" cy="594360"/>
          </a:xfrm>
          <a:prstGeom prst="rect">
            <a:avLst/>
          </a:prstGeom>
          <a:noFill/>
          <a:ln/>
        </p:spPr>
        <p:txBody>
          <a:bodyPr wrap="square" lIns="0" tIns="0" rIns="0" bIns="0" rtlCol="0" anchor="ctr"/>
          <a:lstStyle/>
          <a:p>
            <a:pPr marL="0" indent="0">
              <a:lnSpc>
                <a:spcPct val="115000"/>
              </a:lnSpc>
              <a:buNone/>
            </a:pPr>
            <a:r>
              <a:rPr lang="en-US" sz="1500" b="1" i="1" dirty="0">
                <a:solidFill>
                  <a:srgbClr val="028090"/>
                </a:solidFill>
                <a:latin typeface="Cambria" pitchFamily="34" charset="0"/>
                <a:ea typeface="Cambria" pitchFamily="34" charset="-122"/>
                <a:cs typeface="Cambria" pitchFamily="34" charset="-120"/>
              </a:rPr>
              <a:t>“If my portfolio fell 20% next month, would I sell, hold, or buy more?”</a:t>
            </a:r>
            <a:endParaRPr lang="en-US" sz="1500" dirty="0"/>
          </a:p>
        </p:txBody>
      </p:sp>
      <p:sp>
        <p:nvSpPr>
          <p:cNvPr id="14" name="Text 12"/>
          <p:cNvSpPr txBox="1"/>
          <p:nvPr/>
        </p:nvSpPr>
        <p:spPr>
          <a:xfrm>
            <a:off x="6446520" y="3291840"/>
            <a:ext cx="4937760" cy="4114800"/>
          </a:xfrm>
          <a:prstGeom prst="rect">
            <a:avLst/>
          </a:prstGeom>
          <a:noFill/>
          <a:ln/>
        </p:spPr>
        <p:txBody>
          <a:bodyPr wrap="square" lIns="0" tIns="0" rIns="0" bIns="0" rtlCol="0" anchor="t"/>
          <a:lstStyle/>
          <a:p>
            <a:pPr marL="228600" indent="-228600">
              <a:lnSpc>
                <a:spcPct val="108000"/>
              </a:lnSpc>
              <a:spcAft>
                <a:spcPts val="800"/>
              </a:spcAft>
              <a:buSzPct val="100000"/>
              <a:buChar char="•"/>
            </a:pPr>
            <a:r>
              <a:rPr lang="en-US" sz="1200" dirty="0">
                <a:solidFill>
                  <a:srgbClr val="1C1C1C"/>
                </a:solidFill>
                <a:latin typeface="Calibri" pitchFamily="34" charset="0"/>
                <a:ea typeface="Calibri" pitchFamily="34" charset="-122"/>
                <a:cs typeface="Calibri" pitchFamily="34" charset="-120"/>
              </a:rPr>
              <a:t>Sell → you’re more conservative than your fund mix assumes; dial back equity exposure.</a:t>
            </a:r>
            <a:endParaRPr lang="en-US" sz="1200" dirty="0"/>
          </a:p>
          <a:p>
            <a:pPr marL="228600" indent="-228600">
              <a:lnSpc>
                <a:spcPct val="108000"/>
              </a:lnSpc>
              <a:spcAft>
                <a:spcPts val="800"/>
              </a:spcAft>
              <a:buSzPct val="100000"/>
              <a:buChar char="•"/>
            </a:pPr>
            <a:r>
              <a:rPr lang="en-US" sz="1200" dirty="0">
                <a:solidFill>
                  <a:srgbClr val="1C1C1C"/>
                </a:solidFill>
                <a:latin typeface="Calibri" pitchFamily="34" charset="0"/>
                <a:ea typeface="Calibri" pitchFamily="34" charset="-122"/>
                <a:cs typeface="Calibri" pitchFamily="34" charset="-120"/>
              </a:rPr>
              <a:t>Hold → moderate risk tolerance; a balanced equity-debt mix likely fits.</a:t>
            </a:r>
            <a:endParaRPr lang="en-US" sz="1200" dirty="0"/>
          </a:p>
          <a:p>
            <a:pPr marL="228600" indent="-228600">
              <a:lnSpc>
                <a:spcPct val="108000"/>
              </a:lnSpc>
              <a:spcAft>
                <a:spcPts val="800"/>
              </a:spcAft>
              <a:buSzPct val="100000"/>
              <a:buChar char="•"/>
            </a:pPr>
            <a:r>
              <a:rPr lang="en-US" sz="1200" dirty="0">
                <a:solidFill>
                  <a:srgbClr val="1C1C1C"/>
                </a:solidFill>
                <a:latin typeface="Calibri" pitchFamily="34" charset="0"/>
                <a:ea typeface="Calibri" pitchFamily="34" charset="-122"/>
                <a:cs typeface="Calibri" pitchFamily="34" charset="-120"/>
              </a:rPr>
              <a:t>Buy more → higher risk tolerance; can typically handle a more equity-heavy, long-horizon portfolio.</a:t>
            </a:r>
            <a:endParaRPr lang="en-US" sz="1200" dirty="0"/>
          </a:p>
        </p:txBody>
      </p:sp>
      <p:sp>
        <p:nvSpPr>
          <p:cNvPr id="15" name="Shape 13"/>
          <p:cNvSpPr/>
          <p:nvPr/>
        </p:nvSpPr>
        <p:spPr>
          <a:xfrm>
            <a:off x="548640" y="5715000"/>
            <a:ext cx="11109960" cy="594360"/>
          </a:xfrm>
          <a:prstGeom prst="roundRect">
            <a:avLst>
              <a:gd name="adj" fmla="val 12308"/>
            </a:avLst>
          </a:prstGeom>
          <a:solidFill>
            <a:srgbClr val="0A2A43"/>
          </a:solidFill>
          <a:ln/>
          <a:effectLst>
            <a:outerShdw blurRad="76200" dist="25400" dir="5400000" algn="bl" rotWithShape="0">
              <a:srgbClr val="1B1B1B">
                <a:alpha val="12000"/>
              </a:srgbClr>
            </a:outerShdw>
          </a:effectLst>
        </p:spPr>
        <p:txBody>
          <a:bodyPr/>
          <a:lstStyle/>
          <a:p>
            <a:endParaRPr lang="en-IN"/>
          </a:p>
        </p:txBody>
      </p:sp>
      <p:sp>
        <p:nvSpPr>
          <p:cNvPr id="16" name="Text 14"/>
          <p:cNvSpPr txBox="1"/>
          <p:nvPr/>
        </p:nvSpPr>
        <p:spPr>
          <a:xfrm>
            <a:off x="868680" y="5715000"/>
            <a:ext cx="10515600" cy="594360"/>
          </a:xfrm>
          <a:prstGeom prst="rect">
            <a:avLst/>
          </a:prstGeom>
          <a:noFill/>
          <a:ln/>
        </p:spPr>
        <p:txBody>
          <a:bodyPr wrap="square" lIns="0" tIns="0" rIns="0" bIns="0" rtlCol="0" anchor="ctr"/>
          <a:lstStyle/>
          <a:p>
            <a:pPr marL="0" indent="0">
              <a:lnSpc>
                <a:spcPct val="110000"/>
              </a:lnSpc>
              <a:buNone/>
            </a:pPr>
            <a:r>
              <a:rPr lang="en-US" sz="1200" b="1" dirty="0">
                <a:solidFill>
                  <a:srgbClr val="F4A300"/>
                </a:solidFill>
                <a:latin typeface="Calibri" pitchFamily="34" charset="0"/>
                <a:ea typeface="Calibri" pitchFamily="34" charset="-122"/>
                <a:cs typeface="Calibri" pitchFamily="34" charset="-120"/>
              </a:rPr>
              <a:t>Sequencing that works: Emergency fund → adequate insurance → then invest per goal. Skipping the first two is the most common reason people abandon SIPs mid-way.</a:t>
            </a:r>
            <a:endParaRPr lang="en-US" sz="1200" dirty="0"/>
          </a:p>
        </p:txBody>
      </p:sp>
      <p:sp>
        <p:nvSpPr>
          <p:cNvPr id="17" name="Text 15"/>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900" dirty="0">
                <a:solidFill>
                  <a:srgbClr val="8A97A0"/>
                </a:solidFill>
                <a:latin typeface="Calibri" pitchFamily="34" charset="0"/>
                <a:ea typeface="Calibri" pitchFamily="34" charset="-122"/>
                <a:cs typeface="Calibri" pitchFamily="34" charset="-120"/>
              </a:rPr>
              <a:t>Mutual Funds: What My Investing Journey Taught Me</a:t>
            </a:r>
            <a:endParaRPr lang="en-US" sz="900" dirty="0"/>
          </a:p>
        </p:txBody>
      </p:sp>
      <p:sp>
        <p:nvSpPr>
          <p:cNvPr id="18" name="Text 16"/>
          <p:cNvSpPr txBox="1"/>
          <p:nvPr/>
        </p:nvSpPr>
        <p:spPr>
          <a:xfrm>
            <a:off x="11000232" y="6473952"/>
            <a:ext cx="731520" cy="274320"/>
          </a:xfrm>
          <a:prstGeom prst="rect">
            <a:avLst/>
          </a:prstGeom>
          <a:noFill/>
          <a:ln/>
        </p:spPr>
        <p:txBody>
          <a:bodyPr wrap="square" lIns="0" tIns="0" rIns="0" bIns="0" rtlCol="0" anchor="ctr"/>
          <a:lstStyle/>
          <a:p>
            <a:pPr marL="0" indent="0" algn="r">
              <a:buNone/>
            </a:pPr>
            <a:r>
              <a:rPr lang="en-US" sz="900" dirty="0">
                <a:solidFill>
                  <a:srgbClr val="8A97A0"/>
                </a:solidFill>
                <a:latin typeface="Calibri" pitchFamily="34" charset="0"/>
                <a:ea typeface="Calibri" pitchFamily="34" charset="-122"/>
                <a:cs typeface="Calibri" pitchFamily="34" charset="-120"/>
              </a:rPr>
              <a:t>10 / 31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METHOD OF INVESTING</a:t>
            </a:r>
            <a:endParaRPr lang="en-US" sz="1300" dirty="0"/>
          </a:p>
        </p:txBody>
      </p:sp>
      <p:sp>
        <p:nvSpPr>
          <p:cNvPr id="3" name="Text 1"/>
          <p:cNvSpPr txBox="1"/>
          <p:nvPr/>
        </p:nvSpPr>
        <p:spPr>
          <a:xfrm>
            <a:off x="548640" y="685800"/>
            <a:ext cx="11064240" cy="822960"/>
          </a:xfrm>
          <a:prstGeom prst="rect">
            <a:avLst/>
          </a:prstGeom>
          <a:noFill/>
          <a:ln/>
        </p:spPr>
        <p:txBody>
          <a:bodyPr wrap="square" lIns="0" tIns="0" rIns="0" bIns="0" rtlCol="0" anchor="ctr"/>
          <a:lstStyle/>
          <a:p>
            <a:pPr marL="0" indent="0">
              <a:buNone/>
            </a:pPr>
            <a:r>
              <a:rPr lang="en-US" sz="3000" b="1" dirty="0">
                <a:solidFill>
                  <a:srgbClr val="0A2A43"/>
                </a:solidFill>
                <a:latin typeface="Cambria" pitchFamily="34" charset="0"/>
                <a:ea typeface="Cambria" pitchFamily="34" charset="-122"/>
                <a:cs typeface="Cambria" pitchFamily="34" charset="-120"/>
              </a:rPr>
              <a:t>SIP vs Lumpsum</a:t>
            </a:r>
            <a:endParaRPr lang="en-US" sz="3000" dirty="0"/>
          </a:p>
        </p:txBody>
      </p:sp>
      <p:sp>
        <p:nvSpPr>
          <p:cNvPr id="4" name="Shape 2"/>
          <p:cNvSpPr/>
          <p:nvPr/>
        </p:nvSpPr>
        <p:spPr>
          <a:xfrm>
            <a:off x="548640" y="1737360"/>
            <a:ext cx="5349240" cy="3063240"/>
          </a:xfrm>
          <a:prstGeom prst="roundRect">
            <a:avLst>
              <a:gd name="adj" fmla="val 2388"/>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5" name="Text 3"/>
          <p:cNvSpPr txBox="1"/>
          <p:nvPr/>
        </p:nvSpPr>
        <p:spPr>
          <a:xfrm>
            <a:off x="868680" y="1874520"/>
            <a:ext cx="3657600" cy="457200"/>
          </a:xfrm>
          <a:prstGeom prst="rect">
            <a:avLst/>
          </a:prstGeom>
          <a:noFill/>
          <a:ln/>
        </p:spPr>
        <p:txBody>
          <a:bodyPr wrap="square" lIns="0" tIns="0" rIns="0" bIns="0" rtlCol="0" anchor="ctr"/>
          <a:lstStyle/>
          <a:p>
            <a:pPr marL="0" indent="0">
              <a:buNone/>
            </a:pPr>
            <a:r>
              <a:rPr lang="en-US" sz="2000" b="1" dirty="0">
                <a:solidFill>
                  <a:srgbClr val="028090"/>
                </a:solidFill>
                <a:latin typeface="Cambria" pitchFamily="34" charset="0"/>
                <a:ea typeface="Cambria" pitchFamily="34" charset="-122"/>
                <a:cs typeface="Cambria" pitchFamily="34" charset="-120"/>
              </a:rPr>
              <a:t>SIP</a:t>
            </a:r>
            <a:endParaRPr lang="en-US" sz="2000" dirty="0"/>
          </a:p>
        </p:txBody>
      </p:sp>
      <p:sp>
        <p:nvSpPr>
          <p:cNvPr id="6" name="Text 4"/>
          <p:cNvSpPr txBox="1"/>
          <p:nvPr/>
        </p:nvSpPr>
        <p:spPr>
          <a:xfrm>
            <a:off x="868680" y="2377440"/>
            <a:ext cx="4754880" cy="4114800"/>
          </a:xfrm>
          <a:prstGeom prst="rect">
            <a:avLst/>
          </a:prstGeom>
          <a:noFill/>
          <a:ln/>
        </p:spPr>
        <p:txBody>
          <a:bodyPr wrap="square" lIns="0" tIns="0" rIns="0" bIns="0" rtlCol="0" anchor="t"/>
          <a:lstStyle/>
          <a:p>
            <a:pPr marL="228600" indent="-228600">
              <a:lnSpc>
                <a:spcPct val="108000"/>
              </a:lnSpc>
              <a:spcAft>
                <a:spcPts val="1000"/>
              </a:spcAft>
              <a:buSzPct val="100000"/>
              <a:buChar char="•"/>
            </a:pPr>
            <a:r>
              <a:rPr lang="en-US" sz="1350" dirty="0">
                <a:solidFill>
                  <a:srgbClr val="1C1C1C"/>
                </a:solidFill>
                <a:latin typeface="Calibri" pitchFamily="34" charset="0"/>
                <a:ea typeface="Calibri" pitchFamily="34" charset="-122"/>
                <a:cs typeface="Calibri" pitchFamily="34" charset="-120"/>
              </a:rPr>
              <a:t>Fixed amount invested at regular intervals.</a:t>
            </a:r>
            <a:endParaRPr lang="en-US" sz="1350" dirty="0"/>
          </a:p>
          <a:p>
            <a:pPr marL="228600" indent="-228600">
              <a:lnSpc>
                <a:spcPct val="108000"/>
              </a:lnSpc>
              <a:spcAft>
                <a:spcPts val="1000"/>
              </a:spcAft>
              <a:buSzPct val="100000"/>
              <a:buChar char="•"/>
            </a:pPr>
            <a:r>
              <a:rPr lang="en-US" sz="1350" dirty="0">
                <a:solidFill>
                  <a:srgbClr val="1C1C1C"/>
                </a:solidFill>
                <a:latin typeface="Calibri" pitchFamily="34" charset="0"/>
                <a:ea typeface="Calibri" pitchFamily="34" charset="-122"/>
                <a:cs typeface="Calibri" pitchFamily="34" charset="-120"/>
              </a:rPr>
              <a:t>Builds investing discipline; spreads purchases across market levels.</a:t>
            </a:r>
            <a:endParaRPr lang="en-US" sz="1350" dirty="0"/>
          </a:p>
          <a:p>
            <a:pPr marL="228600" indent="-228600">
              <a:lnSpc>
                <a:spcPct val="108000"/>
              </a:lnSpc>
              <a:spcAft>
                <a:spcPts val="1000"/>
              </a:spcAft>
              <a:buSzPct val="100000"/>
              <a:buChar char="•"/>
            </a:pPr>
            <a:r>
              <a:rPr lang="en-US" sz="1350" dirty="0">
                <a:solidFill>
                  <a:srgbClr val="1C1C1C"/>
                </a:solidFill>
                <a:latin typeface="Calibri" pitchFamily="34" charset="0"/>
                <a:ea typeface="Calibri" pitchFamily="34" charset="-122"/>
                <a:cs typeface="Calibri" pitchFamily="34" charset="-120"/>
              </a:rPr>
              <a:t>Does not guarantee profit — it’s a method, not insurance.</a:t>
            </a:r>
            <a:endParaRPr lang="en-US" sz="1350" dirty="0"/>
          </a:p>
        </p:txBody>
      </p:sp>
      <p:sp>
        <p:nvSpPr>
          <p:cNvPr id="7" name="Shape 5"/>
          <p:cNvSpPr/>
          <p:nvPr/>
        </p:nvSpPr>
        <p:spPr>
          <a:xfrm>
            <a:off x="6126480" y="1737360"/>
            <a:ext cx="5486400" cy="3063240"/>
          </a:xfrm>
          <a:prstGeom prst="roundRect">
            <a:avLst>
              <a:gd name="adj" fmla="val 2388"/>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8" name="Text 6"/>
          <p:cNvSpPr txBox="1"/>
          <p:nvPr/>
        </p:nvSpPr>
        <p:spPr>
          <a:xfrm>
            <a:off x="6446520" y="1874520"/>
            <a:ext cx="3657600" cy="457200"/>
          </a:xfrm>
          <a:prstGeom prst="rect">
            <a:avLst/>
          </a:prstGeom>
          <a:noFill/>
          <a:ln/>
        </p:spPr>
        <p:txBody>
          <a:bodyPr wrap="square" lIns="0" tIns="0" rIns="0" bIns="0" rtlCol="0" anchor="ctr"/>
          <a:lstStyle/>
          <a:p>
            <a:pPr marL="0" indent="0">
              <a:buNone/>
            </a:pPr>
            <a:r>
              <a:rPr lang="en-US" sz="2000" b="1" dirty="0">
                <a:solidFill>
                  <a:srgbClr val="00A896"/>
                </a:solidFill>
                <a:latin typeface="Cambria" pitchFamily="34" charset="0"/>
                <a:ea typeface="Cambria" pitchFamily="34" charset="-122"/>
                <a:cs typeface="Cambria" pitchFamily="34" charset="-120"/>
              </a:rPr>
              <a:t>Lumpsum</a:t>
            </a:r>
            <a:endParaRPr lang="en-US" sz="2000" dirty="0"/>
          </a:p>
        </p:txBody>
      </p:sp>
      <p:sp>
        <p:nvSpPr>
          <p:cNvPr id="9" name="Text 7"/>
          <p:cNvSpPr txBox="1"/>
          <p:nvPr/>
        </p:nvSpPr>
        <p:spPr>
          <a:xfrm>
            <a:off x="6446520" y="2377440"/>
            <a:ext cx="4937760" cy="4114800"/>
          </a:xfrm>
          <a:prstGeom prst="rect">
            <a:avLst/>
          </a:prstGeom>
          <a:noFill/>
          <a:ln/>
        </p:spPr>
        <p:txBody>
          <a:bodyPr wrap="square" lIns="0" tIns="0" rIns="0" bIns="0" rtlCol="0" anchor="t"/>
          <a:lstStyle/>
          <a:p>
            <a:pPr marL="228600" indent="-228600">
              <a:lnSpc>
                <a:spcPct val="108000"/>
              </a:lnSpc>
              <a:spcAft>
                <a:spcPts val="1000"/>
              </a:spcAft>
              <a:buSzPct val="100000"/>
              <a:buChar char="•"/>
            </a:pPr>
            <a:r>
              <a:rPr lang="en-US" sz="1350" dirty="0">
                <a:solidFill>
                  <a:srgbClr val="1C1C1C"/>
                </a:solidFill>
                <a:latin typeface="Calibri" pitchFamily="34" charset="0"/>
                <a:ea typeface="Calibri" pitchFamily="34" charset="-122"/>
                <a:cs typeface="Calibri" pitchFamily="34" charset="-120"/>
              </a:rPr>
              <a:t>Larger amount invested at one time.</a:t>
            </a:r>
            <a:endParaRPr lang="en-US" sz="1350" dirty="0"/>
          </a:p>
          <a:p>
            <a:pPr marL="228600" indent="-228600">
              <a:lnSpc>
                <a:spcPct val="108000"/>
              </a:lnSpc>
              <a:spcAft>
                <a:spcPts val="1000"/>
              </a:spcAft>
              <a:buSzPct val="100000"/>
              <a:buChar char="•"/>
            </a:pPr>
            <a:r>
              <a:rPr lang="en-US" sz="1350" dirty="0">
                <a:solidFill>
                  <a:srgbClr val="1C1C1C"/>
                </a:solidFill>
                <a:latin typeface="Calibri" pitchFamily="34" charset="0"/>
                <a:ea typeface="Calibri" pitchFamily="34" charset="-122"/>
                <a:cs typeface="Calibri" pitchFamily="34" charset="-120"/>
              </a:rPr>
              <a:t>Full amount is exposed to the market from day one — rise or fall.</a:t>
            </a:r>
            <a:endParaRPr lang="en-US" sz="1350" dirty="0"/>
          </a:p>
          <a:p>
            <a:pPr marL="228600" indent="-228600">
              <a:lnSpc>
                <a:spcPct val="108000"/>
              </a:lnSpc>
              <a:spcAft>
                <a:spcPts val="1000"/>
              </a:spcAft>
              <a:buSzPct val="100000"/>
              <a:buChar char="•"/>
            </a:pPr>
            <a:r>
              <a:rPr lang="en-US" sz="1350" dirty="0">
                <a:solidFill>
                  <a:srgbClr val="1C1C1C"/>
                </a:solidFill>
                <a:latin typeface="Calibri" pitchFamily="34" charset="0"/>
                <a:ea typeface="Calibri" pitchFamily="34" charset="-122"/>
                <a:cs typeface="Calibri" pitchFamily="34" charset="-120"/>
              </a:rPr>
              <a:t>For a windfall: weigh goal, horizon, risk tolerance and asset allocation — not just “SIP is always better.”</a:t>
            </a:r>
            <a:endParaRPr lang="en-US" sz="1350" dirty="0"/>
          </a:p>
        </p:txBody>
      </p:sp>
      <p:sp>
        <p:nvSpPr>
          <p:cNvPr id="10" name="Shape 8"/>
          <p:cNvSpPr/>
          <p:nvPr/>
        </p:nvSpPr>
        <p:spPr>
          <a:xfrm>
            <a:off x="548640" y="4983480"/>
            <a:ext cx="11064240" cy="1463040"/>
          </a:xfrm>
          <a:prstGeom prst="roundRect">
            <a:avLst>
              <a:gd name="adj" fmla="val 5000"/>
            </a:avLst>
          </a:prstGeom>
          <a:solidFill>
            <a:srgbClr val="0A2A43"/>
          </a:solidFill>
          <a:ln/>
          <a:effectLst>
            <a:outerShdw blurRad="76200" dist="25400" dir="5400000" algn="bl" rotWithShape="0">
              <a:srgbClr val="1B1B1B">
                <a:alpha val="12000"/>
              </a:srgbClr>
            </a:outerShdw>
          </a:effectLst>
        </p:spPr>
        <p:txBody>
          <a:bodyPr/>
          <a:lstStyle/>
          <a:p>
            <a:endParaRPr lang="en-IN"/>
          </a:p>
        </p:txBody>
      </p:sp>
      <p:sp>
        <p:nvSpPr>
          <p:cNvPr id="11" name="Text 9"/>
          <p:cNvSpPr txBox="1"/>
          <p:nvPr/>
        </p:nvSpPr>
        <p:spPr>
          <a:xfrm>
            <a:off x="914400" y="5166360"/>
            <a:ext cx="10332720" cy="1097280"/>
          </a:xfrm>
          <a:prstGeom prst="rect">
            <a:avLst/>
          </a:prstGeom>
          <a:noFill/>
          <a:ln/>
        </p:spPr>
        <p:txBody>
          <a:bodyPr wrap="square" lIns="0" tIns="0" rIns="0" bIns="0" rtlCol="0" anchor="ctr"/>
          <a:lstStyle/>
          <a:p>
            <a:pPr marL="0" indent="0">
              <a:lnSpc>
                <a:spcPct val="120000"/>
              </a:lnSpc>
              <a:buNone/>
            </a:pPr>
            <a:r>
              <a:rPr lang="en-US" sz="1450" i="1" dirty="0">
                <a:solidFill>
                  <a:srgbClr val="E4EEF0"/>
                </a:solidFill>
                <a:latin typeface="Calibri" pitchFamily="34" charset="0"/>
                <a:ea typeface="Calibri" pitchFamily="34" charset="-122"/>
                <a:cs typeface="Calibri" pitchFamily="34" charset="-120"/>
              </a:rPr>
              <a:t>Illustration: ₹10,000/month for 12 months vs ₹1,20,000 upfront — the outcome depends entirely on the market’s path, which nobody knows in advance.</a:t>
            </a:r>
            <a:endParaRPr lang="en-US" sz="1450" dirty="0"/>
          </a:p>
        </p:txBody>
      </p:sp>
      <p:sp>
        <p:nvSpPr>
          <p:cNvPr id="12" name="Text 10"/>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900" dirty="0">
                <a:solidFill>
                  <a:srgbClr val="8A97A0"/>
                </a:solidFill>
                <a:latin typeface="Calibri" pitchFamily="34" charset="0"/>
                <a:ea typeface="Calibri" pitchFamily="34" charset="-122"/>
                <a:cs typeface="Calibri" pitchFamily="34" charset="-120"/>
              </a:rPr>
              <a:t>Mutual Funds: What My Investing Journey Taught Me</a:t>
            </a:r>
            <a:endParaRPr lang="en-US" sz="900" dirty="0"/>
          </a:p>
        </p:txBody>
      </p:sp>
      <p:sp>
        <p:nvSpPr>
          <p:cNvPr id="13" name="Text 11"/>
          <p:cNvSpPr txBox="1"/>
          <p:nvPr/>
        </p:nvSpPr>
        <p:spPr>
          <a:xfrm>
            <a:off x="11000232" y="6473952"/>
            <a:ext cx="731520" cy="274320"/>
          </a:xfrm>
          <a:prstGeom prst="rect">
            <a:avLst/>
          </a:prstGeom>
          <a:noFill/>
          <a:ln/>
        </p:spPr>
        <p:txBody>
          <a:bodyPr wrap="square" lIns="0" tIns="0" rIns="0" bIns="0" rtlCol="0" anchor="ctr"/>
          <a:lstStyle/>
          <a:p>
            <a:pPr marL="0" indent="0" algn="r">
              <a:buNone/>
            </a:pPr>
            <a:r>
              <a:rPr lang="en-US" sz="900" dirty="0">
                <a:solidFill>
                  <a:srgbClr val="8A97A0"/>
                </a:solidFill>
                <a:latin typeface="Calibri" pitchFamily="34" charset="0"/>
                <a:ea typeface="Calibri" pitchFamily="34" charset="-122"/>
                <a:cs typeface="Calibri" pitchFamily="34" charset="-120"/>
              </a:rPr>
              <a:t>11 / 31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2A43"/>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300" b="1" kern="0" spc="200" dirty="0">
                <a:solidFill>
                  <a:srgbClr val="6FE7DD"/>
                </a:solidFill>
                <a:latin typeface="Calibri" pitchFamily="34" charset="0"/>
                <a:ea typeface="Calibri" pitchFamily="34" charset="-122"/>
                <a:cs typeface="Calibri" pitchFamily="34" charset="-120"/>
              </a:rPr>
              <a:t>BEYOND SIP</a:t>
            </a:r>
            <a:endParaRPr lang="en-US" sz="1300" dirty="0"/>
          </a:p>
        </p:txBody>
      </p:sp>
      <p:sp>
        <p:nvSpPr>
          <p:cNvPr id="3" name="Text 1"/>
          <p:cNvSpPr txBox="1"/>
          <p:nvPr/>
        </p:nvSpPr>
        <p:spPr>
          <a:xfrm>
            <a:off x="548640" y="685800"/>
            <a:ext cx="11064240" cy="82296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STP &amp; SWP: SIP’s Lesser-Known Cousins</a:t>
            </a:r>
            <a:endParaRPr lang="en-US" sz="3000" dirty="0"/>
          </a:p>
        </p:txBody>
      </p:sp>
      <p:sp>
        <p:nvSpPr>
          <p:cNvPr id="4" name="Shape 2"/>
          <p:cNvSpPr/>
          <p:nvPr/>
        </p:nvSpPr>
        <p:spPr>
          <a:xfrm>
            <a:off x="548640" y="1737360"/>
            <a:ext cx="5349240" cy="3383280"/>
          </a:xfrm>
          <a:prstGeom prst="roundRect">
            <a:avLst>
              <a:gd name="adj" fmla="val 2162"/>
            </a:avLst>
          </a:prstGeom>
          <a:solidFill>
            <a:srgbClr val="0F3A57"/>
          </a:solidFill>
          <a:ln/>
          <a:effectLst>
            <a:outerShdw blurRad="76200" dist="25400" dir="5400000" algn="bl" rotWithShape="0">
              <a:srgbClr val="1B1B1B">
                <a:alpha val="12000"/>
              </a:srgbClr>
            </a:outerShdw>
          </a:effectLst>
        </p:spPr>
        <p:txBody>
          <a:bodyPr/>
          <a:lstStyle/>
          <a:p>
            <a:endParaRPr lang="en-IN"/>
          </a:p>
        </p:txBody>
      </p:sp>
      <p:sp>
        <p:nvSpPr>
          <p:cNvPr id="5" name="Text 3"/>
          <p:cNvSpPr txBox="1"/>
          <p:nvPr/>
        </p:nvSpPr>
        <p:spPr>
          <a:xfrm>
            <a:off x="868680" y="1874520"/>
            <a:ext cx="4754880" cy="457200"/>
          </a:xfrm>
          <a:prstGeom prst="rect">
            <a:avLst/>
          </a:prstGeom>
          <a:noFill/>
          <a:ln/>
        </p:spPr>
        <p:txBody>
          <a:bodyPr wrap="square" lIns="0" tIns="0" rIns="0" bIns="0" rtlCol="0" anchor="ctr"/>
          <a:lstStyle/>
          <a:p>
            <a:pPr marL="0" indent="0">
              <a:buNone/>
            </a:pPr>
            <a:r>
              <a:rPr lang="en-US" sz="1600" b="1" dirty="0">
                <a:solidFill>
                  <a:srgbClr val="F4A300"/>
                </a:solidFill>
                <a:latin typeface="Cambria" pitchFamily="34" charset="0"/>
                <a:ea typeface="Cambria" pitchFamily="34" charset="-122"/>
                <a:cs typeface="Cambria" pitchFamily="34" charset="-120"/>
              </a:rPr>
              <a:t>STP — Systematic Transfer Plan</a:t>
            </a:r>
            <a:endParaRPr lang="en-US" sz="1600" dirty="0"/>
          </a:p>
        </p:txBody>
      </p:sp>
      <p:sp>
        <p:nvSpPr>
          <p:cNvPr id="6" name="Text 4"/>
          <p:cNvSpPr txBox="1"/>
          <p:nvPr/>
        </p:nvSpPr>
        <p:spPr>
          <a:xfrm>
            <a:off x="868680" y="2423160"/>
            <a:ext cx="4754880" cy="4114800"/>
          </a:xfrm>
          <a:prstGeom prst="rect">
            <a:avLst/>
          </a:prstGeom>
          <a:noFill/>
          <a:ln/>
        </p:spPr>
        <p:txBody>
          <a:bodyPr wrap="square" lIns="0" tIns="0" rIns="0" bIns="0" rtlCol="0" anchor="t"/>
          <a:lstStyle/>
          <a:p>
            <a:pPr marL="228600" indent="-228600">
              <a:lnSpc>
                <a:spcPct val="108000"/>
              </a:lnSpc>
              <a:spcAft>
                <a:spcPts val="900"/>
              </a:spcAft>
              <a:buSzPct val="100000"/>
              <a:buChar char="•"/>
            </a:pPr>
            <a:r>
              <a:rPr lang="en-US" sz="1250" dirty="0">
                <a:solidFill>
                  <a:srgbClr val="E4EEF0"/>
                </a:solidFill>
                <a:latin typeface="Calibri" pitchFamily="34" charset="0"/>
                <a:ea typeface="Calibri" pitchFamily="34" charset="-122"/>
                <a:cs typeface="Calibri" pitchFamily="34" charset="-120"/>
              </a:rPr>
              <a:t>Moves a lumpsum gradually from a debt/liquid fund into an equity fund on a fixed schedule.</a:t>
            </a:r>
            <a:endParaRPr lang="en-US" sz="1250" dirty="0"/>
          </a:p>
          <a:p>
            <a:pPr marL="228600" indent="-228600">
              <a:lnSpc>
                <a:spcPct val="108000"/>
              </a:lnSpc>
              <a:spcAft>
                <a:spcPts val="900"/>
              </a:spcAft>
              <a:buSzPct val="100000"/>
              <a:buChar char="•"/>
            </a:pPr>
            <a:r>
              <a:rPr lang="en-US" sz="1250" dirty="0">
                <a:solidFill>
                  <a:srgbClr val="E4EEF0"/>
                </a:solidFill>
                <a:latin typeface="Calibri" pitchFamily="34" charset="0"/>
                <a:ea typeface="Calibri" pitchFamily="34" charset="-122"/>
                <a:cs typeface="Calibri" pitchFamily="34" charset="-120"/>
              </a:rPr>
              <a:t>Solves the lumpsum version of “what if I invest right before a fall” — spreads entry timing, like a reverse SIP.</a:t>
            </a:r>
            <a:endParaRPr lang="en-US" sz="1250" dirty="0"/>
          </a:p>
          <a:p>
            <a:pPr marL="228600" indent="-228600">
              <a:lnSpc>
                <a:spcPct val="108000"/>
              </a:lnSpc>
              <a:spcAft>
                <a:spcPts val="900"/>
              </a:spcAft>
              <a:buSzPct val="100000"/>
              <a:buChar char="•"/>
            </a:pPr>
            <a:r>
              <a:rPr lang="en-US" sz="1250" dirty="0">
                <a:solidFill>
                  <a:srgbClr val="E4EEF0"/>
                </a:solidFill>
                <a:latin typeface="Calibri" pitchFamily="34" charset="0"/>
                <a:ea typeface="Calibri" pitchFamily="34" charset="-122"/>
                <a:cs typeface="Calibri" pitchFamily="34" charset="-120"/>
              </a:rPr>
              <a:t>Typical use: a bonus, inheritance, or maturity proceeds you don’t want to put into equity all at once.</a:t>
            </a:r>
            <a:endParaRPr lang="en-US" sz="1250" dirty="0"/>
          </a:p>
        </p:txBody>
      </p:sp>
      <p:sp>
        <p:nvSpPr>
          <p:cNvPr id="7" name="Shape 5"/>
          <p:cNvSpPr/>
          <p:nvPr/>
        </p:nvSpPr>
        <p:spPr>
          <a:xfrm>
            <a:off x="6126480" y="1737360"/>
            <a:ext cx="5532120" cy="3383280"/>
          </a:xfrm>
          <a:prstGeom prst="roundRect">
            <a:avLst>
              <a:gd name="adj" fmla="val 2162"/>
            </a:avLst>
          </a:prstGeom>
          <a:solidFill>
            <a:srgbClr val="0F3A57"/>
          </a:solidFill>
          <a:ln/>
          <a:effectLst>
            <a:outerShdw blurRad="76200" dist="25400" dir="5400000" algn="bl" rotWithShape="0">
              <a:srgbClr val="1B1B1B">
                <a:alpha val="12000"/>
              </a:srgbClr>
            </a:outerShdw>
          </a:effectLst>
        </p:spPr>
        <p:txBody>
          <a:bodyPr/>
          <a:lstStyle/>
          <a:p>
            <a:endParaRPr lang="en-IN"/>
          </a:p>
        </p:txBody>
      </p:sp>
      <p:sp>
        <p:nvSpPr>
          <p:cNvPr id="8" name="Text 6"/>
          <p:cNvSpPr txBox="1"/>
          <p:nvPr/>
        </p:nvSpPr>
        <p:spPr>
          <a:xfrm>
            <a:off x="6446520" y="1874520"/>
            <a:ext cx="4937760" cy="457200"/>
          </a:xfrm>
          <a:prstGeom prst="rect">
            <a:avLst/>
          </a:prstGeom>
          <a:noFill/>
          <a:ln/>
        </p:spPr>
        <p:txBody>
          <a:bodyPr wrap="square" lIns="0" tIns="0" rIns="0" bIns="0" rtlCol="0" anchor="ctr"/>
          <a:lstStyle/>
          <a:p>
            <a:pPr marL="0" indent="0">
              <a:buNone/>
            </a:pPr>
            <a:r>
              <a:rPr lang="en-US" sz="1600" b="1" dirty="0">
                <a:solidFill>
                  <a:srgbClr val="F4A300"/>
                </a:solidFill>
                <a:latin typeface="Cambria" pitchFamily="34" charset="0"/>
                <a:ea typeface="Cambria" pitchFamily="34" charset="-122"/>
                <a:cs typeface="Cambria" pitchFamily="34" charset="-120"/>
              </a:rPr>
              <a:t>SWP — Systematic Withdrawal Plan</a:t>
            </a:r>
            <a:endParaRPr lang="en-US" sz="1600" dirty="0"/>
          </a:p>
        </p:txBody>
      </p:sp>
      <p:sp>
        <p:nvSpPr>
          <p:cNvPr id="9" name="Text 7"/>
          <p:cNvSpPr txBox="1"/>
          <p:nvPr/>
        </p:nvSpPr>
        <p:spPr>
          <a:xfrm>
            <a:off x="6446520" y="2423160"/>
            <a:ext cx="4937760" cy="4114800"/>
          </a:xfrm>
          <a:prstGeom prst="rect">
            <a:avLst/>
          </a:prstGeom>
          <a:noFill/>
          <a:ln/>
        </p:spPr>
        <p:txBody>
          <a:bodyPr wrap="square" lIns="0" tIns="0" rIns="0" bIns="0" rtlCol="0" anchor="t"/>
          <a:lstStyle/>
          <a:p>
            <a:pPr marL="228600" indent="-228600">
              <a:lnSpc>
                <a:spcPct val="108000"/>
              </a:lnSpc>
              <a:spcAft>
                <a:spcPts val="900"/>
              </a:spcAft>
              <a:buSzPct val="100000"/>
              <a:buChar char="•"/>
            </a:pPr>
            <a:r>
              <a:rPr lang="en-US" sz="1250" dirty="0">
                <a:solidFill>
                  <a:srgbClr val="E4EEF0"/>
                </a:solidFill>
                <a:latin typeface="Calibri" pitchFamily="34" charset="0"/>
                <a:ea typeface="Calibri" pitchFamily="34" charset="-122"/>
                <a:cs typeface="Calibri" pitchFamily="34" charset="-120"/>
              </a:rPr>
              <a:t>Withdraws a fixed amount from your fund at regular intervals — the mirror image of a SIP.</a:t>
            </a:r>
            <a:endParaRPr lang="en-US" sz="1250" dirty="0"/>
          </a:p>
          <a:p>
            <a:pPr marL="228600" indent="-228600">
              <a:lnSpc>
                <a:spcPct val="108000"/>
              </a:lnSpc>
              <a:spcAft>
                <a:spcPts val="900"/>
              </a:spcAft>
              <a:buSzPct val="100000"/>
              <a:buChar char="•"/>
            </a:pPr>
            <a:r>
              <a:rPr lang="en-US" sz="1250" dirty="0">
                <a:solidFill>
                  <a:srgbClr val="E4EEF0"/>
                </a:solidFill>
                <a:latin typeface="Calibri" pitchFamily="34" charset="0"/>
                <a:ea typeface="Calibri" pitchFamily="34" charset="-122"/>
                <a:cs typeface="Calibri" pitchFamily="34" charset="-120"/>
              </a:rPr>
              <a:t>Common in retirement drawdown: keep the corpus invested and growing, while a portion is withdrawn monthly for income.</a:t>
            </a:r>
            <a:endParaRPr lang="en-US" sz="1250" dirty="0"/>
          </a:p>
          <a:p>
            <a:pPr marL="228600" indent="-228600">
              <a:lnSpc>
                <a:spcPct val="108000"/>
              </a:lnSpc>
              <a:spcAft>
                <a:spcPts val="900"/>
              </a:spcAft>
              <a:buSzPct val="100000"/>
              <a:buChar char="•"/>
            </a:pPr>
            <a:r>
              <a:rPr lang="en-US" sz="1250" dirty="0">
                <a:solidFill>
                  <a:srgbClr val="E4EEF0"/>
                </a:solidFill>
                <a:latin typeface="Calibri" pitchFamily="34" charset="0"/>
                <a:ea typeface="Calibri" pitchFamily="34" charset="-122"/>
                <a:cs typeface="Calibri" pitchFamily="34" charset="-120"/>
              </a:rPr>
              <a:t>Each withdrawal redeems units — same STCG/LTCG rules apply per lot, exactly like the Jan-2026 example in the Excel model.</a:t>
            </a:r>
            <a:endParaRPr lang="en-US" sz="1250" dirty="0"/>
          </a:p>
        </p:txBody>
      </p:sp>
      <p:sp>
        <p:nvSpPr>
          <p:cNvPr id="10" name="Shape 8"/>
          <p:cNvSpPr/>
          <p:nvPr/>
        </p:nvSpPr>
        <p:spPr>
          <a:xfrm>
            <a:off x="548640" y="5303520"/>
            <a:ext cx="11109960" cy="1005840"/>
          </a:xfrm>
          <a:prstGeom prst="roundRect">
            <a:avLst>
              <a:gd name="adj" fmla="val 7273"/>
            </a:avLst>
          </a:prstGeom>
          <a:solidFill>
            <a:srgbClr val="0F3A57"/>
          </a:solidFill>
          <a:ln/>
          <a:effectLst>
            <a:outerShdw blurRad="76200" dist="25400" dir="5400000" algn="bl" rotWithShape="0">
              <a:srgbClr val="1B1B1B">
                <a:alpha val="12000"/>
              </a:srgbClr>
            </a:outerShdw>
          </a:effectLst>
        </p:spPr>
        <p:txBody>
          <a:bodyPr/>
          <a:lstStyle/>
          <a:p>
            <a:endParaRPr lang="en-IN"/>
          </a:p>
        </p:txBody>
      </p:sp>
      <p:sp>
        <p:nvSpPr>
          <p:cNvPr id="11" name="Text 9"/>
          <p:cNvSpPr txBox="1"/>
          <p:nvPr/>
        </p:nvSpPr>
        <p:spPr>
          <a:xfrm>
            <a:off x="868680" y="5303520"/>
            <a:ext cx="10515600" cy="1005840"/>
          </a:xfrm>
          <a:prstGeom prst="rect">
            <a:avLst/>
          </a:prstGeom>
          <a:noFill/>
          <a:ln/>
        </p:spPr>
        <p:txBody>
          <a:bodyPr wrap="square" lIns="0" tIns="0" rIns="0" bIns="0" rtlCol="0" anchor="ctr"/>
          <a:lstStyle/>
          <a:p>
            <a:pPr marL="0" indent="0">
              <a:lnSpc>
                <a:spcPct val="120000"/>
              </a:lnSpc>
              <a:buNone/>
            </a:pPr>
            <a:r>
              <a:rPr lang="en-US" sz="1300" b="1" i="1" dirty="0">
                <a:solidFill>
                  <a:srgbClr val="F4A300"/>
                </a:solidFill>
                <a:latin typeface="Calibri" pitchFamily="34" charset="0"/>
                <a:ea typeface="Calibri" pitchFamily="34" charset="-122"/>
                <a:cs typeface="Calibri" pitchFamily="34" charset="-120"/>
              </a:rPr>
              <a:t>In practice: “Got a ₹5 lakh bonus? STP it into equity over 6 months instead of investing all at once.”  “Retiring? SWP ₹25,000/month from your corpus instead of one lump withdrawal.”</a:t>
            </a:r>
            <a:endParaRPr lang="en-US" sz="1300" dirty="0"/>
          </a:p>
        </p:txBody>
      </p:sp>
      <p:sp>
        <p:nvSpPr>
          <p:cNvPr id="12" name="Text 10"/>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900" dirty="0">
                <a:solidFill>
                  <a:srgbClr val="8A97A0"/>
                </a:solidFill>
                <a:latin typeface="Calibri" pitchFamily="34" charset="0"/>
                <a:ea typeface="Calibri" pitchFamily="34" charset="-122"/>
                <a:cs typeface="Calibri" pitchFamily="34" charset="-120"/>
              </a:rPr>
              <a:t>Mutual Funds: What My Investing Journey Taught Me</a:t>
            </a:r>
            <a:endParaRPr lang="en-US" sz="900" dirty="0"/>
          </a:p>
        </p:txBody>
      </p:sp>
      <p:sp>
        <p:nvSpPr>
          <p:cNvPr id="13" name="Text 11"/>
          <p:cNvSpPr txBox="1"/>
          <p:nvPr/>
        </p:nvSpPr>
        <p:spPr>
          <a:xfrm>
            <a:off x="11000232" y="6473952"/>
            <a:ext cx="731520" cy="274320"/>
          </a:xfrm>
          <a:prstGeom prst="rect">
            <a:avLst/>
          </a:prstGeom>
          <a:noFill/>
          <a:ln/>
        </p:spPr>
        <p:txBody>
          <a:bodyPr wrap="square" lIns="0" tIns="0" rIns="0" bIns="0" rtlCol="0" anchor="ctr"/>
          <a:lstStyle/>
          <a:p>
            <a:pPr marL="0" indent="0" algn="r">
              <a:buNone/>
            </a:pPr>
            <a:r>
              <a:rPr lang="en-US" sz="900" dirty="0">
                <a:solidFill>
                  <a:srgbClr val="8A97A0"/>
                </a:solidFill>
                <a:latin typeface="Calibri" pitchFamily="34" charset="0"/>
                <a:ea typeface="Calibri" pitchFamily="34" charset="-122"/>
                <a:cs typeface="Calibri" pitchFamily="34" charset="-120"/>
              </a:rPr>
              <a:t>12 / 31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TIME IN THE MARKET</a:t>
            </a:r>
            <a:endParaRPr lang="en-US" sz="1300" dirty="0"/>
          </a:p>
        </p:txBody>
      </p:sp>
      <p:sp>
        <p:nvSpPr>
          <p:cNvPr id="3" name="Text 1"/>
          <p:cNvSpPr txBox="1"/>
          <p:nvPr/>
        </p:nvSpPr>
        <p:spPr>
          <a:xfrm>
            <a:off x="548640" y="685800"/>
            <a:ext cx="11064240" cy="822960"/>
          </a:xfrm>
          <a:prstGeom prst="rect">
            <a:avLst/>
          </a:prstGeom>
          <a:noFill/>
          <a:ln/>
        </p:spPr>
        <p:txBody>
          <a:bodyPr wrap="square" lIns="0" tIns="0" rIns="0" bIns="0" rtlCol="0" anchor="ctr"/>
          <a:lstStyle/>
          <a:p>
            <a:pPr marL="0" indent="0">
              <a:buNone/>
            </a:pPr>
            <a:r>
              <a:rPr lang="en-US" sz="3000" b="1" dirty="0">
                <a:solidFill>
                  <a:srgbClr val="0A2A43"/>
                </a:solidFill>
                <a:latin typeface="Cambria" pitchFamily="34" charset="0"/>
                <a:ea typeface="Cambria" pitchFamily="34" charset="-122"/>
                <a:cs typeface="Cambria" pitchFamily="34" charset="-120"/>
              </a:rPr>
              <a:t>The Power of Compounding</a:t>
            </a:r>
            <a:endParaRPr lang="en-US" sz="3000" dirty="0"/>
          </a:p>
        </p:txBody>
      </p:sp>
      <p:graphicFrame>
        <p:nvGraphicFramePr>
          <p:cNvPr id="4" name="Chart 0"/>
          <p:cNvGraphicFramePr/>
          <p:nvPr/>
        </p:nvGraphicFramePr>
        <p:xfrm>
          <a:off x="548640" y="1737360"/>
          <a:ext cx="6675120" cy="37490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452360" y="1737360"/>
            <a:ext cx="4160520" cy="3749040"/>
          </a:xfrm>
          <a:prstGeom prst="roundRect">
            <a:avLst>
              <a:gd name="adj" fmla="val 1951"/>
            </a:avLst>
          </a:prstGeom>
          <a:solidFill>
            <a:srgbClr val="0A2A43"/>
          </a:solidFill>
          <a:ln/>
          <a:effectLst>
            <a:outerShdw blurRad="76200" dist="25400" dir="5400000" algn="bl" rotWithShape="0">
              <a:srgbClr val="1B1B1B">
                <a:alpha val="12000"/>
              </a:srgbClr>
            </a:outerShdw>
          </a:effectLst>
        </p:spPr>
        <p:txBody>
          <a:bodyPr/>
          <a:lstStyle/>
          <a:p>
            <a:endParaRPr lang="en-IN"/>
          </a:p>
        </p:txBody>
      </p:sp>
      <p:sp>
        <p:nvSpPr>
          <p:cNvPr id="6" name="Text 3"/>
          <p:cNvSpPr txBox="1"/>
          <p:nvPr/>
        </p:nvSpPr>
        <p:spPr>
          <a:xfrm>
            <a:off x="7772400" y="1965960"/>
            <a:ext cx="3566160" cy="1097280"/>
          </a:xfrm>
          <a:prstGeom prst="rect">
            <a:avLst/>
          </a:prstGeom>
          <a:noFill/>
          <a:ln/>
        </p:spPr>
        <p:txBody>
          <a:bodyPr wrap="square" lIns="0" tIns="0" rIns="0" bIns="0" rtlCol="0" anchor="ctr"/>
          <a:lstStyle/>
          <a:p>
            <a:pPr marL="0" indent="0">
              <a:lnSpc>
                <a:spcPct val="120000"/>
              </a:lnSpc>
              <a:buNone/>
            </a:pPr>
            <a:r>
              <a:rPr lang="en-US" sz="1450" b="1" dirty="0">
                <a:solidFill>
                  <a:srgbClr val="F4A300"/>
                </a:solidFill>
                <a:latin typeface="Calibri" pitchFamily="34" charset="0"/>
                <a:ea typeface="Calibri" pitchFamily="34" charset="-122"/>
                <a:cs typeface="Calibri" pitchFamily="34" charset="-120"/>
              </a:rPr>
              <a:t>Even small differences in annualised return compound significantly over long periods.</a:t>
            </a:r>
            <a:endParaRPr lang="en-US" sz="1450" dirty="0"/>
          </a:p>
        </p:txBody>
      </p:sp>
      <p:sp>
        <p:nvSpPr>
          <p:cNvPr id="7" name="Text 4"/>
          <p:cNvSpPr txBox="1"/>
          <p:nvPr/>
        </p:nvSpPr>
        <p:spPr>
          <a:xfrm>
            <a:off x="7772400" y="3200400"/>
            <a:ext cx="3566160" cy="2103120"/>
          </a:xfrm>
          <a:prstGeom prst="rect">
            <a:avLst/>
          </a:prstGeom>
          <a:noFill/>
          <a:ln/>
        </p:spPr>
        <p:txBody>
          <a:bodyPr wrap="square" lIns="0" tIns="0" rIns="0" bIns="0" rtlCol="0" anchor="ctr"/>
          <a:lstStyle/>
          <a:p>
            <a:pPr marL="0" indent="0">
              <a:lnSpc>
                <a:spcPct val="125000"/>
              </a:lnSpc>
              <a:buNone/>
            </a:pPr>
            <a:r>
              <a:rPr lang="en-US" sz="1300" i="1" dirty="0">
                <a:solidFill>
                  <a:srgbClr val="C8D6DB"/>
                </a:solidFill>
                <a:latin typeface="Calibri" pitchFamily="34" charset="0"/>
                <a:ea typeface="Calibri" pitchFamily="34" charset="-122"/>
                <a:cs typeface="Calibri" pitchFamily="34" charset="-120"/>
              </a:rPr>
              <a:t>These are mathematical illustrations only — not expected or guaranteed mutual-fund returns. Never assume an equity MF will deliver a specific annual return.</a:t>
            </a:r>
            <a:endParaRPr lang="en-US" sz="1300" dirty="0"/>
          </a:p>
        </p:txBody>
      </p:sp>
      <p:sp>
        <p:nvSpPr>
          <p:cNvPr id="8" name="Text 5"/>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900" dirty="0">
                <a:solidFill>
                  <a:srgbClr val="8A97A0"/>
                </a:solidFill>
                <a:latin typeface="Calibri" pitchFamily="34" charset="0"/>
                <a:ea typeface="Calibri" pitchFamily="34" charset="-122"/>
                <a:cs typeface="Calibri" pitchFamily="34" charset="-120"/>
              </a:rPr>
              <a:t>Mutual Funds: What My Investing Journey Taught Me</a:t>
            </a:r>
            <a:endParaRPr lang="en-US" sz="900" dirty="0"/>
          </a:p>
        </p:txBody>
      </p:sp>
      <p:sp>
        <p:nvSpPr>
          <p:cNvPr id="9" name="Text 6"/>
          <p:cNvSpPr txBox="1"/>
          <p:nvPr/>
        </p:nvSpPr>
        <p:spPr>
          <a:xfrm>
            <a:off x="11000232" y="6473952"/>
            <a:ext cx="731520" cy="274320"/>
          </a:xfrm>
          <a:prstGeom prst="rect">
            <a:avLst/>
          </a:prstGeom>
          <a:noFill/>
          <a:ln/>
        </p:spPr>
        <p:txBody>
          <a:bodyPr wrap="square" lIns="0" tIns="0" rIns="0" bIns="0" rtlCol="0" anchor="ctr"/>
          <a:lstStyle/>
          <a:p>
            <a:pPr marL="0" indent="0" algn="r">
              <a:buNone/>
            </a:pPr>
            <a:r>
              <a:rPr lang="en-US" sz="900" dirty="0">
                <a:solidFill>
                  <a:srgbClr val="8A97A0"/>
                </a:solidFill>
                <a:latin typeface="Calibri" pitchFamily="34" charset="0"/>
                <a:ea typeface="Calibri" pitchFamily="34" charset="-122"/>
                <a:cs typeface="Calibri" pitchFamily="34" charset="-120"/>
              </a:rPr>
              <a:t>13 / 31</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COMPARING ROLES, NOT DECLARING WINNERS</a:t>
            </a:r>
            <a:endParaRPr lang="en-US" sz="1300" dirty="0"/>
          </a:p>
        </p:txBody>
      </p:sp>
      <p:sp>
        <p:nvSpPr>
          <p:cNvPr id="3" name="Text 1"/>
          <p:cNvSpPr txBox="1"/>
          <p:nvPr/>
        </p:nvSpPr>
        <p:spPr>
          <a:xfrm>
            <a:off x="548640" y="685800"/>
            <a:ext cx="11064240" cy="822960"/>
          </a:xfrm>
          <a:prstGeom prst="rect">
            <a:avLst/>
          </a:prstGeom>
          <a:noFill/>
          <a:ln/>
        </p:spPr>
        <p:txBody>
          <a:bodyPr wrap="square" lIns="0" tIns="0" rIns="0" bIns="0" rtlCol="0" anchor="ctr"/>
          <a:lstStyle/>
          <a:p>
            <a:pPr marL="0" indent="0">
              <a:buNone/>
            </a:pPr>
            <a:r>
              <a:rPr lang="en-US" sz="3000" b="1" dirty="0">
                <a:solidFill>
                  <a:srgbClr val="0A2A43"/>
                </a:solidFill>
                <a:latin typeface="Cambria" pitchFamily="34" charset="0"/>
                <a:ea typeface="Cambria" pitchFamily="34" charset="-122"/>
                <a:cs typeface="Cambria" pitchFamily="34" charset="-120"/>
              </a:rPr>
              <a:t>MF vs FD vs NPS vs PPF / Postal Schemes</a:t>
            </a:r>
            <a:endParaRPr lang="en-US" sz="3000" dirty="0"/>
          </a:p>
        </p:txBody>
      </p:sp>
      <p:sp>
        <p:nvSpPr>
          <p:cNvPr id="4" name="Shape 2"/>
          <p:cNvSpPr/>
          <p:nvPr/>
        </p:nvSpPr>
        <p:spPr>
          <a:xfrm>
            <a:off x="548640" y="1691640"/>
            <a:ext cx="1874520" cy="457200"/>
          </a:xfrm>
          <a:prstGeom prst="rect">
            <a:avLst/>
          </a:prstGeom>
          <a:solidFill>
            <a:srgbClr val="FFFFFF"/>
          </a:solidFill>
          <a:ln w="12700">
            <a:solidFill>
              <a:srgbClr val="FFFFFF"/>
            </a:solidFill>
            <a:prstDash val="solid"/>
          </a:ln>
        </p:spPr>
        <p:txBody>
          <a:bodyPr/>
          <a:lstStyle/>
          <a:p>
            <a:endParaRPr lang="en-IN"/>
          </a:p>
        </p:txBody>
      </p:sp>
      <p:sp>
        <p:nvSpPr>
          <p:cNvPr id="5" name="Text 3"/>
          <p:cNvSpPr txBox="1"/>
          <p:nvPr/>
        </p:nvSpPr>
        <p:spPr>
          <a:xfrm>
            <a:off x="594360" y="1691640"/>
            <a:ext cx="1783080" cy="457200"/>
          </a:xfrm>
          <a:prstGeom prst="rect">
            <a:avLst/>
          </a:prstGeom>
          <a:noFill/>
          <a:ln/>
        </p:spPr>
        <p:txBody>
          <a:bodyPr wrap="square" lIns="0" tIns="0" rIns="0" bIns="0" rtlCol="0" anchor="ctr"/>
          <a:lstStyle/>
          <a:p>
            <a:pPr marL="0" indent="0" algn="l">
              <a:buNone/>
            </a:pPr>
            <a:endParaRPr lang="en-US" sz="1200" dirty="0"/>
          </a:p>
        </p:txBody>
      </p:sp>
      <p:sp>
        <p:nvSpPr>
          <p:cNvPr id="6" name="Shape 4"/>
          <p:cNvSpPr/>
          <p:nvPr/>
        </p:nvSpPr>
        <p:spPr>
          <a:xfrm>
            <a:off x="2423160" y="1691640"/>
            <a:ext cx="2331720" cy="457200"/>
          </a:xfrm>
          <a:prstGeom prst="rect">
            <a:avLst/>
          </a:prstGeom>
          <a:solidFill>
            <a:srgbClr val="0A2A43"/>
          </a:solidFill>
          <a:ln w="12700">
            <a:solidFill>
              <a:srgbClr val="FFFFFF"/>
            </a:solidFill>
            <a:prstDash val="solid"/>
          </a:ln>
        </p:spPr>
        <p:txBody>
          <a:bodyPr/>
          <a:lstStyle/>
          <a:p>
            <a:endParaRPr lang="en-IN"/>
          </a:p>
        </p:txBody>
      </p:sp>
      <p:sp>
        <p:nvSpPr>
          <p:cNvPr id="7" name="Text 5"/>
          <p:cNvSpPr txBox="1"/>
          <p:nvPr/>
        </p:nvSpPr>
        <p:spPr>
          <a:xfrm>
            <a:off x="2468880" y="1691640"/>
            <a:ext cx="224028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Mutual Fund</a:t>
            </a:r>
            <a:endParaRPr lang="en-US" sz="1200" dirty="0"/>
          </a:p>
        </p:txBody>
      </p:sp>
      <p:sp>
        <p:nvSpPr>
          <p:cNvPr id="8" name="Shape 6"/>
          <p:cNvSpPr/>
          <p:nvPr/>
        </p:nvSpPr>
        <p:spPr>
          <a:xfrm>
            <a:off x="4754880" y="1691640"/>
            <a:ext cx="2331720" cy="457200"/>
          </a:xfrm>
          <a:prstGeom prst="rect">
            <a:avLst/>
          </a:prstGeom>
          <a:solidFill>
            <a:srgbClr val="0A2A43"/>
          </a:solidFill>
          <a:ln w="12700">
            <a:solidFill>
              <a:srgbClr val="FFFFFF"/>
            </a:solidFill>
            <a:prstDash val="solid"/>
          </a:ln>
        </p:spPr>
        <p:txBody>
          <a:bodyPr/>
          <a:lstStyle/>
          <a:p>
            <a:endParaRPr lang="en-IN"/>
          </a:p>
        </p:txBody>
      </p:sp>
      <p:sp>
        <p:nvSpPr>
          <p:cNvPr id="9" name="Text 7"/>
          <p:cNvSpPr txBox="1"/>
          <p:nvPr/>
        </p:nvSpPr>
        <p:spPr>
          <a:xfrm>
            <a:off x="4800600" y="1691640"/>
            <a:ext cx="224028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Fixed Deposit</a:t>
            </a:r>
            <a:endParaRPr lang="en-US" sz="1200" dirty="0"/>
          </a:p>
        </p:txBody>
      </p:sp>
      <p:sp>
        <p:nvSpPr>
          <p:cNvPr id="10" name="Shape 8"/>
          <p:cNvSpPr/>
          <p:nvPr/>
        </p:nvSpPr>
        <p:spPr>
          <a:xfrm>
            <a:off x="7086600" y="1691640"/>
            <a:ext cx="2331720" cy="457200"/>
          </a:xfrm>
          <a:prstGeom prst="rect">
            <a:avLst/>
          </a:prstGeom>
          <a:solidFill>
            <a:srgbClr val="0A2A43"/>
          </a:solidFill>
          <a:ln w="12700">
            <a:solidFill>
              <a:srgbClr val="FFFFFF"/>
            </a:solidFill>
            <a:prstDash val="solid"/>
          </a:ln>
        </p:spPr>
        <p:txBody>
          <a:bodyPr/>
          <a:lstStyle/>
          <a:p>
            <a:endParaRPr lang="en-IN"/>
          </a:p>
        </p:txBody>
      </p:sp>
      <p:sp>
        <p:nvSpPr>
          <p:cNvPr id="11" name="Text 9"/>
          <p:cNvSpPr txBox="1"/>
          <p:nvPr/>
        </p:nvSpPr>
        <p:spPr>
          <a:xfrm>
            <a:off x="7132320" y="1691640"/>
            <a:ext cx="224028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NPS</a:t>
            </a:r>
            <a:endParaRPr lang="en-US" sz="1200" dirty="0"/>
          </a:p>
        </p:txBody>
      </p:sp>
      <p:sp>
        <p:nvSpPr>
          <p:cNvPr id="12" name="Shape 10"/>
          <p:cNvSpPr/>
          <p:nvPr/>
        </p:nvSpPr>
        <p:spPr>
          <a:xfrm>
            <a:off x="9418320" y="1691640"/>
            <a:ext cx="2286000" cy="457200"/>
          </a:xfrm>
          <a:prstGeom prst="rect">
            <a:avLst/>
          </a:prstGeom>
          <a:solidFill>
            <a:srgbClr val="0A2A43"/>
          </a:solidFill>
          <a:ln w="12700">
            <a:solidFill>
              <a:srgbClr val="FFFFFF"/>
            </a:solidFill>
            <a:prstDash val="solid"/>
          </a:ln>
        </p:spPr>
        <p:txBody>
          <a:bodyPr/>
          <a:lstStyle/>
          <a:p>
            <a:endParaRPr lang="en-IN"/>
          </a:p>
        </p:txBody>
      </p:sp>
      <p:sp>
        <p:nvSpPr>
          <p:cNvPr id="13" name="Text 11"/>
          <p:cNvSpPr txBox="1"/>
          <p:nvPr/>
        </p:nvSpPr>
        <p:spPr>
          <a:xfrm>
            <a:off x="9464040" y="1691640"/>
            <a:ext cx="219456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PPF / Postal</a:t>
            </a:r>
            <a:endParaRPr lang="en-US" sz="1200" dirty="0"/>
          </a:p>
        </p:txBody>
      </p:sp>
      <p:sp>
        <p:nvSpPr>
          <p:cNvPr id="14" name="Shape 12"/>
          <p:cNvSpPr/>
          <p:nvPr/>
        </p:nvSpPr>
        <p:spPr>
          <a:xfrm>
            <a:off x="548640" y="2148840"/>
            <a:ext cx="1874520" cy="621792"/>
          </a:xfrm>
          <a:prstGeom prst="rect">
            <a:avLst/>
          </a:prstGeom>
          <a:solidFill>
            <a:srgbClr val="F3F7F8"/>
          </a:solidFill>
          <a:ln w="12700">
            <a:solidFill>
              <a:srgbClr val="E3E9EA"/>
            </a:solidFill>
            <a:prstDash val="solid"/>
          </a:ln>
        </p:spPr>
        <p:txBody>
          <a:bodyPr/>
          <a:lstStyle/>
          <a:p>
            <a:endParaRPr lang="en-IN"/>
          </a:p>
        </p:txBody>
      </p:sp>
      <p:sp>
        <p:nvSpPr>
          <p:cNvPr id="15" name="Text 13"/>
          <p:cNvSpPr txBox="1"/>
          <p:nvPr/>
        </p:nvSpPr>
        <p:spPr>
          <a:xfrm>
            <a:off x="621792" y="2148840"/>
            <a:ext cx="1728216" cy="621792"/>
          </a:xfrm>
          <a:prstGeom prst="rect">
            <a:avLst/>
          </a:prstGeom>
          <a:noFill/>
          <a:ln/>
        </p:spPr>
        <p:txBody>
          <a:bodyPr wrap="square" lIns="0" tIns="0" rIns="0" bIns="0" rtlCol="0" anchor="ctr"/>
          <a:lstStyle/>
          <a:p>
            <a:pPr marL="0" indent="0" algn="l">
              <a:lnSpc>
                <a:spcPct val="102000"/>
              </a:lnSpc>
              <a:buNone/>
            </a:pPr>
            <a:r>
              <a:rPr lang="en-US" sz="1030" b="1" dirty="0">
                <a:solidFill>
                  <a:srgbClr val="1C1C1C"/>
                </a:solidFill>
                <a:latin typeface="Calibri" pitchFamily="34" charset="0"/>
                <a:ea typeface="Calibri" pitchFamily="34" charset="-122"/>
                <a:cs typeface="Calibri" pitchFamily="34" charset="-120"/>
              </a:rPr>
              <a:t>Return type</a:t>
            </a:r>
            <a:endParaRPr lang="en-US" sz="1030" dirty="0"/>
          </a:p>
        </p:txBody>
      </p:sp>
      <p:sp>
        <p:nvSpPr>
          <p:cNvPr id="16" name="Shape 14"/>
          <p:cNvSpPr/>
          <p:nvPr/>
        </p:nvSpPr>
        <p:spPr>
          <a:xfrm>
            <a:off x="2423160" y="2148840"/>
            <a:ext cx="2331720" cy="621792"/>
          </a:xfrm>
          <a:prstGeom prst="rect">
            <a:avLst/>
          </a:prstGeom>
          <a:solidFill>
            <a:srgbClr val="FAFCFC"/>
          </a:solidFill>
          <a:ln w="12700">
            <a:solidFill>
              <a:srgbClr val="E3E9EA"/>
            </a:solidFill>
            <a:prstDash val="solid"/>
          </a:ln>
        </p:spPr>
        <p:txBody>
          <a:bodyPr/>
          <a:lstStyle/>
          <a:p>
            <a:endParaRPr lang="en-IN"/>
          </a:p>
        </p:txBody>
      </p:sp>
      <p:sp>
        <p:nvSpPr>
          <p:cNvPr id="17" name="Text 15"/>
          <p:cNvSpPr txBox="1"/>
          <p:nvPr/>
        </p:nvSpPr>
        <p:spPr>
          <a:xfrm>
            <a:off x="2496312" y="2148840"/>
            <a:ext cx="2185416" cy="621792"/>
          </a:xfrm>
          <a:prstGeom prst="rect">
            <a:avLst/>
          </a:prstGeom>
          <a:noFill/>
          <a:ln/>
        </p:spPr>
        <p:txBody>
          <a:bodyPr wrap="square" lIns="0" tIns="0" rIns="0" bIns="0" rtlCol="0" anchor="ctr"/>
          <a:lstStyle/>
          <a:p>
            <a:pPr marL="0" indent="0" algn="ctr">
              <a:lnSpc>
                <a:spcPct val="102000"/>
              </a:lnSpc>
              <a:buNone/>
            </a:pPr>
            <a:r>
              <a:rPr lang="en-US" sz="1030" dirty="0">
                <a:solidFill>
                  <a:srgbClr val="1C1C1C"/>
                </a:solidFill>
                <a:latin typeface="Calibri" pitchFamily="34" charset="0"/>
                <a:ea typeface="Calibri" pitchFamily="34" charset="-122"/>
                <a:cs typeface="Calibri" pitchFamily="34" charset="-120"/>
              </a:rPr>
              <a:t>Market-linked, variable</a:t>
            </a:r>
            <a:endParaRPr lang="en-US" sz="1030" dirty="0"/>
          </a:p>
        </p:txBody>
      </p:sp>
      <p:sp>
        <p:nvSpPr>
          <p:cNvPr id="18" name="Shape 16"/>
          <p:cNvSpPr/>
          <p:nvPr/>
        </p:nvSpPr>
        <p:spPr>
          <a:xfrm>
            <a:off x="4754880" y="2148840"/>
            <a:ext cx="2331720" cy="621792"/>
          </a:xfrm>
          <a:prstGeom prst="rect">
            <a:avLst/>
          </a:prstGeom>
          <a:solidFill>
            <a:srgbClr val="FAFCFC"/>
          </a:solidFill>
          <a:ln w="12700">
            <a:solidFill>
              <a:srgbClr val="E3E9EA"/>
            </a:solidFill>
            <a:prstDash val="solid"/>
          </a:ln>
        </p:spPr>
        <p:txBody>
          <a:bodyPr/>
          <a:lstStyle/>
          <a:p>
            <a:endParaRPr lang="en-IN"/>
          </a:p>
        </p:txBody>
      </p:sp>
      <p:sp>
        <p:nvSpPr>
          <p:cNvPr id="19" name="Text 17"/>
          <p:cNvSpPr txBox="1"/>
          <p:nvPr/>
        </p:nvSpPr>
        <p:spPr>
          <a:xfrm>
            <a:off x="4828032" y="2148840"/>
            <a:ext cx="2185416" cy="621792"/>
          </a:xfrm>
          <a:prstGeom prst="rect">
            <a:avLst/>
          </a:prstGeom>
          <a:noFill/>
          <a:ln/>
        </p:spPr>
        <p:txBody>
          <a:bodyPr wrap="square" lIns="0" tIns="0" rIns="0" bIns="0" rtlCol="0" anchor="ctr"/>
          <a:lstStyle/>
          <a:p>
            <a:pPr marL="0" indent="0" algn="ctr">
              <a:lnSpc>
                <a:spcPct val="102000"/>
              </a:lnSpc>
              <a:buNone/>
            </a:pPr>
            <a:r>
              <a:rPr lang="en-US" sz="1030" dirty="0">
                <a:solidFill>
                  <a:srgbClr val="1C1C1C"/>
                </a:solidFill>
                <a:latin typeface="Calibri" pitchFamily="34" charset="0"/>
                <a:ea typeface="Calibri" pitchFamily="34" charset="-122"/>
                <a:cs typeface="Calibri" pitchFamily="34" charset="-120"/>
              </a:rPr>
              <a:t>Fixed, pre-declared</a:t>
            </a:r>
            <a:endParaRPr lang="en-US" sz="1030" dirty="0"/>
          </a:p>
        </p:txBody>
      </p:sp>
      <p:sp>
        <p:nvSpPr>
          <p:cNvPr id="20" name="Shape 18"/>
          <p:cNvSpPr/>
          <p:nvPr/>
        </p:nvSpPr>
        <p:spPr>
          <a:xfrm>
            <a:off x="7086600" y="2148840"/>
            <a:ext cx="2331720" cy="621792"/>
          </a:xfrm>
          <a:prstGeom prst="rect">
            <a:avLst/>
          </a:prstGeom>
          <a:solidFill>
            <a:srgbClr val="FAFCFC"/>
          </a:solidFill>
          <a:ln w="12700">
            <a:solidFill>
              <a:srgbClr val="E3E9EA"/>
            </a:solidFill>
            <a:prstDash val="solid"/>
          </a:ln>
        </p:spPr>
        <p:txBody>
          <a:bodyPr/>
          <a:lstStyle/>
          <a:p>
            <a:endParaRPr lang="en-IN"/>
          </a:p>
        </p:txBody>
      </p:sp>
      <p:sp>
        <p:nvSpPr>
          <p:cNvPr id="21" name="Text 19"/>
          <p:cNvSpPr txBox="1"/>
          <p:nvPr/>
        </p:nvSpPr>
        <p:spPr>
          <a:xfrm>
            <a:off x="7159752" y="2148840"/>
            <a:ext cx="2185416" cy="621792"/>
          </a:xfrm>
          <a:prstGeom prst="rect">
            <a:avLst/>
          </a:prstGeom>
          <a:noFill/>
          <a:ln/>
        </p:spPr>
        <p:txBody>
          <a:bodyPr wrap="square" lIns="0" tIns="0" rIns="0" bIns="0" rtlCol="0" anchor="ctr"/>
          <a:lstStyle/>
          <a:p>
            <a:pPr marL="0" indent="0" algn="ctr">
              <a:lnSpc>
                <a:spcPct val="102000"/>
              </a:lnSpc>
              <a:buNone/>
            </a:pPr>
            <a:r>
              <a:rPr lang="en-US" sz="1030" dirty="0">
                <a:solidFill>
                  <a:srgbClr val="1C1C1C"/>
                </a:solidFill>
                <a:latin typeface="Calibri" pitchFamily="34" charset="0"/>
                <a:ea typeface="Calibri" pitchFamily="34" charset="-122"/>
                <a:cs typeface="Calibri" pitchFamily="34" charset="-120"/>
              </a:rPr>
              <a:t>Market-linked (equity+debt mix)</a:t>
            </a:r>
            <a:endParaRPr lang="en-US" sz="1030" dirty="0"/>
          </a:p>
        </p:txBody>
      </p:sp>
      <p:sp>
        <p:nvSpPr>
          <p:cNvPr id="22" name="Shape 20"/>
          <p:cNvSpPr/>
          <p:nvPr/>
        </p:nvSpPr>
        <p:spPr>
          <a:xfrm>
            <a:off x="9418320" y="2148840"/>
            <a:ext cx="2286000" cy="621792"/>
          </a:xfrm>
          <a:prstGeom prst="rect">
            <a:avLst/>
          </a:prstGeom>
          <a:solidFill>
            <a:srgbClr val="FAFCFC"/>
          </a:solidFill>
          <a:ln w="12700">
            <a:solidFill>
              <a:srgbClr val="E3E9EA"/>
            </a:solidFill>
            <a:prstDash val="solid"/>
          </a:ln>
        </p:spPr>
        <p:txBody>
          <a:bodyPr/>
          <a:lstStyle/>
          <a:p>
            <a:endParaRPr lang="en-IN"/>
          </a:p>
        </p:txBody>
      </p:sp>
      <p:sp>
        <p:nvSpPr>
          <p:cNvPr id="23" name="Text 21"/>
          <p:cNvSpPr txBox="1"/>
          <p:nvPr/>
        </p:nvSpPr>
        <p:spPr>
          <a:xfrm>
            <a:off x="9491472" y="2148840"/>
            <a:ext cx="2139696" cy="621792"/>
          </a:xfrm>
          <a:prstGeom prst="rect">
            <a:avLst/>
          </a:prstGeom>
          <a:noFill/>
          <a:ln/>
        </p:spPr>
        <p:txBody>
          <a:bodyPr wrap="square" lIns="0" tIns="0" rIns="0" bIns="0" rtlCol="0" anchor="ctr"/>
          <a:lstStyle/>
          <a:p>
            <a:pPr marL="0" indent="0" algn="ctr">
              <a:lnSpc>
                <a:spcPct val="102000"/>
              </a:lnSpc>
              <a:buNone/>
            </a:pPr>
            <a:r>
              <a:rPr lang="en-US" sz="1030" dirty="0">
                <a:solidFill>
                  <a:srgbClr val="1C1C1C"/>
                </a:solidFill>
                <a:latin typeface="Calibri" pitchFamily="34" charset="0"/>
                <a:ea typeface="Calibri" pitchFamily="34" charset="-122"/>
                <a:cs typeface="Calibri" pitchFamily="34" charset="-120"/>
              </a:rPr>
              <a:t>Fixed, government-set</a:t>
            </a:r>
            <a:endParaRPr lang="en-US" sz="1030" dirty="0"/>
          </a:p>
        </p:txBody>
      </p:sp>
      <p:sp>
        <p:nvSpPr>
          <p:cNvPr id="24" name="Shape 22"/>
          <p:cNvSpPr/>
          <p:nvPr/>
        </p:nvSpPr>
        <p:spPr>
          <a:xfrm>
            <a:off x="548640" y="2770632"/>
            <a:ext cx="1874520" cy="621792"/>
          </a:xfrm>
          <a:prstGeom prst="rect">
            <a:avLst/>
          </a:prstGeom>
          <a:solidFill>
            <a:srgbClr val="F3F7F8"/>
          </a:solidFill>
          <a:ln w="12700">
            <a:solidFill>
              <a:srgbClr val="E3E9EA"/>
            </a:solidFill>
            <a:prstDash val="solid"/>
          </a:ln>
        </p:spPr>
        <p:txBody>
          <a:bodyPr/>
          <a:lstStyle/>
          <a:p>
            <a:endParaRPr lang="en-IN"/>
          </a:p>
        </p:txBody>
      </p:sp>
      <p:sp>
        <p:nvSpPr>
          <p:cNvPr id="25" name="Text 23"/>
          <p:cNvSpPr txBox="1"/>
          <p:nvPr/>
        </p:nvSpPr>
        <p:spPr>
          <a:xfrm>
            <a:off x="621792" y="2770632"/>
            <a:ext cx="1728216" cy="621792"/>
          </a:xfrm>
          <a:prstGeom prst="rect">
            <a:avLst/>
          </a:prstGeom>
          <a:noFill/>
          <a:ln/>
        </p:spPr>
        <p:txBody>
          <a:bodyPr wrap="square" lIns="0" tIns="0" rIns="0" bIns="0" rtlCol="0" anchor="ctr"/>
          <a:lstStyle/>
          <a:p>
            <a:pPr marL="0" indent="0" algn="l">
              <a:lnSpc>
                <a:spcPct val="102000"/>
              </a:lnSpc>
              <a:buNone/>
            </a:pPr>
            <a:r>
              <a:rPr lang="en-US" sz="1030" b="1" dirty="0">
                <a:solidFill>
                  <a:srgbClr val="1C1C1C"/>
                </a:solidFill>
                <a:latin typeface="Calibri" pitchFamily="34" charset="0"/>
                <a:ea typeface="Calibri" pitchFamily="34" charset="-122"/>
                <a:cs typeface="Calibri" pitchFamily="34" charset="-120"/>
              </a:rPr>
              <a:t>Typical return range*</a:t>
            </a:r>
            <a:endParaRPr lang="en-US" sz="1030" dirty="0"/>
          </a:p>
        </p:txBody>
      </p:sp>
      <p:sp>
        <p:nvSpPr>
          <p:cNvPr id="26" name="Shape 24"/>
          <p:cNvSpPr/>
          <p:nvPr/>
        </p:nvSpPr>
        <p:spPr>
          <a:xfrm>
            <a:off x="2423160" y="2770632"/>
            <a:ext cx="2331720" cy="621792"/>
          </a:xfrm>
          <a:prstGeom prst="rect">
            <a:avLst/>
          </a:prstGeom>
          <a:solidFill>
            <a:srgbClr val="FFFFFF"/>
          </a:solidFill>
          <a:ln w="12700">
            <a:solidFill>
              <a:srgbClr val="E3E9EA"/>
            </a:solidFill>
            <a:prstDash val="solid"/>
          </a:ln>
        </p:spPr>
        <p:txBody>
          <a:bodyPr/>
          <a:lstStyle/>
          <a:p>
            <a:endParaRPr lang="en-IN"/>
          </a:p>
        </p:txBody>
      </p:sp>
      <p:sp>
        <p:nvSpPr>
          <p:cNvPr id="27" name="Text 25"/>
          <p:cNvSpPr txBox="1"/>
          <p:nvPr/>
        </p:nvSpPr>
        <p:spPr>
          <a:xfrm>
            <a:off x="2496312" y="2770632"/>
            <a:ext cx="2185416" cy="621792"/>
          </a:xfrm>
          <a:prstGeom prst="rect">
            <a:avLst/>
          </a:prstGeom>
          <a:noFill/>
          <a:ln/>
        </p:spPr>
        <p:txBody>
          <a:bodyPr wrap="square" lIns="0" tIns="0" rIns="0" bIns="0" rtlCol="0" anchor="ctr"/>
          <a:lstStyle/>
          <a:p>
            <a:pPr marL="0" indent="0" algn="ctr">
              <a:lnSpc>
                <a:spcPct val="102000"/>
              </a:lnSpc>
              <a:buNone/>
            </a:pPr>
            <a:r>
              <a:rPr lang="en-US" sz="1030" dirty="0">
                <a:solidFill>
                  <a:srgbClr val="1C1C1C"/>
                </a:solidFill>
                <a:latin typeface="Calibri" pitchFamily="34" charset="0"/>
                <a:ea typeface="Calibri" pitchFamily="34" charset="-122"/>
                <a:cs typeface="Calibri" pitchFamily="34" charset="-120"/>
              </a:rPr>
              <a:t>10–15% (equity, long-term)</a:t>
            </a:r>
            <a:endParaRPr lang="en-US" sz="1030" dirty="0"/>
          </a:p>
        </p:txBody>
      </p:sp>
      <p:sp>
        <p:nvSpPr>
          <p:cNvPr id="28" name="Shape 26"/>
          <p:cNvSpPr/>
          <p:nvPr/>
        </p:nvSpPr>
        <p:spPr>
          <a:xfrm>
            <a:off x="4754880" y="2770632"/>
            <a:ext cx="2331720" cy="621792"/>
          </a:xfrm>
          <a:prstGeom prst="rect">
            <a:avLst/>
          </a:prstGeom>
          <a:solidFill>
            <a:srgbClr val="FFFFFF"/>
          </a:solidFill>
          <a:ln w="12700">
            <a:solidFill>
              <a:srgbClr val="E3E9EA"/>
            </a:solidFill>
            <a:prstDash val="solid"/>
          </a:ln>
        </p:spPr>
        <p:txBody>
          <a:bodyPr/>
          <a:lstStyle/>
          <a:p>
            <a:endParaRPr lang="en-IN"/>
          </a:p>
        </p:txBody>
      </p:sp>
      <p:sp>
        <p:nvSpPr>
          <p:cNvPr id="29" name="Text 27"/>
          <p:cNvSpPr txBox="1"/>
          <p:nvPr/>
        </p:nvSpPr>
        <p:spPr>
          <a:xfrm>
            <a:off x="4828032" y="2770632"/>
            <a:ext cx="2185416" cy="621792"/>
          </a:xfrm>
          <a:prstGeom prst="rect">
            <a:avLst/>
          </a:prstGeom>
          <a:noFill/>
          <a:ln/>
        </p:spPr>
        <p:txBody>
          <a:bodyPr wrap="square" lIns="0" tIns="0" rIns="0" bIns="0" rtlCol="0" anchor="ctr"/>
          <a:lstStyle/>
          <a:p>
            <a:pPr marL="0" indent="0" algn="ctr">
              <a:lnSpc>
                <a:spcPct val="102000"/>
              </a:lnSpc>
              <a:buNone/>
            </a:pPr>
            <a:r>
              <a:rPr lang="en-US" sz="1030" dirty="0">
                <a:solidFill>
                  <a:srgbClr val="1C1C1C"/>
                </a:solidFill>
                <a:latin typeface="Calibri" pitchFamily="34" charset="0"/>
                <a:ea typeface="Calibri" pitchFamily="34" charset="-122"/>
                <a:cs typeface="Calibri" pitchFamily="34" charset="-120"/>
              </a:rPr>
              <a:t>~6.5–7.5% (current)</a:t>
            </a:r>
            <a:endParaRPr lang="en-US" sz="1030" dirty="0"/>
          </a:p>
        </p:txBody>
      </p:sp>
      <p:sp>
        <p:nvSpPr>
          <p:cNvPr id="30" name="Shape 28"/>
          <p:cNvSpPr/>
          <p:nvPr/>
        </p:nvSpPr>
        <p:spPr>
          <a:xfrm>
            <a:off x="7086600" y="2770632"/>
            <a:ext cx="2331720" cy="621792"/>
          </a:xfrm>
          <a:prstGeom prst="rect">
            <a:avLst/>
          </a:prstGeom>
          <a:solidFill>
            <a:srgbClr val="FFFFFF"/>
          </a:solidFill>
          <a:ln w="12700">
            <a:solidFill>
              <a:srgbClr val="E3E9EA"/>
            </a:solidFill>
            <a:prstDash val="solid"/>
          </a:ln>
        </p:spPr>
        <p:txBody>
          <a:bodyPr/>
          <a:lstStyle/>
          <a:p>
            <a:endParaRPr lang="en-IN"/>
          </a:p>
        </p:txBody>
      </p:sp>
      <p:sp>
        <p:nvSpPr>
          <p:cNvPr id="31" name="Text 29"/>
          <p:cNvSpPr txBox="1"/>
          <p:nvPr/>
        </p:nvSpPr>
        <p:spPr>
          <a:xfrm>
            <a:off x="7159752" y="2770632"/>
            <a:ext cx="2185416" cy="621792"/>
          </a:xfrm>
          <a:prstGeom prst="rect">
            <a:avLst/>
          </a:prstGeom>
          <a:noFill/>
          <a:ln/>
        </p:spPr>
        <p:txBody>
          <a:bodyPr wrap="square" lIns="0" tIns="0" rIns="0" bIns="0" rtlCol="0" anchor="ctr"/>
          <a:lstStyle/>
          <a:p>
            <a:pPr marL="0" indent="0" algn="ctr">
              <a:lnSpc>
                <a:spcPct val="102000"/>
              </a:lnSpc>
              <a:buNone/>
            </a:pPr>
            <a:r>
              <a:rPr lang="en-US" sz="1030" dirty="0">
                <a:solidFill>
                  <a:srgbClr val="1C1C1C"/>
                </a:solidFill>
                <a:latin typeface="Calibri" pitchFamily="34" charset="0"/>
                <a:ea typeface="Calibri" pitchFamily="34" charset="-122"/>
                <a:cs typeface="Calibri" pitchFamily="34" charset="-120"/>
              </a:rPr>
              <a:t>~9–12% (blended)</a:t>
            </a:r>
            <a:endParaRPr lang="en-US" sz="1030" dirty="0"/>
          </a:p>
        </p:txBody>
      </p:sp>
      <p:sp>
        <p:nvSpPr>
          <p:cNvPr id="32" name="Shape 30"/>
          <p:cNvSpPr/>
          <p:nvPr/>
        </p:nvSpPr>
        <p:spPr>
          <a:xfrm>
            <a:off x="9418320" y="2770632"/>
            <a:ext cx="2286000" cy="621792"/>
          </a:xfrm>
          <a:prstGeom prst="rect">
            <a:avLst/>
          </a:prstGeom>
          <a:solidFill>
            <a:srgbClr val="FFFFFF"/>
          </a:solidFill>
          <a:ln w="12700">
            <a:solidFill>
              <a:srgbClr val="E3E9EA"/>
            </a:solidFill>
            <a:prstDash val="solid"/>
          </a:ln>
        </p:spPr>
        <p:txBody>
          <a:bodyPr/>
          <a:lstStyle/>
          <a:p>
            <a:endParaRPr lang="en-IN"/>
          </a:p>
        </p:txBody>
      </p:sp>
      <p:sp>
        <p:nvSpPr>
          <p:cNvPr id="33" name="Text 31"/>
          <p:cNvSpPr txBox="1"/>
          <p:nvPr/>
        </p:nvSpPr>
        <p:spPr>
          <a:xfrm>
            <a:off x="9491472" y="2770632"/>
            <a:ext cx="2139696" cy="621792"/>
          </a:xfrm>
          <a:prstGeom prst="rect">
            <a:avLst/>
          </a:prstGeom>
          <a:noFill/>
          <a:ln/>
        </p:spPr>
        <p:txBody>
          <a:bodyPr wrap="square" lIns="0" tIns="0" rIns="0" bIns="0" rtlCol="0" anchor="ctr"/>
          <a:lstStyle/>
          <a:p>
            <a:pPr marL="0" indent="0" algn="ctr">
              <a:lnSpc>
                <a:spcPct val="102000"/>
              </a:lnSpc>
              <a:buNone/>
            </a:pPr>
            <a:r>
              <a:rPr lang="en-US" sz="1030" dirty="0">
                <a:solidFill>
                  <a:srgbClr val="1C1C1C"/>
                </a:solidFill>
                <a:latin typeface="Calibri" pitchFamily="34" charset="0"/>
                <a:ea typeface="Calibri" pitchFamily="34" charset="-122"/>
                <a:cs typeface="Calibri" pitchFamily="34" charset="-120"/>
              </a:rPr>
              <a:t>7.1% (current, govt-set)</a:t>
            </a:r>
            <a:endParaRPr lang="en-US" sz="1030" dirty="0"/>
          </a:p>
        </p:txBody>
      </p:sp>
      <p:sp>
        <p:nvSpPr>
          <p:cNvPr id="34" name="Shape 32"/>
          <p:cNvSpPr/>
          <p:nvPr/>
        </p:nvSpPr>
        <p:spPr>
          <a:xfrm>
            <a:off x="548640" y="3392424"/>
            <a:ext cx="1874520" cy="548640"/>
          </a:xfrm>
          <a:prstGeom prst="rect">
            <a:avLst/>
          </a:prstGeom>
          <a:solidFill>
            <a:srgbClr val="F3F7F8"/>
          </a:solidFill>
          <a:ln w="12700">
            <a:solidFill>
              <a:srgbClr val="E3E9EA"/>
            </a:solidFill>
            <a:prstDash val="solid"/>
          </a:ln>
        </p:spPr>
        <p:txBody>
          <a:bodyPr/>
          <a:lstStyle/>
          <a:p>
            <a:endParaRPr lang="en-IN"/>
          </a:p>
        </p:txBody>
      </p:sp>
      <p:sp>
        <p:nvSpPr>
          <p:cNvPr id="35" name="Text 33"/>
          <p:cNvSpPr txBox="1"/>
          <p:nvPr/>
        </p:nvSpPr>
        <p:spPr>
          <a:xfrm>
            <a:off x="621792" y="3392424"/>
            <a:ext cx="1728216" cy="548640"/>
          </a:xfrm>
          <a:prstGeom prst="rect">
            <a:avLst/>
          </a:prstGeom>
          <a:noFill/>
          <a:ln/>
        </p:spPr>
        <p:txBody>
          <a:bodyPr wrap="square" lIns="0" tIns="0" rIns="0" bIns="0" rtlCol="0" anchor="ctr"/>
          <a:lstStyle/>
          <a:p>
            <a:pPr marL="0" indent="0" algn="l">
              <a:lnSpc>
                <a:spcPct val="102000"/>
              </a:lnSpc>
              <a:buNone/>
            </a:pPr>
            <a:r>
              <a:rPr lang="en-US" sz="1030" b="1" dirty="0">
                <a:solidFill>
                  <a:srgbClr val="1C1C1C"/>
                </a:solidFill>
                <a:latin typeface="Calibri" pitchFamily="34" charset="0"/>
                <a:ea typeface="Calibri" pitchFamily="34" charset="-122"/>
                <a:cs typeface="Calibri" pitchFamily="34" charset="-120"/>
              </a:rPr>
              <a:t>Risk</a:t>
            </a:r>
            <a:endParaRPr lang="en-US" sz="1030" dirty="0"/>
          </a:p>
        </p:txBody>
      </p:sp>
      <p:sp>
        <p:nvSpPr>
          <p:cNvPr id="36" name="Shape 34"/>
          <p:cNvSpPr/>
          <p:nvPr/>
        </p:nvSpPr>
        <p:spPr>
          <a:xfrm>
            <a:off x="2423160" y="3392424"/>
            <a:ext cx="2331720" cy="548640"/>
          </a:xfrm>
          <a:prstGeom prst="rect">
            <a:avLst/>
          </a:prstGeom>
          <a:solidFill>
            <a:srgbClr val="FAFCFC"/>
          </a:solidFill>
          <a:ln w="12700">
            <a:solidFill>
              <a:srgbClr val="E3E9EA"/>
            </a:solidFill>
            <a:prstDash val="solid"/>
          </a:ln>
        </p:spPr>
        <p:txBody>
          <a:bodyPr/>
          <a:lstStyle/>
          <a:p>
            <a:endParaRPr lang="en-IN"/>
          </a:p>
        </p:txBody>
      </p:sp>
      <p:sp>
        <p:nvSpPr>
          <p:cNvPr id="37" name="Text 35"/>
          <p:cNvSpPr txBox="1"/>
          <p:nvPr/>
        </p:nvSpPr>
        <p:spPr>
          <a:xfrm>
            <a:off x="2496312" y="3392424"/>
            <a:ext cx="2185416" cy="548640"/>
          </a:xfrm>
          <a:prstGeom prst="rect">
            <a:avLst/>
          </a:prstGeom>
          <a:noFill/>
          <a:ln/>
        </p:spPr>
        <p:txBody>
          <a:bodyPr wrap="square" lIns="0" tIns="0" rIns="0" bIns="0" rtlCol="0" anchor="ctr"/>
          <a:lstStyle/>
          <a:p>
            <a:pPr marL="0" indent="0" algn="ctr">
              <a:lnSpc>
                <a:spcPct val="102000"/>
              </a:lnSpc>
              <a:buNone/>
            </a:pPr>
            <a:r>
              <a:rPr lang="en-US" sz="1030" dirty="0">
                <a:solidFill>
                  <a:srgbClr val="1C1C1C"/>
                </a:solidFill>
                <a:latin typeface="Calibri" pitchFamily="34" charset="0"/>
                <a:ea typeface="Calibri" pitchFamily="34" charset="-122"/>
                <a:cs typeface="Calibri" pitchFamily="34" charset="-120"/>
              </a:rPr>
              <a:t>Low–High (by category)</a:t>
            </a:r>
            <a:endParaRPr lang="en-US" sz="1030" dirty="0"/>
          </a:p>
        </p:txBody>
      </p:sp>
      <p:sp>
        <p:nvSpPr>
          <p:cNvPr id="38" name="Shape 36"/>
          <p:cNvSpPr/>
          <p:nvPr/>
        </p:nvSpPr>
        <p:spPr>
          <a:xfrm>
            <a:off x="4754880" y="3392424"/>
            <a:ext cx="2331720" cy="548640"/>
          </a:xfrm>
          <a:prstGeom prst="rect">
            <a:avLst/>
          </a:prstGeom>
          <a:solidFill>
            <a:srgbClr val="FAFCFC"/>
          </a:solidFill>
          <a:ln w="12700">
            <a:solidFill>
              <a:srgbClr val="E3E9EA"/>
            </a:solidFill>
            <a:prstDash val="solid"/>
          </a:ln>
        </p:spPr>
        <p:txBody>
          <a:bodyPr/>
          <a:lstStyle/>
          <a:p>
            <a:endParaRPr lang="en-IN"/>
          </a:p>
        </p:txBody>
      </p:sp>
      <p:sp>
        <p:nvSpPr>
          <p:cNvPr id="39" name="Text 37"/>
          <p:cNvSpPr txBox="1"/>
          <p:nvPr/>
        </p:nvSpPr>
        <p:spPr>
          <a:xfrm>
            <a:off x="4828032" y="3392424"/>
            <a:ext cx="2185416" cy="548640"/>
          </a:xfrm>
          <a:prstGeom prst="rect">
            <a:avLst/>
          </a:prstGeom>
          <a:noFill/>
          <a:ln/>
        </p:spPr>
        <p:txBody>
          <a:bodyPr wrap="square" lIns="0" tIns="0" rIns="0" bIns="0" rtlCol="0" anchor="ctr"/>
          <a:lstStyle/>
          <a:p>
            <a:pPr marL="0" indent="0" algn="ctr">
              <a:lnSpc>
                <a:spcPct val="102000"/>
              </a:lnSpc>
              <a:buNone/>
            </a:pPr>
            <a:r>
              <a:rPr lang="en-US" sz="1030" dirty="0">
                <a:solidFill>
                  <a:srgbClr val="1C1C1C"/>
                </a:solidFill>
                <a:latin typeface="Calibri" pitchFamily="34" charset="0"/>
                <a:ea typeface="Calibri" pitchFamily="34" charset="-122"/>
                <a:cs typeface="Calibri" pitchFamily="34" charset="-120"/>
              </a:rPr>
              <a:t>Low</a:t>
            </a:r>
            <a:endParaRPr lang="en-US" sz="1030" dirty="0"/>
          </a:p>
        </p:txBody>
      </p:sp>
      <p:sp>
        <p:nvSpPr>
          <p:cNvPr id="40" name="Shape 38"/>
          <p:cNvSpPr/>
          <p:nvPr/>
        </p:nvSpPr>
        <p:spPr>
          <a:xfrm>
            <a:off x="7086600" y="3392424"/>
            <a:ext cx="2331720" cy="548640"/>
          </a:xfrm>
          <a:prstGeom prst="rect">
            <a:avLst/>
          </a:prstGeom>
          <a:solidFill>
            <a:srgbClr val="FAFCFC"/>
          </a:solidFill>
          <a:ln w="12700">
            <a:solidFill>
              <a:srgbClr val="E3E9EA"/>
            </a:solidFill>
            <a:prstDash val="solid"/>
          </a:ln>
        </p:spPr>
        <p:txBody>
          <a:bodyPr/>
          <a:lstStyle/>
          <a:p>
            <a:endParaRPr lang="en-IN"/>
          </a:p>
        </p:txBody>
      </p:sp>
      <p:sp>
        <p:nvSpPr>
          <p:cNvPr id="41" name="Text 39"/>
          <p:cNvSpPr txBox="1"/>
          <p:nvPr/>
        </p:nvSpPr>
        <p:spPr>
          <a:xfrm>
            <a:off x="7159752" y="3392424"/>
            <a:ext cx="2185416" cy="548640"/>
          </a:xfrm>
          <a:prstGeom prst="rect">
            <a:avLst/>
          </a:prstGeom>
          <a:noFill/>
          <a:ln/>
        </p:spPr>
        <p:txBody>
          <a:bodyPr wrap="square" lIns="0" tIns="0" rIns="0" bIns="0" rtlCol="0" anchor="ctr"/>
          <a:lstStyle/>
          <a:p>
            <a:pPr marL="0" indent="0" algn="ctr">
              <a:lnSpc>
                <a:spcPct val="102000"/>
              </a:lnSpc>
              <a:buNone/>
            </a:pPr>
            <a:r>
              <a:rPr lang="en-US" sz="1030" dirty="0">
                <a:solidFill>
                  <a:srgbClr val="1C1C1C"/>
                </a:solidFill>
                <a:latin typeface="Calibri" pitchFamily="34" charset="0"/>
                <a:ea typeface="Calibri" pitchFamily="34" charset="-122"/>
                <a:cs typeface="Calibri" pitchFamily="34" charset="-120"/>
              </a:rPr>
              <a:t>Low–Moderate</a:t>
            </a:r>
            <a:endParaRPr lang="en-US" sz="1030" dirty="0"/>
          </a:p>
        </p:txBody>
      </p:sp>
      <p:sp>
        <p:nvSpPr>
          <p:cNvPr id="42" name="Shape 40"/>
          <p:cNvSpPr/>
          <p:nvPr/>
        </p:nvSpPr>
        <p:spPr>
          <a:xfrm>
            <a:off x="9418320" y="3392424"/>
            <a:ext cx="2286000" cy="548640"/>
          </a:xfrm>
          <a:prstGeom prst="rect">
            <a:avLst/>
          </a:prstGeom>
          <a:solidFill>
            <a:srgbClr val="FAFCFC"/>
          </a:solidFill>
          <a:ln w="12700">
            <a:solidFill>
              <a:srgbClr val="E3E9EA"/>
            </a:solidFill>
            <a:prstDash val="solid"/>
          </a:ln>
        </p:spPr>
        <p:txBody>
          <a:bodyPr/>
          <a:lstStyle/>
          <a:p>
            <a:endParaRPr lang="en-IN"/>
          </a:p>
        </p:txBody>
      </p:sp>
      <p:sp>
        <p:nvSpPr>
          <p:cNvPr id="43" name="Text 41"/>
          <p:cNvSpPr txBox="1"/>
          <p:nvPr/>
        </p:nvSpPr>
        <p:spPr>
          <a:xfrm>
            <a:off x="9491472" y="3392424"/>
            <a:ext cx="2139696" cy="548640"/>
          </a:xfrm>
          <a:prstGeom prst="rect">
            <a:avLst/>
          </a:prstGeom>
          <a:noFill/>
          <a:ln/>
        </p:spPr>
        <p:txBody>
          <a:bodyPr wrap="square" lIns="0" tIns="0" rIns="0" bIns="0" rtlCol="0" anchor="ctr"/>
          <a:lstStyle/>
          <a:p>
            <a:pPr marL="0" indent="0" algn="ctr">
              <a:lnSpc>
                <a:spcPct val="102000"/>
              </a:lnSpc>
              <a:buNone/>
            </a:pPr>
            <a:r>
              <a:rPr lang="en-US" sz="1030" dirty="0">
                <a:solidFill>
                  <a:srgbClr val="1C1C1C"/>
                </a:solidFill>
                <a:latin typeface="Calibri" pitchFamily="34" charset="0"/>
                <a:ea typeface="Calibri" pitchFamily="34" charset="-122"/>
                <a:cs typeface="Calibri" pitchFamily="34" charset="-120"/>
              </a:rPr>
              <a:t>Very low</a:t>
            </a:r>
            <a:endParaRPr lang="en-US" sz="1030" dirty="0"/>
          </a:p>
        </p:txBody>
      </p:sp>
      <p:sp>
        <p:nvSpPr>
          <p:cNvPr id="44" name="Shape 42"/>
          <p:cNvSpPr/>
          <p:nvPr/>
        </p:nvSpPr>
        <p:spPr>
          <a:xfrm>
            <a:off x="548640" y="3941064"/>
            <a:ext cx="1874520" cy="548640"/>
          </a:xfrm>
          <a:prstGeom prst="rect">
            <a:avLst/>
          </a:prstGeom>
          <a:solidFill>
            <a:srgbClr val="F3F7F8"/>
          </a:solidFill>
          <a:ln w="12700">
            <a:solidFill>
              <a:srgbClr val="E3E9EA"/>
            </a:solidFill>
            <a:prstDash val="solid"/>
          </a:ln>
        </p:spPr>
        <p:txBody>
          <a:bodyPr/>
          <a:lstStyle/>
          <a:p>
            <a:endParaRPr lang="en-IN"/>
          </a:p>
        </p:txBody>
      </p:sp>
      <p:sp>
        <p:nvSpPr>
          <p:cNvPr id="45" name="Text 43"/>
          <p:cNvSpPr txBox="1"/>
          <p:nvPr/>
        </p:nvSpPr>
        <p:spPr>
          <a:xfrm>
            <a:off x="621792" y="3941064"/>
            <a:ext cx="1728216" cy="548640"/>
          </a:xfrm>
          <a:prstGeom prst="rect">
            <a:avLst/>
          </a:prstGeom>
          <a:noFill/>
          <a:ln/>
        </p:spPr>
        <p:txBody>
          <a:bodyPr wrap="square" lIns="0" tIns="0" rIns="0" bIns="0" rtlCol="0" anchor="ctr"/>
          <a:lstStyle/>
          <a:p>
            <a:pPr marL="0" indent="0" algn="l">
              <a:lnSpc>
                <a:spcPct val="102000"/>
              </a:lnSpc>
              <a:buNone/>
            </a:pPr>
            <a:r>
              <a:rPr lang="en-US" sz="1030" b="1" dirty="0">
                <a:solidFill>
                  <a:srgbClr val="1C1C1C"/>
                </a:solidFill>
                <a:latin typeface="Calibri" pitchFamily="34" charset="0"/>
                <a:ea typeface="Calibri" pitchFamily="34" charset="-122"/>
                <a:cs typeface="Calibri" pitchFamily="34" charset="-120"/>
              </a:rPr>
              <a:t>Liquidity</a:t>
            </a:r>
            <a:endParaRPr lang="en-US" sz="1030" dirty="0"/>
          </a:p>
        </p:txBody>
      </p:sp>
      <p:sp>
        <p:nvSpPr>
          <p:cNvPr id="46" name="Shape 44"/>
          <p:cNvSpPr/>
          <p:nvPr/>
        </p:nvSpPr>
        <p:spPr>
          <a:xfrm>
            <a:off x="2423160" y="3941064"/>
            <a:ext cx="2331720" cy="548640"/>
          </a:xfrm>
          <a:prstGeom prst="rect">
            <a:avLst/>
          </a:prstGeom>
          <a:solidFill>
            <a:srgbClr val="FFFFFF"/>
          </a:solidFill>
          <a:ln w="12700">
            <a:solidFill>
              <a:srgbClr val="E3E9EA"/>
            </a:solidFill>
            <a:prstDash val="solid"/>
          </a:ln>
        </p:spPr>
        <p:txBody>
          <a:bodyPr/>
          <a:lstStyle/>
          <a:p>
            <a:endParaRPr lang="en-IN"/>
          </a:p>
        </p:txBody>
      </p:sp>
      <p:sp>
        <p:nvSpPr>
          <p:cNvPr id="47" name="Text 45"/>
          <p:cNvSpPr txBox="1"/>
          <p:nvPr/>
        </p:nvSpPr>
        <p:spPr>
          <a:xfrm>
            <a:off x="2496312" y="3941064"/>
            <a:ext cx="2185416" cy="548640"/>
          </a:xfrm>
          <a:prstGeom prst="rect">
            <a:avLst/>
          </a:prstGeom>
          <a:noFill/>
          <a:ln/>
        </p:spPr>
        <p:txBody>
          <a:bodyPr wrap="square" lIns="0" tIns="0" rIns="0" bIns="0" rtlCol="0" anchor="ctr"/>
          <a:lstStyle/>
          <a:p>
            <a:pPr marL="0" indent="0" algn="ctr">
              <a:lnSpc>
                <a:spcPct val="102000"/>
              </a:lnSpc>
              <a:buNone/>
            </a:pPr>
            <a:r>
              <a:rPr lang="en-US" sz="1030" dirty="0">
                <a:solidFill>
                  <a:srgbClr val="1C1C1C"/>
                </a:solidFill>
                <a:latin typeface="Calibri" pitchFamily="34" charset="0"/>
                <a:ea typeface="Calibri" pitchFamily="34" charset="-122"/>
                <a:cs typeface="Calibri" pitchFamily="34" charset="-120"/>
              </a:rPr>
              <a:t>High (open-ended)</a:t>
            </a:r>
            <a:endParaRPr lang="en-US" sz="1030" dirty="0"/>
          </a:p>
        </p:txBody>
      </p:sp>
      <p:sp>
        <p:nvSpPr>
          <p:cNvPr id="48" name="Shape 46"/>
          <p:cNvSpPr/>
          <p:nvPr/>
        </p:nvSpPr>
        <p:spPr>
          <a:xfrm>
            <a:off x="4754880" y="3941064"/>
            <a:ext cx="2331720" cy="548640"/>
          </a:xfrm>
          <a:prstGeom prst="rect">
            <a:avLst/>
          </a:prstGeom>
          <a:solidFill>
            <a:srgbClr val="FFFFFF"/>
          </a:solidFill>
          <a:ln w="12700">
            <a:solidFill>
              <a:srgbClr val="E3E9EA"/>
            </a:solidFill>
            <a:prstDash val="solid"/>
          </a:ln>
        </p:spPr>
        <p:txBody>
          <a:bodyPr/>
          <a:lstStyle/>
          <a:p>
            <a:endParaRPr lang="en-IN"/>
          </a:p>
        </p:txBody>
      </p:sp>
      <p:sp>
        <p:nvSpPr>
          <p:cNvPr id="49" name="Text 47"/>
          <p:cNvSpPr txBox="1"/>
          <p:nvPr/>
        </p:nvSpPr>
        <p:spPr>
          <a:xfrm>
            <a:off x="4828032" y="3941064"/>
            <a:ext cx="2185416" cy="548640"/>
          </a:xfrm>
          <a:prstGeom prst="rect">
            <a:avLst/>
          </a:prstGeom>
          <a:noFill/>
          <a:ln/>
        </p:spPr>
        <p:txBody>
          <a:bodyPr wrap="square" lIns="0" tIns="0" rIns="0" bIns="0" rtlCol="0" anchor="ctr"/>
          <a:lstStyle/>
          <a:p>
            <a:pPr marL="0" indent="0" algn="ctr">
              <a:lnSpc>
                <a:spcPct val="102000"/>
              </a:lnSpc>
              <a:buNone/>
            </a:pPr>
            <a:r>
              <a:rPr lang="en-US" sz="1030" dirty="0">
                <a:solidFill>
                  <a:srgbClr val="1C1C1C"/>
                </a:solidFill>
                <a:latin typeface="Calibri" pitchFamily="34" charset="0"/>
                <a:ea typeface="Calibri" pitchFamily="34" charset="-122"/>
                <a:cs typeface="Calibri" pitchFamily="34" charset="-120"/>
              </a:rPr>
              <a:t>Moderate (penalty on early exit)</a:t>
            </a:r>
            <a:endParaRPr lang="en-US" sz="1030" dirty="0"/>
          </a:p>
        </p:txBody>
      </p:sp>
      <p:sp>
        <p:nvSpPr>
          <p:cNvPr id="50" name="Shape 48"/>
          <p:cNvSpPr/>
          <p:nvPr/>
        </p:nvSpPr>
        <p:spPr>
          <a:xfrm>
            <a:off x="7086600" y="3941064"/>
            <a:ext cx="2331720" cy="548640"/>
          </a:xfrm>
          <a:prstGeom prst="rect">
            <a:avLst/>
          </a:prstGeom>
          <a:solidFill>
            <a:srgbClr val="FFFFFF"/>
          </a:solidFill>
          <a:ln w="12700">
            <a:solidFill>
              <a:srgbClr val="E3E9EA"/>
            </a:solidFill>
            <a:prstDash val="solid"/>
          </a:ln>
        </p:spPr>
        <p:txBody>
          <a:bodyPr/>
          <a:lstStyle/>
          <a:p>
            <a:endParaRPr lang="en-IN"/>
          </a:p>
        </p:txBody>
      </p:sp>
      <p:sp>
        <p:nvSpPr>
          <p:cNvPr id="51" name="Text 49"/>
          <p:cNvSpPr txBox="1"/>
          <p:nvPr/>
        </p:nvSpPr>
        <p:spPr>
          <a:xfrm>
            <a:off x="7159752" y="3941064"/>
            <a:ext cx="2185416" cy="548640"/>
          </a:xfrm>
          <a:prstGeom prst="rect">
            <a:avLst/>
          </a:prstGeom>
          <a:noFill/>
          <a:ln/>
        </p:spPr>
        <p:txBody>
          <a:bodyPr wrap="square" lIns="0" tIns="0" rIns="0" bIns="0" rtlCol="0" anchor="ctr"/>
          <a:lstStyle/>
          <a:p>
            <a:pPr marL="0" indent="0" algn="ctr">
              <a:lnSpc>
                <a:spcPct val="102000"/>
              </a:lnSpc>
              <a:buNone/>
            </a:pPr>
            <a:r>
              <a:rPr lang="en-US" sz="1030" dirty="0">
                <a:solidFill>
                  <a:srgbClr val="1C1C1C"/>
                </a:solidFill>
                <a:latin typeface="Calibri" pitchFamily="34" charset="0"/>
                <a:ea typeface="Calibri" pitchFamily="34" charset="-122"/>
                <a:cs typeface="Calibri" pitchFamily="34" charset="-120"/>
              </a:rPr>
              <a:t>Low (locked till retirement)</a:t>
            </a:r>
            <a:endParaRPr lang="en-US" sz="1030" dirty="0"/>
          </a:p>
        </p:txBody>
      </p:sp>
      <p:sp>
        <p:nvSpPr>
          <p:cNvPr id="52" name="Shape 50"/>
          <p:cNvSpPr/>
          <p:nvPr/>
        </p:nvSpPr>
        <p:spPr>
          <a:xfrm>
            <a:off x="9418320" y="3941064"/>
            <a:ext cx="2286000" cy="548640"/>
          </a:xfrm>
          <a:prstGeom prst="rect">
            <a:avLst/>
          </a:prstGeom>
          <a:solidFill>
            <a:srgbClr val="FFFFFF"/>
          </a:solidFill>
          <a:ln w="12700">
            <a:solidFill>
              <a:srgbClr val="E3E9EA"/>
            </a:solidFill>
            <a:prstDash val="solid"/>
          </a:ln>
        </p:spPr>
        <p:txBody>
          <a:bodyPr/>
          <a:lstStyle/>
          <a:p>
            <a:endParaRPr lang="en-IN"/>
          </a:p>
        </p:txBody>
      </p:sp>
      <p:sp>
        <p:nvSpPr>
          <p:cNvPr id="53" name="Text 51"/>
          <p:cNvSpPr txBox="1"/>
          <p:nvPr/>
        </p:nvSpPr>
        <p:spPr>
          <a:xfrm>
            <a:off x="9491472" y="3941064"/>
            <a:ext cx="2139696" cy="548640"/>
          </a:xfrm>
          <a:prstGeom prst="rect">
            <a:avLst/>
          </a:prstGeom>
          <a:noFill/>
          <a:ln/>
        </p:spPr>
        <p:txBody>
          <a:bodyPr wrap="square" lIns="0" tIns="0" rIns="0" bIns="0" rtlCol="0" anchor="ctr"/>
          <a:lstStyle/>
          <a:p>
            <a:pPr marL="0" indent="0" algn="ctr">
              <a:lnSpc>
                <a:spcPct val="102000"/>
              </a:lnSpc>
              <a:buNone/>
            </a:pPr>
            <a:r>
              <a:rPr lang="en-US" sz="1030" dirty="0">
                <a:solidFill>
                  <a:srgbClr val="1C1C1C"/>
                </a:solidFill>
                <a:latin typeface="Calibri" pitchFamily="34" charset="0"/>
                <a:ea typeface="Calibri" pitchFamily="34" charset="-122"/>
                <a:cs typeface="Calibri" pitchFamily="34" charset="-120"/>
              </a:rPr>
              <a:t>Low (long lock-in)</a:t>
            </a:r>
            <a:endParaRPr lang="en-US" sz="1030" dirty="0"/>
          </a:p>
        </p:txBody>
      </p:sp>
      <p:sp>
        <p:nvSpPr>
          <p:cNvPr id="54" name="Shape 52"/>
          <p:cNvSpPr/>
          <p:nvPr/>
        </p:nvSpPr>
        <p:spPr>
          <a:xfrm>
            <a:off x="548640" y="4489704"/>
            <a:ext cx="1874520" cy="713232"/>
          </a:xfrm>
          <a:prstGeom prst="rect">
            <a:avLst/>
          </a:prstGeom>
          <a:solidFill>
            <a:srgbClr val="F3F7F8"/>
          </a:solidFill>
          <a:ln w="12700">
            <a:solidFill>
              <a:srgbClr val="E3E9EA"/>
            </a:solidFill>
            <a:prstDash val="solid"/>
          </a:ln>
        </p:spPr>
        <p:txBody>
          <a:bodyPr/>
          <a:lstStyle/>
          <a:p>
            <a:endParaRPr lang="en-IN"/>
          </a:p>
        </p:txBody>
      </p:sp>
      <p:sp>
        <p:nvSpPr>
          <p:cNvPr id="55" name="Text 53"/>
          <p:cNvSpPr txBox="1"/>
          <p:nvPr/>
        </p:nvSpPr>
        <p:spPr>
          <a:xfrm>
            <a:off x="621792" y="4489704"/>
            <a:ext cx="1728216" cy="713232"/>
          </a:xfrm>
          <a:prstGeom prst="rect">
            <a:avLst/>
          </a:prstGeom>
          <a:noFill/>
          <a:ln/>
        </p:spPr>
        <p:txBody>
          <a:bodyPr wrap="square" lIns="0" tIns="0" rIns="0" bIns="0" rtlCol="0" anchor="ctr"/>
          <a:lstStyle/>
          <a:p>
            <a:pPr marL="0" indent="0" algn="l">
              <a:lnSpc>
                <a:spcPct val="102000"/>
              </a:lnSpc>
              <a:buNone/>
            </a:pPr>
            <a:r>
              <a:rPr lang="en-US" sz="1030" b="1" dirty="0">
                <a:solidFill>
                  <a:srgbClr val="1C1C1C"/>
                </a:solidFill>
                <a:latin typeface="Calibri" pitchFamily="34" charset="0"/>
                <a:ea typeface="Calibri" pitchFamily="34" charset="-122"/>
                <a:cs typeface="Calibri" pitchFamily="34" charset="-120"/>
              </a:rPr>
              <a:t>Tax deduction</a:t>
            </a:r>
            <a:endParaRPr lang="en-US" sz="1030" dirty="0"/>
          </a:p>
        </p:txBody>
      </p:sp>
      <p:sp>
        <p:nvSpPr>
          <p:cNvPr id="56" name="Shape 54"/>
          <p:cNvSpPr/>
          <p:nvPr/>
        </p:nvSpPr>
        <p:spPr>
          <a:xfrm>
            <a:off x="2423160" y="4489704"/>
            <a:ext cx="2331720" cy="713232"/>
          </a:xfrm>
          <a:prstGeom prst="rect">
            <a:avLst/>
          </a:prstGeom>
          <a:solidFill>
            <a:srgbClr val="FAFCFC"/>
          </a:solidFill>
          <a:ln w="12700">
            <a:solidFill>
              <a:srgbClr val="E3E9EA"/>
            </a:solidFill>
            <a:prstDash val="solid"/>
          </a:ln>
        </p:spPr>
        <p:txBody>
          <a:bodyPr/>
          <a:lstStyle/>
          <a:p>
            <a:endParaRPr lang="en-IN"/>
          </a:p>
        </p:txBody>
      </p:sp>
      <p:sp>
        <p:nvSpPr>
          <p:cNvPr id="57" name="Text 55"/>
          <p:cNvSpPr txBox="1"/>
          <p:nvPr/>
        </p:nvSpPr>
        <p:spPr>
          <a:xfrm>
            <a:off x="2496312" y="4489704"/>
            <a:ext cx="2185416" cy="713232"/>
          </a:xfrm>
          <a:prstGeom prst="rect">
            <a:avLst/>
          </a:prstGeom>
          <a:noFill/>
          <a:ln/>
        </p:spPr>
        <p:txBody>
          <a:bodyPr wrap="square" lIns="0" tIns="0" rIns="0" bIns="0" rtlCol="0" anchor="ctr"/>
          <a:lstStyle/>
          <a:p>
            <a:pPr marL="0" indent="0" algn="ctr">
              <a:lnSpc>
                <a:spcPct val="102000"/>
              </a:lnSpc>
              <a:buNone/>
            </a:pPr>
            <a:r>
              <a:rPr lang="en-US" sz="1030" dirty="0">
                <a:solidFill>
                  <a:srgbClr val="1C1C1C"/>
                </a:solidFill>
                <a:latin typeface="Calibri" pitchFamily="34" charset="0"/>
                <a:ea typeface="Calibri" pitchFamily="34" charset="-122"/>
                <a:cs typeface="Calibri" pitchFamily="34" charset="-120"/>
              </a:rPr>
              <a:t>Only ELSS qualifies (80C, ₹1.5L)</a:t>
            </a:r>
            <a:endParaRPr lang="en-US" sz="1030" dirty="0"/>
          </a:p>
        </p:txBody>
      </p:sp>
      <p:sp>
        <p:nvSpPr>
          <p:cNvPr id="58" name="Shape 56"/>
          <p:cNvSpPr/>
          <p:nvPr/>
        </p:nvSpPr>
        <p:spPr>
          <a:xfrm>
            <a:off x="4754880" y="4489704"/>
            <a:ext cx="2331720" cy="713232"/>
          </a:xfrm>
          <a:prstGeom prst="rect">
            <a:avLst/>
          </a:prstGeom>
          <a:solidFill>
            <a:srgbClr val="FAFCFC"/>
          </a:solidFill>
          <a:ln w="12700">
            <a:solidFill>
              <a:srgbClr val="E3E9EA"/>
            </a:solidFill>
            <a:prstDash val="solid"/>
          </a:ln>
        </p:spPr>
        <p:txBody>
          <a:bodyPr/>
          <a:lstStyle/>
          <a:p>
            <a:endParaRPr lang="en-IN"/>
          </a:p>
        </p:txBody>
      </p:sp>
      <p:sp>
        <p:nvSpPr>
          <p:cNvPr id="59" name="Text 57"/>
          <p:cNvSpPr txBox="1"/>
          <p:nvPr/>
        </p:nvSpPr>
        <p:spPr>
          <a:xfrm>
            <a:off x="4828032" y="4489704"/>
            <a:ext cx="2185416" cy="713232"/>
          </a:xfrm>
          <a:prstGeom prst="rect">
            <a:avLst/>
          </a:prstGeom>
          <a:noFill/>
          <a:ln/>
        </p:spPr>
        <p:txBody>
          <a:bodyPr wrap="square" lIns="0" tIns="0" rIns="0" bIns="0" rtlCol="0" anchor="ctr"/>
          <a:lstStyle/>
          <a:p>
            <a:pPr marL="0" indent="0" algn="ctr">
              <a:lnSpc>
                <a:spcPct val="102000"/>
              </a:lnSpc>
              <a:buNone/>
            </a:pPr>
            <a:r>
              <a:rPr lang="en-US" sz="1030" dirty="0">
                <a:solidFill>
                  <a:srgbClr val="1C1C1C"/>
                </a:solidFill>
                <a:latin typeface="Calibri" pitchFamily="34" charset="0"/>
                <a:ea typeface="Calibri" pitchFamily="34" charset="-122"/>
                <a:cs typeface="Calibri" pitchFamily="34" charset="-120"/>
              </a:rPr>
              <a:t>5-yr tax-saving FD only (80C)</a:t>
            </a:r>
            <a:endParaRPr lang="en-US" sz="1030" dirty="0"/>
          </a:p>
        </p:txBody>
      </p:sp>
      <p:sp>
        <p:nvSpPr>
          <p:cNvPr id="60" name="Shape 58"/>
          <p:cNvSpPr/>
          <p:nvPr/>
        </p:nvSpPr>
        <p:spPr>
          <a:xfrm>
            <a:off x="7086600" y="4489704"/>
            <a:ext cx="2331720" cy="713232"/>
          </a:xfrm>
          <a:prstGeom prst="rect">
            <a:avLst/>
          </a:prstGeom>
          <a:solidFill>
            <a:srgbClr val="FAFCFC"/>
          </a:solidFill>
          <a:ln w="12700">
            <a:solidFill>
              <a:srgbClr val="E3E9EA"/>
            </a:solidFill>
            <a:prstDash val="solid"/>
          </a:ln>
        </p:spPr>
        <p:txBody>
          <a:bodyPr/>
          <a:lstStyle/>
          <a:p>
            <a:endParaRPr lang="en-IN"/>
          </a:p>
        </p:txBody>
      </p:sp>
      <p:sp>
        <p:nvSpPr>
          <p:cNvPr id="61" name="Text 59"/>
          <p:cNvSpPr txBox="1"/>
          <p:nvPr/>
        </p:nvSpPr>
        <p:spPr>
          <a:xfrm>
            <a:off x="7159752" y="4489704"/>
            <a:ext cx="2185416" cy="713232"/>
          </a:xfrm>
          <a:prstGeom prst="rect">
            <a:avLst/>
          </a:prstGeom>
          <a:noFill/>
          <a:ln/>
        </p:spPr>
        <p:txBody>
          <a:bodyPr wrap="square" lIns="0" tIns="0" rIns="0" bIns="0" rtlCol="0" anchor="ctr"/>
          <a:lstStyle/>
          <a:p>
            <a:pPr marL="0" indent="0" algn="ctr">
              <a:lnSpc>
                <a:spcPct val="102000"/>
              </a:lnSpc>
              <a:buNone/>
            </a:pPr>
            <a:r>
              <a:rPr lang="en-US" sz="1030" dirty="0">
                <a:solidFill>
                  <a:srgbClr val="1C1C1C"/>
                </a:solidFill>
                <a:latin typeface="Calibri" pitchFamily="34" charset="0"/>
                <a:ea typeface="Calibri" pitchFamily="34" charset="-122"/>
                <a:cs typeface="Calibri" pitchFamily="34" charset="-120"/>
              </a:rPr>
              <a:t>80CCD(1B): extra ₹50,000</a:t>
            </a:r>
            <a:endParaRPr lang="en-US" sz="1030" dirty="0"/>
          </a:p>
        </p:txBody>
      </p:sp>
      <p:sp>
        <p:nvSpPr>
          <p:cNvPr id="62" name="Shape 60"/>
          <p:cNvSpPr/>
          <p:nvPr/>
        </p:nvSpPr>
        <p:spPr>
          <a:xfrm>
            <a:off x="9418320" y="4489704"/>
            <a:ext cx="2286000" cy="713232"/>
          </a:xfrm>
          <a:prstGeom prst="rect">
            <a:avLst/>
          </a:prstGeom>
          <a:solidFill>
            <a:srgbClr val="FAFCFC"/>
          </a:solidFill>
          <a:ln w="12700">
            <a:solidFill>
              <a:srgbClr val="E3E9EA"/>
            </a:solidFill>
            <a:prstDash val="solid"/>
          </a:ln>
        </p:spPr>
        <p:txBody>
          <a:bodyPr/>
          <a:lstStyle/>
          <a:p>
            <a:endParaRPr lang="en-IN"/>
          </a:p>
        </p:txBody>
      </p:sp>
      <p:sp>
        <p:nvSpPr>
          <p:cNvPr id="63" name="Text 61"/>
          <p:cNvSpPr txBox="1"/>
          <p:nvPr/>
        </p:nvSpPr>
        <p:spPr>
          <a:xfrm>
            <a:off x="9491472" y="4489704"/>
            <a:ext cx="2139696" cy="713232"/>
          </a:xfrm>
          <a:prstGeom prst="rect">
            <a:avLst/>
          </a:prstGeom>
          <a:noFill/>
          <a:ln/>
        </p:spPr>
        <p:txBody>
          <a:bodyPr wrap="square" lIns="0" tIns="0" rIns="0" bIns="0" rtlCol="0" anchor="ctr"/>
          <a:lstStyle/>
          <a:p>
            <a:pPr marL="0" indent="0" algn="ctr">
              <a:lnSpc>
                <a:spcPct val="102000"/>
              </a:lnSpc>
              <a:buNone/>
            </a:pPr>
            <a:r>
              <a:rPr lang="en-US" sz="1030" dirty="0">
                <a:solidFill>
                  <a:srgbClr val="1C1C1C"/>
                </a:solidFill>
                <a:latin typeface="Calibri" pitchFamily="34" charset="0"/>
                <a:ea typeface="Calibri" pitchFamily="34" charset="-122"/>
                <a:cs typeface="Calibri" pitchFamily="34" charset="-120"/>
              </a:rPr>
              <a:t>80C (₹1.5L); maturity tax-free (EEE)</a:t>
            </a:r>
            <a:endParaRPr lang="en-US" sz="1030" dirty="0"/>
          </a:p>
        </p:txBody>
      </p:sp>
      <p:sp>
        <p:nvSpPr>
          <p:cNvPr id="64" name="Shape 62"/>
          <p:cNvSpPr/>
          <p:nvPr/>
        </p:nvSpPr>
        <p:spPr>
          <a:xfrm>
            <a:off x="548640" y="5202936"/>
            <a:ext cx="1874520" cy="548640"/>
          </a:xfrm>
          <a:prstGeom prst="rect">
            <a:avLst/>
          </a:prstGeom>
          <a:solidFill>
            <a:srgbClr val="F3F7F8"/>
          </a:solidFill>
          <a:ln w="12700">
            <a:solidFill>
              <a:srgbClr val="E3E9EA"/>
            </a:solidFill>
            <a:prstDash val="solid"/>
          </a:ln>
        </p:spPr>
        <p:txBody>
          <a:bodyPr/>
          <a:lstStyle/>
          <a:p>
            <a:endParaRPr lang="en-IN"/>
          </a:p>
        </p:txBody>
      </p:sp>
      <p:sp>
        <p:nvSpPr>
          <p:cNvPr id="65" name="Text 63"/>
          <p:cNvSpPr txBox="1"/>
          <p:nvPr/>
        </p:nvSpPr>
        <p:spPr>
          <a:xfrm>
            <a:off x="621792" y="5202936"/>
            <a:ext cx="1728216" cy="548640"/>
          </a:xfrm>
          <a:prstGeom prst="rect">
            <a:avLst/>
          </a:prstGeom>
          <a:noFill/>
          <a:ln/>
        </p:spPr>
        <p:txBody>
          <a:bodyPr wrap="square" lIns="0" tIns="0" rIns="0" bIns="0" rtlCol="0" anchor="ctr"/>
          <a:lstStyle/>
          <a:p>
            <a:pPr marL="0" indent="0" algn="l">
              <a:lnSpc>
                <a:spcPct val="102000"/>
              </a:lnSpc>
              <a:buNone/>
            </a:pPr>
            <a:r>
              <a:rPr lang="en-US" sz="1030" b="1" dirty="0">
                <a:solidFill>
                  <a:srgbClr val="1C1C1C"/>
                </a:solidFill>
                <a:latin typeface="Calibri" pitchFamily="34" charset="0"/>
                <a:ea typeface="Calibri" pitchFamily="34" charset="-122"/>
                <a:cs typeface="Calibri" pitchFamily="34" charset="-120"/>
              </a:rPr>
              <a:t>Typical use</a:t>
            </a:r>
            <a:endParaRPr lang="en-US" sz="1030" dirty="0"/>
          </a:p>
        </p:txBody>
      </p:sp>
      <p:sp>
        <p:nvSpPr>
          <p:cNvPr id="66" name="Shape 64"/>
          <p:cNvSpPr/>
          <p:nvPr/>
        </p:nvSpPr>
        <p:spPr>
          <a:xfrm>
            <a:off x="2423160" y="5202936"/>
            <a:ext cx="2331720" cy="548640"/>
          </a:xfrm>
          <a:prstGeom prst="rect">
            <a:avLst/>
          </a:prstGeom>
          <a:solidFill>
            <a:srgbClr val="FFFFFF"/>
          </a:solidFill>
          <a:ln w="12700">
            <a:solidFill>
              <a:srgbClr val="E3E9EA"/>
            </a:solidFill>
            <a:prstDash val="solid"/>
          </a:ln>
        </p:spPr>
        <p:txBody>
          <a:bodyPr/>
          <a:lstStyle/>
          <a:p>
            <a:endParaRPr lang="en-IN"/>
          </a:p>
        </p:txBody>
      </p:sp>
      <p:sp>
        <p:nvSpPr>
          <p:cNvPr id="67" name="Text 65"/>
          <p:cNvSpPr txBox="1"/>
          <p:nvPr/>
        </p:nvSpPr>
        <p:spPr>
          <a:xfrm>
            <a:off x="2496312" y="5202936"/>
            <a:ext cx="2185416" cy="548640"/>
          </a:xfrm>
          <a:prstGeom prst="rect">
            <a:avLst/>
          </a:prstGeom>
          <a:noFill/>
          <a:ln/>
        </p:spPr>
        <p:txBody>
          <a:bodyPr wrap="square" lIns="0" tIns="0" rIns="0" bIns="0" rtlCol="0" anchor="ctr"/>
          <a:lstStyle/>
          <a:p>
            <a:pPr marL="0" indent="0" algn="ctr">
              <a:lnSpc>
                <a:spcPct val="102000"/>
              </a:lnSpc>
              <a:buNone/>
            </a:pPr>
            <a:r>
              <a:rPr lang="en-US" sz="1030" dirty="0">
                <a:solidFill>
                  <a:srgbClr val="1C1C1C"/>
                </a:solidFill>
                <a:latin typeface="Calibri" pitchFamily="34" charset="0"/>
                <a:ea typeface="Calibri" pitchFamily="34" charset="-122"/>
                <a:cs typeface="Calibri" pitchFamily="34" charset="-120"/>
              </a:rPr>
              <a:t>Wealth creation, goals</a:t>
            </a:r>
            <a:endParaRPr lang="en-US" sz="1030" dirty="0"/>
          </a:p>
        </p:txBody>
      </p:sp>
      <p:sp>
        <p:nvSpPr>
          <p:cNvPr id="68" name="Shape 66"/>
          <p:cNvSpPr/>
          <p:nvPr/>
        </p:nvSpPr>
        <p:spPr>
          <a:xfrm>
            <a:off x="4754880" y="5202936"/>
            <a:ext cx="2331720" cy="548640"/>
          </a:xfrm>
          <a:prstGeom prst="rect">
            <a:avLst/>
          </a:prstGeom>
          <a:solidFill>
            <a:srgbClr val="FFFFFF"/>
          </a:solidFill>
          <a:ln w="12700">
            <a:solidFill>
              <a:srgbClr val="E3E9EA"/>
            </a:solidFill>
            <a:prstDash val="solid"/>
          </a:ln>
        </p:spPr>
        <p:txBody>
          <a:bodyPr/>
          <a:lstStyle/>
          <a:p>
            <a:endParaRPr lang="en-IN"/>
          </a:p>
        </p:txBody>
      </p:sp>
      <p:sp>
        <p:nvSpPr>
          <p:cNvPr id="69" name="Text 67"/>
          <p:cNvSpPr txBox="1"/>
          <p:nvPr/>
        </p:nvSpPr>
        <p:spPr>
          <a:xfrm>
            <a:off x="4828032" y="5202936"/>
            <a:ext cx="2185416" cy="548640"/>
          </a:xfrm>
          <a:prstGeom prst="rect">
            <a:avLst/>
          </a:prstGeom>
          <a:noFill/>
          <a:ln/>
        </p:spPr>
        <p:txBody>
          <a:bodyPr wrap="square" lIns="0" tIns="0" rIns="0" bIns="0" rtlCol="0" anchor="ctr"/>
          <a:lstStyle/>
          <a:p>
            <a:pPr marL="0" indent="0" algn="ctr">
              <a:lnSpc>
                <a:spcPct val="102000"/>
              </a:lnSpc>
              <a:buNone/>
            </a:pPr>
            <a:r>
              <a:rPr lang="en-US" sz="1030" dirty="0">
                <a:solidFill>
                  <a:srgbClr val="1C1C1C"/>
                </a:solidFill>
                <a:latin typeface="Calibri" pitchFamily="34" charset="0"/>
                <a:ea typeface="Calibri" pitchFamily="34" charset="-122"/>
                <a:cs typeface="Calibri" pitchFamily="34" charset="-120"/>
              </a:rPr>
              <a:t>Capital safety, short-term parking</a:t>
            </a:r>
            <a:endParaRPr lang="en-US" sz="1030" dirty="0"/>
          </a:p>
        </p:txBody>
      </p:sp>
      <p:sp>
        <p:nvSpPr>
          <p:cNvPr id="70" name="Shape 68"/>
          <p:cNvSpPr/>
          <p:nvPr/>
        </p:nvSpPr>
        <p:spPr>
          <a:xfrm>
            <a:off x="7086600" y="5202936"/>
            <a:ext cx="2331720" cy="548640"/>
          </a:xfrm>
          <a:prstGeom prst="rect">
            <a:avLst/>
          </a:prstGeom>
          <a:solidFill>
            <a:srgbClr val="FFFFFF"/>
          </a:solidFill>
          <a:ln w="12700">
            <a:solidFill>
              <a:srgbClr val="E3E9EA"/>
            </a:solidFill>
            <a:prstDash val="solid"/>
          </a:ln>
        </p:spPr>
        <p:txBody>
          <a:bodyPr/>
          <a:lstStyle/>
          <a:p>
            <a:endParaRPr lang="en-IN"/>
          </a:p>
        </p:txBody>
      </p:sp>
      <p:sp>
        <p:nvSpPr>
          <p:cNvPr id="71" name="Text 69"/>
          <p:cNvSpPr txBox="1"/>
          <p:nvPr/>
        </p:nvSpPr>
        <p:spPr>
          <a:xfrm>
            <a:off x="7159752" y="5202936"/>
            <a:ext cx="2185416" cy="548640"/>
          </a:xfrm>
          <a:prstGeom prst="rect">
            <a:avLst/>
          </a:prstGeom>
          <a:noFill/>
          <a:ln/>
        </p:spPr>
        <p:txBody>
          <a:bodyPr wrap="square" lIns="0" tIns="0" rIns="0" bIns="0" rtlCol="0" anchor="ctr"/>
          <a:lstStyle/>
          <a:p>
            <a:pPr marL="0" indent="0" algn="ctr">
              <a:lnSpc>
                <a:spcPct val="102000"/>
              </a:lnSpc>
              <a:buNone/>
            </a:pPr>
            <a:r>
              <a:rPr lang="en-US" sz="1030" dirty="0">
                <a:solidFill>
                  <a:srgbClr val="1C1C1C"/>
                </a:solidFill>
                <a:latin typeface="Calibri" pitchFamily="34" charset="0"/>
                <a:ea typeface="Calibri" pitchFamily="34" charset="-122"/>
                <a:cs typeface="Calibri" pitchFamily="34" charset="-120"/>
              </a:rPr>
              <a:t>Retirement corpus</a:t>
            </a:r>
            <a:endParaRPr lang="en-US" sz="1030" dirty="0"/>
          </a:p>
        </p:txBody>
      </p:sp>
      <p:sp>
        <p:nvSpPr>
          <p:cNvPr id="72" name="Shape 70"/>
          <p:cNvSpPr/>
          <p:nvPr/>
        </p:nvSpPr>
        <p:spPr>
          <a:xfrm>
            <a:off x="9418320" y="5202936"/>
            <a:ext cx="2286000" cy="548640"/>
          </a:xfrm>
          <a:prstGeom prst="rect">
            <a:avLst/>
          </a:prstGeom>
          <a:solidFill>
            <a:srgbClr val="FFFFFF"/>
          </a:solidFill>
          <a:ln w="12700">
            <a:solidFill>
              <a:srgbClr val="E3E9EA"/>
            </a:solidFill>
            <a:prstDash val="solid"/>
          </a:ln>
        </p:spPr>
        <p:txBody>
          <a:bodyPr/>
          <a:lstStyle/>
          <a:p>
            <a:endParaRPr lang="en-IN"/>
          </a:p>
        </p:txBody>
      </p:sp>
      <p:sp>
        <p:nvSpPr>
          <p:cNvPr id="73" name="Text 71"/>
          <p:cNvSpPr txBox="1"/>
          <p:nvPr/>
        </p:nvSpPr>
        <p:spPr>
          <a:xfrm>
            <a:off x="9491472" y="5202936"/>
            <a:ext cx="2139696" cy="548640"/>
          </a:xfrm>
          <a:prstGeom prst="rect">
            <a:avLst/>
          </a:prstGeom>
          <a:noFill/>
          <a:ln/>
        </p:spPr>
        <p:txBody>
          <a:bodyPr wrap="square" lIns="0" tIns="0" rIns="0" bIns="0" rtlCol="0" anchor="ctr"/>
          <a:lstStyle/>
          <a:p>
            <a:pPr marL="0" indent="0" algn="ctr">
              <a:lnSpc>
                <a:spcPct val="102000"/>
              </a:lnSpc>
              <a:buNone/>
            </a:pPr>
            <a:r>
              <a:rPr lang="en-US" sz="1030" dirty="0">
                <a:solidFill>
                  <a:srgbClr val="1C1C1C"/>
                </a:solidFill>
                <a:latin typeface="Calibri" pitchFamily="34" charset="0"/>
                <a:ea typeface="Calibri" pitchFamily="34" charset="-122"/>
                <a:cs typeface="Calibri" pitchFamily="34" charset="-120"/>
              </a:rPr>
              <a:t>Long-term, tax-saving safety</a:t>
            </a:r>
            <a:endParaRPr lang="en-US" sz="1030" dirty="0"/>
          </a:p>
        </p:txBody>
      </p:sp>
      <p:sp>
        <p:nvSpPr>
          <p:cNvPr id="74" name="Text 72"/>
          <p:cNvSpPr txBox="1"/>
          <p:nvPr/>
        </p:nvSpPr>
        <p:spPr>
          <a:xfrm>
            <a:off x="548640" y="5824728"/>
            <a:ext cx="11064240" cy="457200"/>
          </a:xfrm>
          <a:prstGeom prst="rect">
            <a:avLst/>
          </a:prstGeom>
          <a:noFill/>
          <a:ln/>
        </p:spPr>
        <p:txBody>
          <a:bodyPr wrap="square" lIns="0" tIns="0" rIns="0" bIns="0" rtlCol="0" anchor="ctr"/>
          <a:lstStyle/>
          <a:p>
            <a:pPr marL="0" indent="0">
              <a:lnSpc>
                <a:spcPct val="110000"/>
              </a:lnSpc>
              <a:buNone/>
            </a:pPr>
            <a:r>
              <a:rPr lang="en-US" sz="1050" b="1" i="1" dirty="0">
                <a:solidFill>
                  <a:srgbClr val="0A2A43"/>
                </a:solidFill>
                <a:latin typeface="Calibri" pitchFamily="34" charset="0"/>
                <a:ea typeface="Calibri" pitchFamily="34" charset="-122"/>
                <a:cs typeface="Calibri" pitchFamily="34" charset="-120"/>
              </a:rPr>
              <a:t>*Illustrative long-term averages/current rates, not guarantees — verify current FD/PPF/NPS rates before presenting. Avoid saying “MF gives better returns than FD” — use the right tool for the right goal.</a:t>
            </a:r>
            <a:endParaRPr lang="en-US" sz="1050" dirty="0"/>
          </a:p>
        </p:txBody>
      </p:sp>
      <p:sp>
        <p:nvSpPr>
          <p:cNvPr id="75" name="Text 73"/>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900" dirty="0">
                <a:solidFill>
                  <a:srgbClr val="8A97A0"/>
                </a:solidFill>
                <a:latin typeface="Calibri" pitchFamily="34" charset="0"/>
                <a:ea typeface="Calibri" pitchFamily="34" charset="-122"/>
                <a:cs typeface="Calibri" pitchFamily="34" charset="-120"/>
              </a:rPr>
              <a:t>Mutual Funds: What My Investing Journey Taught Me</a:t>
            </a:r>
            <a:endParaRPr lang="en-US" sz="900" dirty="0"/>
          </a:p>
        </p:txBody>
      </p:sp>
      <p:sp>
        <p:nvSpPr>
          <p:cNvPr id="76" name="Text 74"/>
          <p:cNvSpPr txBox="1"/>
          <p:nvPr/>
        </p:nvSpPr>
        <p:spPr>
          <a:xfrm>
            <a:off x="11000232" y="6473952"/>
            <a:ext cx="731520" cy="274320"/>
          </a:xfrm>
          <a:prstGeom prst="rect">
            <a:avLst/>
          </a:prstGeom>
          <a:noFill/>
          <a:ln/>
        </p:spPr>
        <p:txBody>
          <a:bodyPr wrap="square" lIns="0" tIns="0" rIns="0" bIns="0" rtlCol="0" anchor="ctr"/>
          <a:lstStyle/>
          <a:p>
            <a:pPr marL="0" indent="0" algn="r">
              <a:buNone/>
            </a:pPr>
            <a:r>
              <a:rPr lang="en-US" sz="900" dirty="0">
                <a:solidFill>
                  <a:srgbClr val="8A97A0"/>
                </a:solidFill>
                <a:latin typeface="Calibri" pitchFamily="34" charset="0"/>
                <a:ea typeface="Calibri" pitchFamily="34" charset="-122"/>
                <a:cs typeface="Calibri" pitchFamily="34" charset="-120"/>
              </a:rPr>
              <a:t>14 / 31</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A RULE CHANGE WORTH KNOWING</a:t>
            </a:r>
            <a:endParaRPr lang="en-US" sz="1300" dirty="0"/>
          </a:p>
        </p:txBody>
      </p:sp>
      <p:sp>
        <p:nvSpPr>
          <p:cNvPr id="3" name="Text 1"/>
          <p:cNvSpPr txBox="1"/>
          <p:nvPr/>
        </p:nvSpPr>
        <p:spPr>
          <a:xfrm>
            <a:off x="548640" y="685800"/>
            <a:ext cx="11064240" cy="822960"/>
          </a:xfrm>
          <a:prstGeom prst="rect">
            <a:avLst/>
          </a:prstGeom>
          <a:noFill/>
          <a:ln/>
        </p:spPr>
        <p:txBody>
          <a:bodyPr wrap="square" lIns="0" tIns="0" rIns="0" bIns="0" rtlCol="0" anchor="ctr"/>
          <a:lstStyle/>
          <a:p>
            <a:pPr marL="0" indent="0">
              <a:buNone/>
            </a:pPr>
            <a:r>
              <a:rPr lang="en-US" sz="3000" b="1" dirty="0">
                <a:solidFill>
                  <a:srgbClr val="0A2A43"/>
                </a:solidFill>
                <a:latin typeface="Cambria" pitchFamily="34" charset="0"/>
                <a:ea typeface="Cambria" pitchFamily="34" charset="-122"/>
                <a:cs typeface="Cambria" pitchFamily="34" charset="-120"/>
              </a:rPr>
              <a:t>Debt Fund Taxation Changed in April 2023</a:t>
            </a:r>
            <a:endParaRPr lang="en-US" sz="3000" dirty="0"/>
          </a:p>
        </p:txBody>
      </p:sp>
      <p:sp>
        <p:nvSpPr>
          <p:cNvPr id="4" name="Shape 2"/>
          <p:cNvSpPr/>
          <p:nvPr/>
        </p:nvSpPr>
        <p:spPr>
          <a:xfrm>
            <a:off x="548640" y="1737360"/>
            <a:ext cx="5349240" cy="3200400"/>
          </a:xfrm>
          <a:prstGeom prst="roundRect">
            <a:avLst>
              <a:gd name="adj" fmla="val 2286"/>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5" name="Text 3"/>
          <p:cNvSpPr txBox="1"/>
          <p:nvPr/>
        </p:nvSpPr>
        <p:spPr>
          <a:xfrm>
            <a:off x="868680" y="1874520"/>
            <a:ext cx="4572000" cy="411480"/>
          </a:xfrm>
          <a:prstGeom prst="rect">
            <a:avLst/>
          </a:prstGeom>
          <a:noFill/>
          <a:ln/>
        </p:spPr>
        <p:txBody>
          <a:bodyPr wrap="square" lIns="0" tIns="0" rIns="0" bIns="0" rtlCol="0" anchor="ctr"/>
          <a:lstStyle/>
          <a:p>
            <a:pPr marL="0" indent="0">
              <a:buNone/>
            </a:pPr>
            <a:r>
              <a:rPr lang="en-US" sz="1600" b="1" dirty="0">
                <a:solidFill>
                  <a:srgbClr val="00A896"/>
                </a:solidFill>
                <a:latin typeface="Cambria" pitchFamily="34" charset="0"/>
                <a:ea typeface="Cambria" pitchFamily="34" charset="-122"/>
                <a:cs typeface="Cambria" pitchFamily="34" charset="-120"/>
              </a:rPr>
              <a:t>Before 1-Apr-2023</a:t>
            </a:r>
            <a:endParaRPr lang="en-US" sz="1600" dirty="0"/>
          </a:p>
        </p:txBody>
      </p:sp>
      <p:sp>
        <p:nvSpPr>
          <p:cNvPr id="6" name="Text 4"/>
          <p:cNvSpPr txBox="1"/>
          <p:nvPr/>
        </p:nvSpPr>
        <p:spPr>
          <a:xfrm>
            <a:off x="868680" y="2377440"/>
            <a:ext cx="4754880" cy="4114800"/>
          </a:xfrm>
          <a:prstGeom prst="rect">
            <a:avLst/>
          </a:prstGeom>
          <a:noFill/>
          <a:ln/>
        </p:spPr>
        <p:txBody>
          <a:bodyPr wrap="square" lIns="0" tIns="0" rIns="0" bIns="0" rtlCol="0" anchor="t"/>
          <a:lstStyle/>
          <a:p>
            <a:pPr marL="228600" indent="-228600">
              <a:lnSpc>
                <a:spcPct val="108000"/>
              </a:lnSpc>
              <a:spcAft>
                <a:spcPts val="900"/>
              </a:spcAft>
              <a:buSzPct val="100000"/>
              <a:buChar char="•"/>
            </a:pPr>
            <a:r>
              <a:rPr lang="en-US" sz="1250" dirty="0">
                <a:solidFill>
                  <a:srgbClr val="1C1C1C"/>
                </a:solidFill>
                <a:latin typeface="Calibri" pitchFamily="34" charset="0"/>
                <a:ea typeface="Calibri" pitchFamily="34" charset="-122"/>
                <a:cs typeface="Calibri" pitchFamily="34" charset="-120"/>
              </a:rPr>
              <a:t>Debt funds held over 3 years qualified for LTCG.</a:t>
            </a:r>
            <a:endParaRPr lang="en-US" sz="1250" dirty="0"/>
          </a:p>
          <a:p>
            <a:pPr marL="228600" indent="-228600">
              <a:lnSpc>
                <a:spcPct val="108000"/>
              </a:lnSpc>
              <a:spcAft>
                <a:spcPts val="900"/>
              </a:spcAft>
              <a:buSzPct val="100000"/>
              <a:buChar char="•"/>
            </a:pPr>
            <a:r>
              <a:rPr lang="en-US" sz="1250" dirty="0">
                <a:solidFill>
                  <a:srgbClr val="1C1C1C"/>
                </a:solidFill>
                <a:latin typeface="Calibri" pitchFamily="34" charset="0"/>
                <a:ea typeface="Calibri" pitchFamily="34" charset="-122"/>
                <a:cs typeface="Calibri" pitchFamily="34" charset="-120"/>
              </a:rPr>
              <a:t>LTCG came with indexation benefit — inflation was factored in, lowering the effective tax.</a:t>
            </a:r>
            <a:endParaRPr lang="en-US" sz="1250" dirty="0"/>
          </a:p>
          <a:p>
            <a:pPr marL="228600" indent="-228600">
              <a:lnSpc>
                <a:spcPct val="108000"/>
              </a:lnSpc>
              <a:spcAft>
                <a:spcPts val="900"/>
              </a:spcAft>
              <a:buSzPct val="100000"/>
              <a:buChar char="•"/>
            </a:pPr>
            <a:r>
              <a:rPr lang="en-US" sz="1250" dirty="0">
                <a:solidFill>
                  <a:srgbClr val="1C1C1C"/>
                </a:solidFill>
                <a:latin typeface="Calibri" pitchFamily="34" charset="0"/>
                <a:ea typeface="Calibri" pitchFamily="34" charset="-122"/>
                <a:cs typeface="Calibri" pitchFamily="34" charset="-120"/>
              </a:rPr>
              <a:t>This made debt funds meaningfully more tax-efficient than an FD for long holding periods.</a:t>
            </a:r>
            <a:endParaRPr lang="en-US" sz="1250" dirty="0"/>
          </a:p>
        </p:txBody>
      </p:sp>
      <p:sp>
        <p:nvSpPr>
          <p:cNvPr id="7" name="Shape 5"/>
          <p:cNvSpPr/>
          <p:nvPr/>
        </p:nvSpPr>
        <p:spPr>
          <a:xfrm>
            <a:off x="6126480" y="1737360"/>
            <a:ext cx="5532120" cy="3200400"/>
          </a:xfrm>
          <a:prstGeom prst="roundRect">
            <a:avLst>
              <a:gd name="adj" fmla="val 2286"/>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8" name="Text 6"/>
          <p:cNvSpPr txBox="1"/>
          <p:nvPr/>
        </p:nvSpPr>
        <p:spPr>
          <a:xfrm>
            <a:off x="6446520" y="1874520"/>
            <a:ext cx="4937760" cy="411480"/>
          </a:xfrm>
          <a:prstGeom prst="rect">
            <a:avLst/>
          </a:prstGeom>
          <a:noFill/>
          <a:ln/>
        </p:spPr>
        <p:txBody>
          <a:bodyPr wrap="square" lIns="0" tIns="0" rIns="0" bIns="0" rtlCol="0" anchor="ctr"/>
          <a:lstStyle/>
          <a:p>
            <a:pPr marL="0" indent="0">
              <a:buNone/>
            </a:pPr>
            <a:r>
              <a:rPr lang="en-US" sz="1600" b="1" dirty="0">
                <a:solidFill>
                  <a:srgbClr val="C0392B"/>
                </a:solidFill>
                <a:latin typeface="Cambria" pitchFamily="34" charset="0"/>
                <a:ea typeface="Cambria" pitchFamily="34" charset="-122"/>
                <a:cs typeface="Cambria" pitchFamily="34" charset="-120"/>
              </a:rPr>
              <a:t>From 1-Apr-2023 Onward</a:t>
            </a:r>
            <a:endParaRPr lang="en-US" sz="1600" dirty="0"/>
          </a:p>
        </p:txBody>
      </p:sp>
      <p:sp>
        <p:nvSpPr>
          <p:cNvPr id="9" name="Text 7"/>
          <p:cNvSpPr txBox="1"/>
          <p:nvPr/>
        </p:nvSpPr>
        <p:spPr>
          <a:xfrm>
            <a:off x="6446520" y="2377440"/>
            <a:ext cx="4937760" cy="4114800"/>
          </a:xfrm>
          <a:prstGeom prst="rect">
            <a:avLst/>
          </a:prstGeom>
          <a:noFill/>
          <a:ln/>
        </p:spPr>
        <p:txBody>
          <a:bodyPr wrap="square" lIns="0" tIns="0" rIns="0" bIns="0" rtlCol="0" anchor="t"/>
          <a:lstStyle/>
          <a:p>
            <a:pPr marL="228600" indent="-228600">
              <a:lnSpc>
                <a:spcPct val="108000"/>
              </a:lnSpc>
              <a:spcAft>
                <a:spcPts val="900"/>
              </a:spcAft>
              <a:buSzPct val="100000"/>
              <a:buChar char="•"/>
            </a:pPr>
            <a:r>
              <a:rPr lang="en-US" sz="1250" dirty="0">
                <a:solidFill>
                  <a:srgbClr val="1C1C1C"/>
                </a:solidFill>
                <a:latin typeface="Calibri" pitchFamily="34" charset="0"/>
                <a:ea typeface="Calibri" pitchFamily="34" charset="-122"/>
                <a:cs typeface="Calibri" pitchFamily="34" charset="-120"/>
              </a:rPr>
              <a:t>Debt funds (and other funds with &lt;35% domestic equity) are taxed entirely at your income slab rate.</a:t>
            </a:r>
            <a:endParaRPr lang="en-US" sz="1250" dirty="0"/>
          </a:p>
          <a:p>
            <a:pPr marL="228600" indent="-228600">
              <a:lnSpc>
                <a:spcPct val="108000"/>
              </a:lnSpc>
              <a:spcAft>
                <a:spcPts val="900"/>
              </a:spcAft>
              <a:buSzPct val="100000"/>
              <a:buChar char="•"/>
            </a:pPr>
            <a:r>
              <a:rPr lang="en-US" sz="1250" dirty="0">
                <a:solidFill>
                  <a:srgbClr val="1C1C1C"/>
                </a:solidFill>
                <a:latin typeface="Calibri" pitchFamily="34" charset="0"/>
                <a:ea typeface="Calibri" pitchFamily="34" charset="-122"/>
                <a:cs typeface="Calibri" pitchFamily="34" charset="-120"/>
              </a:rPr>
              <a:t>No LTCG, no indexation — regardless of how long you hold the units.</a:t>
            </a:r>
            <a:endParaRPr lang="en-US" sz="1250" dirty="0"/>
          </a:p>
          <a:p>
            <a:pPr marL="228600" indent="-228600">
              <a:lnSpc>
                <a:spcPct val="108000"/>
              </a:lnSpc>
              <a:spcAft>
                <a:spcPts val="900"/>
              </a:spcAft>
              <a:buSzPct val="100000"/>
              <a:buChar char="•"/>
            </a:pPr>
            <a:r>
              <a:rPr lang="en-US" sz="1250" dirty="0">
                <a:solidFill>
                  <a:srgbClr val="1C1C1C"/>
                </a:solidFill>
                <a:latin typeface="Calibri" pitchFamily="34" charset="0"/>
                <a:ea typeface="Calibri" pitchFamily="34" charset="-122"/>
                <a:cs typeface="Calibri" pitchFamily="34" charset="-120"/>
              </a:rPr>
              <a:t>Applies to units bought on/after 1-Apr-2023; units bought before were largely grandfathered under the old rules.</a:t>
            </a:r>
            <a:endParaRPr lang="en-US" sz="1250" dirty="0"/>
          </a:p>
        </p:txBody>
      </p:sp>
      <p:sp>
        <p:nvSpPr>
          <p:cNvPr id="10" name="Shape 8"/>
          <p:cNvSpPr/>
          <p:nvPr/>
        </p:nvSpPr>
        <p:spPr>
          <a:xfrm>
            <a:off x="548640" y="5166360"/>
            <a:ext cx="11109960" cy="1143000"/>
          </a:xfrm>
          <a:prstGeom prst="roundRect">
            <a:avLst>
              <a:gd name="adj" fmla="val 6400"/>
            </a:avLst>
          </a:prstGeom>
          <a:solidFill>
            <a:srgbClr val="0A2A43"/>
          </a:solidFill>
          <a:ln/>
          <a:effectLst>
            <a:outerShdw blurRad="76200" dist="25400" dir="5400000" algn="bl" rotWithShape="0">
              <a:srgbClr val="1B1B1B">
                <a:alpha val="12000"/>
              </a:srgbClr>
            </a:outerShdw>
          </a:effectLst>
        </p:spPr>
        <p:txBody>
          <a:bodyPr/>
          <a:lstStyle/>
          <a:p>
            <a:endParaRPr lang="en-IN"/>
          </a:p>
        </p:txBody>
      </p:sp>
      <p:sp>
        <p:nvSpPr>
          <p:cNvPr id="11" name="Text 9"/>
          <p:cNvSpPr txBox="1"/>
          <p:nvPr/>
        </p:nvSpPr>
        <p:spPr>
          <a:xfrm>
            <a:off x="868680" y="5303520"/>
            <a:ext cx="10515600" cy="914400"/>
          </a:xfrm>
          <a:prstGeom prst="rect">
            <a:avLst/>
          </a:prstGeom>
          <a:noFill/>
          <a:ln/>
        </p:spPr>
        <p:txBody>
          <a:bodyPr wrap="square" lIns="0" tIns="0" rIns="0" bIns="0" rtlCol="0" anchor="ctr"/>
          <a:lstStyle/>
          <a:p>
            <a:pPr marL="0" indent="0">
              <a:lnSpc>
                <a:spcPct val="120000"/>
              </a:lnSpc>
              <a:buNone/>
            </a:pPr>
            <a:r>
              <a:rPr lang="en-US" sz="1300" b="1" i="1" dirty="0">
                <a:solidFill>
                  <a:srgbClr val="F4A300"/>
                </a:solidFill>
                <a:latin typeface="Calibri" pitchFamily="34" charset="0"/>
                <a:ea typeface="Calibri" pitchFamily="34" charset="-122"/>
                <a:cs typeface="Calibri" pitchFamily="34" charset="-120"/>
              </a:rPr>
              <a:t>Practical takeaway: debt funds lost a big part of their tax edge over FDs post-2023. Before assuming “debt MF beats FD,” compare the two on a net-of-tax, at-your-slab-rate basis — not the old rules.</a:t>
            </a:r>
            <a:endParaRPr lang="en-US" sz="1300" dirty="0"/>
          </a:p>
        </p:txBody>
      </p:sp>
      <p:sp>
        <p:nvSpPr>
          <p:cNvPr id="12" name="Text 10"/>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900" dirty="0">
                <a:solidFill>
                  <a:srgbClr val="8A97A0"/>
                </a:solidFill>
                <a:latin typeface="Calibri" pitchFamily="34" charset="0"/>
                <a:ea typeface="Calibri" pitchFamily="34" charset="-122"/>
                <a:cs typeface="Calibri" pitchFamily="34" charset="-120"/>
              </a:rPr>
              <a:t>Mutual Funds: What My Investing Journey Taught Me</a:t>
            </a:r>
            <a:endParaRPr lang="en-US" sz="900" dirty="0"/>
          </a:p>
        </p:txBody>
      </p:sp>
      <p:sp>
        <p:nvSpPr>
          <p:cNvPr id="13" name="Text 11"/>
          <p:cNvSpPr txBox="1"/>
          <p:nvPr/>
        </p:nvSpPr>
        <p:spPr>
          <a:xfrm>
            <a:off x="11000232" y="6473952"/>
            <a:ext cx="731520" cy="274320"/>
          </a:xfrm>
          <a:prstGeom prst="rect">
            <a:avLst/>
          </a:prstGeom>
          <a:noFill/>
          <a:ln/>
        </p:spPr>
        <p:txBody>
          <a:bodyPr wrap="square" lIns="0" tIns="0" rIns="0" bIns="0" rtlCol="0" anchor="ctr"/>
          <a:lstStyle/>
          <a:p>
            <a:pPr marL="0" indent="0" algn="r">
              <a:buNone/>
            </a:pPr>
            <a:r>
              <a:rPr lang="en-US" sz="900" dirty="0">
                <a:solidFill>
                  <a:srgbClr val="8A97A0"/>
                </a:solidFill>
                <a:latin typeface="Calibri" pitchFamily="34" charset="0"/>
                <a:ea typeface="Calibri" pitchFamily="34" charset="-122"/>
                <a:cs typeface="Calibri" pitchFamily="34" charset="-120"/>
              </a:rPr>
              <a:t>15 / 31</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DON'T CHASE WINNERS</a:t>
            </a:r>
            <a:endParaRPr lang="en-US" sz="1300" dirty="0"/>
          </a:p>
        </p:txBody>
      </p:sp>
      <p:sp>
        <p:nvSpPr>
          <p:cNvPr id="3" name="Text 1"/>
          <p:cNvSpPr txBox="1"/>
          <p:nvPr/>
        </p:nvSpPr>
        <p:spPr>
          <a:xfrm>
            <a:off x="548640" y="685800"/>
            <a:ext cx="11064240" cy="822960"/>
          </a:xfrm>
          <a:prstGeom prst="rect">
            <a:avLst/>
          </a:prstGeom>
          <a:noFill/>
          <a:ln/>
        </p:spPr>
        <p:txBody>
          <a:bodyPr wrap="square" lIns="0" tIns="0" rIns="0" bIns="0" rtlCol="0" anchor="ctr"/>
          <a:lstStyle/>
          <a:p>
            <a:pPr marL="0" indent="0">
              <a:buNone/>
            </a:pPr>
            <a:r>
              <a:rPr lang="en-US" sz="3000" b="1" dirty="0">
                <a:solidFill>
                  <a:srgbClr val="0A2A43"/>
                </a:solidFill>
                <a:latin typeface="Cambria" pitchFamily="34" charset="0"/>
                <a:ea typeface="Cambria" pitchFamily="34" charset="-122"/>
                <a:cs typeface="Cambria" pitchFamily="34" charset="-120"/>
              </a:rPr>
              <a:t>Why Past Returns Are Not Enough</a:t>
            </a:r>
            <a:endParaRPr lang="en-US" sz="3000" dirty="0"/>
          </a:p>
        </p:txBody>
      </p:sp>
      <p:sp>
        <p:nvSpPr>
          <p:cNvPr id="4" name="Shape 2"/>
          <p:cNvSpPr/>
          <p:nvPr/>
        </p:nvSpPr>
        <p:spPr>
          <a:xfrm>
            <a:off x="548640" y="1783080"/>
            <a:ext cx="457200" cy="457200"/>
          </a:xfrm>
          <a:prstGeom prst="ellipse">
            <a:avLst/>
          </a:prstGeom>
          <a:solidFill>
            <a:srgbClr val="028090"/>
          </a:solidFill>
          <a:ln/>
        </p:spPr>
        <p:txBody>
          <a:bodyPr/>
          <a:lstStyle/>
          <a:p>
            <a:endParaRPr lang="en-IN"/>
          </a:p>
        </p:txBody>
      </p:sp>
      <p:sp>
        <p:nvSpPr>
          <p:cNvPr id="5" name="Text 3"/>
          <p:cNvSpPr txBox="1"/>
          <p:nvPr/>
        </p:nvSpPr>
        <p:spPr>
          <a:xfrm>
            <a:off x="502920" y="1783080"/>
            <a:ext cx="5486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234440" y="1737360"/>
            <a:ext cx="9875520" cy="685800"/>
          </a:xfrm>
          <a:prstGeom prst="rect">
            <a:avLst/>
          </a:prstGeom>
          <a:noFill/>
          <a:ln/>
        </p:spPr>
        <p:txBody>
          <a:bodyPr wrap="square" lIns="0" tIns="0" rIns="0" bIns="0" rtlCol="0" anchor="ctr"/>
          <a:lstStyle/>
          <a:p>
            <a:pPr marL="0" indent="0">
              <a:buNone/>
            </a:pPr>
            <a:r>
              <a:rPr lang="en-US" sz="1450" dirty="0">
                <a:solidFill>
                  <a:srgbClr val="1C1C1C"/>
                </a:solidFill>
                <a:latin typeface="Calibri" pitchFamily="34" charset="0"/>
                <a:ea typeface="Calibri" pitchFamily="34" charset="-122"/>
                <a:cs typeface="Calibri" pitchFamily="34" charset="-120"/>
              </a:rPr>
              <a:t>A fund’s 1-year return is only one observation — look across multiple periods and market cycles.</a:t>
            </a:r>
            <a:endParaRPr lang="en-US" sz="1450" dirty="0"/>
          </a:p>
        </p:txBody>
      </p:sp>
      <p:sp>
        <p:nvSpPr>
          <p:cNvPr id="7" name="Shape 5"/>
          <p:cNvSpPr/>
          <p:nvPr/>
        </p:nvSpPr>
        <p:spPr>
          <a:xfrm>
            <a:off x="548640" y="2560320"/>
            <a:ext cx="457200" cy="457200"/>
          </a:xfrm>
          <a:prstGeom prst="ellipse">
            <a:avLst/>
          </a:prstGeom>
          <a:solidFill>
            <a:srgbClr val="00A896"/>
          </a:solidFill>
          <a:ln/>
        </p:spPr>
        <p:txBody>
          <a:bodyPr/>
          <a:lstStyle/>
          <a:p>
            <a:endParaRPr lang="en-IN"/>
          </a:p>
        </p:txBody>
      </p:sp>
      <p:sp>
        <p:nvSpPr>
          <p:cNvPr id="8" name="Text 6"/>
          <p:cNvSpPr txBox="1"/>
          <p:nvPr/>
        </p:nvSpPr>
        <p:spPr>
          <a:xfrm>
            <a:off x="502920" y="2560320"/>
            <a:ext cx="5486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234440" y="2514600"/>
            <a:ext cx="9875520" cy="685800"/>
          </a:xfrm>
          <a:prstGeom prst="rect">
            <a:avLst/>
          </a:prstGeom>
          <a:noFill/>
          <a:ln/>
        </p:spPr>
        <p:txBody>
          <a:bodyPr wrap="square" lIns="0" tIns="0" rIns="0" bIns="0" rtlCol="0" anchor="ctr"/>
          <a:lstStyle/>
          <a:p>
            <a:pPr marL="0" indent="0">
              <a:buNone/>
            </a:pPr>
            <a:r>
              <a:rPr lang="en-US" sz="1450" dirty="0">
                <a:solidFill>
                  <a:srgbClr val="1C1C1C"/>
                </a:solidFill>
                <a:latin typeface="Calibri" pitchFamily="34" charset="0"/>
                <a:ea typeface="Calibri" pitchFamily="34" charset="-122"/>
                <a:cs typeface="Calibri" pitchFamily="34" charset="-120"/>
              </a:rPr>
              <a:t>Compare against the appropriate benchmark and category, not an unrelated fund.</a:t>
            </a:r>
            <a:endParaRPr lang="en-US" sz="1450" dirty="0"/>
          </a:p>
        </p:txBody>
      </p:sp>
      <p:sp>
        <p:nvSpPr>
          <p:cNvPr id="10" name="Shape 8"/>
          <p:cNvSpPr/>
          <p:nvPr/>
        </p:nvSpPr>
        <p:spPr>
          <a:xfrm>
            <a:off x="548640" y="3337560"/>
            <a:ext cx="457200" cy="457200"/>
          </a:xfrm>
          <a:prstGeom prst="ellipse">
            <a:avLst/>
          </a:prstGeom>
          <a:solidFill>
            <a:srgbClr val="028090"/>
          </a:solidFill>
          <a:ln/>
        </p:spPr>
        <p:txBody>
          <a:bodyPr/>
          <a:lstStyle/>
          <a:p>
            <a:endParaRPr lang="en-IN"/>
          </a:p>
        </p:txBody>
      </p:sp>
      <p:sp>
        <p:nvSpPr>
          <p:cNvPr id="11" name="Text 9"/>
          <p:cNvSpPr txBox="1"/>
          <p:nvPr/>
        </p:nvSpPr>
        <p:spPr>
          <a:xfrm>
            <a:off x="502920" y="3337560"/>
            <a:ext cx="5486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234440" y="3291840"/>
            <a:ext cx="9875520" cy="685800"/>
          </a:xfrm>
          <a:prstGeom prst="rect">
            <a:avLst/>
          </a:prstGeom>
          <a:noFill/>
          <a:ln/>
        </p:spPr>
        <p:txBody>
          <a:bodyPr wrap="square" lIns="0" tIns="0" rIns="0" bIns="0" rtlCol="0" anchor="ctr"/>
          <a:lstStyle/>
          <a:p>
            <a:pPr marL="0" indent="0">
              <a:buNone/>
            </a:pPr>
            <a:r>
              <a:rPr lang="en-US" sz="1450" dirty="0">
                <a:solidFill>
                  <a:srgbClr val="1C1C1C"/>
                </a:solidFill>
                <a:latin typeface="Calibri" pitchFamily="34" charset="0"/>
                <a:ea typeface="Calibri" pitchFamily="34" charset="-122"/>
                <a:cs typeface="Calibri" pitchFamily="34" charset="-120"/>
              </a:rPr>
              <a:t>Ask whether the fund’s objective, strategy and portfolio still make sense today.</a:t>
            </a:r>
            <a:endParaRPr lang="en-US" sz="1450" dirty="0"/>
          </a:p>
        </p:txBody>
      </p:sp>
      <p:sp>
        <p:nvSpPr>
          <p:cNvPr id="13" name="Shape 11"/>
          <p:cNvSpPr/>
          <p:nvPr/>
        </p:nvSpPr>
        <p:spPr>
          <a:xfrm>
            <a:off x="548640" y="4114800"/>
            <a:ext cx="457200" cy="457200"/>
          </a:xfrm>
          <a:prstGeom prst="ellipse">
            <a:avLst/>
          </a:prstGeom>
          <a:solidFill>
            <a:srgbClr val="00A896"/>
          </a:solidFill>
          <a:ln/>
        </p:spPr>
        <p:txBody>
          <a:bodyPr/>
          <a:lstStyle/>
          <a:p>
            <a:endParaRPr lang="en-IN"/>
          </a:p>
        </p:txBody>
      </p:sp>
      <p:sp>
        <p:nvSpPr>
          <p:cNvPr id="14" name="Text 12"/>
          <p:cNvSpPr txBox="1"/>
          <p:nvPr/>
        </p:nvSpPr>
        <p:spPr>
          <a:xfrm>
            <a:off x="502920" y="4114800"/>
            <a:ext cx="5486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5" name="Text 13"/>
          <p:cNvSpPr txBox="1"/>
          <p:nvPr/>
        </p:nvSpPr>
        <p:spPr>
          <a:xfrm>
            <a:off x="1234440" y="4069080"/>
            <a:ext cx="9875520" cy="685800"/>
          </a:xfrm>
          <a:prstGeom prst="rect">
            <a:avLst/>
          </a:prstGeom>
          <a:noFill/>
          <a:ln/>
        </p:spPr>
        <p:txBody>
          <a:bodyPr wrap="square" lIns="0" tIns="0" rIns="0" bIns="0" rtlCol="0" anchor="ctr"/>
          <a:lstStyle/>
          <a:p>
            <a:pPr marL="0" indent="0">
              <a:buNone/>
            </a:pPr>
            <a:r>
              <a:rPr lang="en-US" sz="1450" dirty="0">
                <a:solidFill>
                  <a:srgbClr val="1C1C1C"/>
                </a:solidFill>
                <a:latin typeface="Calibri" pitchFamily="34" charset="0"/>
                <a:ea typeface="Calibri" pitchFamily="34" charset="-122"/>
                <a:cs typeface="Calibri" pitchFamily="34" charset="-120"/>
              </a:rPr>
              <a:t>Look at downside periods and drawdowns, not just the good years.</a:t>
            </a:r>
            <a:endParaRPr lang="en-US" sz="1450" dirty="0"/>
          </a:p>
        </p:txBody>
      </p:sp>
      <p:sp>
        <p:nvSpPr>
          <p:cNvPr id="16" name="Shape 14"/>
          <p:cNvSpPr/>
          <p:nvPr/>
        </p:nvSpPr>
        <p:spPr>
          <a:xfrm>
            <a:off x="548640" y="4892040"/>
            <a:ext cx="457200" cy="457200"/>
          </a:xfrm>
          <a:prstGeom prst="ellipse">
            <a:avLst/>
          </a:prstGeom>
          <a:solidFill>
            <a:srgbClr val="028090"/>
          </a:solidFill>
          <a:ln/>
        </p:spPr>
        <p:txBody>
          <a:bodyPr/>
          <a:lstStyle/>
          <a:p>
            <a:endParaRPr lang="en-IN"/>
          </a:p>
        </p:txBody>
      </p:sp>
      <p:sp>
        <p:nvSpPr>
          <p:cNvPr id="17" name="Text 15"/>
          <p:cNvSpPr txBox="1"/>
          <p:nvPr/>
        </p:nvSpPr>
        <p:spPr>
          <a:xfrm>
            <a:off x="502920" y="4892040"/>
            <a:ext cx="5486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8" name="Text 16"/>
          <p:cNvSpPr txBox="1"/>
          <p:nvPr/>
        </p:nvSpPr>
        <p:spPr>
          <a:xfrm>
            <a:off x="1234440" y="4846320"/>
            <a:ext cx="9875520" cy="685800"/>
          </a:xfrm>
          <a:prstGeom prst="rect">
            <a:avLst/>
          </a:prstGeom>
          <a:noFill/>
          <a:ln/>
        </p:spPr>
        <p:txBody>
          <a:bodyPr wrap="square" lIns="0" tIns="0" rIns="0" bIns="0" rtlCol="0" anchor="ctr"/>
          <a:lstStyle/>
          <a:p>
            <a:pPr marL="0" indent="0">
              <a:buNone/>
            </a:pPr>
            <a:r>
              <a:rPr lang="en-US" sz="1450" dirty="0">
                <a:solidFill>
                  <a:srgbClr val="1C1C1C"/>
                </a:solidFill>
                <a:latin typeface="Calibri" pitchFamily="34" charset="0"/>
                <a:ea typeface="Calibri" pitchFamily="34" charset="-122"/>
                <a:cs typeface="Calibri" pitchFamily="34" charset="-120"/>
              </a:rPr>
              <a:t>Check whether high returns were achieved by taking substantially higher risk.</a:t>
            </a:r>
            <a:endParaRPr lang="en-US" sz="1450" dirty="0"/>
          </a:p>
        </p:txBody>
      </p:sp>
      <p:sp>
        <p:nvSpPr>
          <p:cNvPr id="19" name="Shape 17"/>
          <p:cNvSpPr/>
          <p:nvPr/>
        </p:nvSpPr>
        <p:spPr>
          <a:xfrm>
            <a:off x="548640" y="5760720"/>
            <a:ext cx="11064240" cy="594360"/>
          </a:xfrm>
          <a:prstGeom prst="roundRect">
            <a:avLst>
              <a:gd name="adj" fmla="val 12308"/>
            </a:avLst>
          </a:prstGeom>
          <a:solidFill>
            <a:srgbClr val="0A2A43"/>
          </a:solidFill>
          <a:ln/>
          <a:effectLst>
            <a:outerShdw blurRad="76200" dist="25400" dir="5400000" algn="bl" rotWithShape="0">
              <a:srgbClr val="1B1B1B">
                <a:alpha val="12000"/>
              </a:srgbClr>
            </a:outerShdw>
          </a:effectLst>
        </p:spPr>
        <p:txBody>
          <a:bodyPr/>
          <a:lstStyle/>
          <a:p>
            <a:endParaRPr lang="en-IN"/>
          </a:p>
        </p:txBody>
      </p:sp>
      <p:sp>
        <p:nvSpPr>
          <p:cNvPr id="20" name="Text 18"/>
          <p:cNvSpPr txBox="1"/>
          <p:nvPr/>
        </p:nvSpPr>
        <p:spPr>
          <a:xfrm>
            <a:off x="822960" y="5760720"/>
            <a:ext cx="10515600" cy="594360"/>
          </a:xfrm>
          <a:prstGeom prst="rect">
            <a:avLst/>
          </a:prstGeom>
          <a:noFill/>
          <a:ln/>
        </p:spPr>
        <p:txBody>
          <a:bodyPr wrap="square" lIns="0" tIns="0" rIns="0" bIns="0" rtlCol="0" anchor="ctr"/>
          <a:lstStyle/>
          <a:p>
            <a:pPr marL="0" indent="0">
              <a:buNone/>
            </a:pPr>
            <a:r>
              <a:rPr lang="en-US" sz="1400" b="1" dirty="0">
                <a:solidFill>
                  <a:srgbClr val="F4A300"/>
                </a:solidFill>
                <a:latin typeface="Calibri" pitchFamily="34" charset="0"/>
                <a:ea typeface="Calibri" pitchFamily="34" charset="-122"/>
                <a:cs typeface="Calibri" pitchFamily="34" charset="-120"/>
              </a:rPr>
              <a:t>Past performance does not guarantee future performance.</a:t>
            </a:r>
            <a:endParaRPr lang="en-US" sz="1400" dirty="0"/>
          </a:p>
        </p:txBody>
      </p:sp>
      <p:sp>
        <p:nvSpPr>
          <p:cNvPr id="21" name="Text 19"/>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900" dirty="0">
                <a:solidFill>
                  <a:srgbClr val="8A97A0"/>
                </a:solidFill>
                <a:latin typeface="Calibri" pitchFamily="34" charset="0"/>
                <a:ea typeface="Calibri" pitchFamily="34" charset="-122"/>
                <a:cs typeface="Calibri" pitchFamily="34" charset="-120"/>
              </a:rPr>
              <a:t>Mutual Funds: What My Investing Journey Taught Me</a:t>
            </a:r>
            <a:endParaRPr lang="en-US" sz="900" dirty="0"/>
          </a:p>
        </p:txBody>
      </p:sp>
      <p:sp>
        <p:nvSpPr>
          <p:cNvPr id="22" name="Text 20"/>
          <p:cNvSpPr txBox="1"/>
          <p:nvPr/>
        </p:nvSpPr>
        <p:spPr>
          <a:xfrm>
            <a:off x="11000232" y="6473952"/>
            <a:ext cx="731520" cy="274320"/>
          </a:xfrm>
          <a:prstGeom prst="rect">
            <a:avLst/>
          </a:prstGeom>
          <a:noFill/>
          <a:ln/>
        </p:spPr>
        <p:txBody>
          <a:bodyPr wrap="square" lIns="0" tIns="0" rIns="0" bIns="0" rtlCol="0" anchor="ctr"/>
          <a:lstStyle/>
          <a:p>
            <a:pPr marL="0" indent="0" algn="r">
              <a:buNone/>
            </a:pPr>
            <a:r>
              <a:rPr lang="en-US" sz="900" dirty="0">
                <a:solidFill>
                  <a:srgbClr val="8A97A0"/>
                </a:solidFill>
                <a:latin typeface="Calibri" pitchFamily="34" charset="0"/>
                <a:ea typeface="Calibri" pitchFamily="34" charset="-122"/>
                <a:cs typeface="Calibri" pitchFamily="34" charset="-120"/>
              </a:rPr>
              <a:t>16 / 31</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YOUR REPEATABLE FRAMEWORK</a:t>
            </a:r>
            <a:endParaRPr lang="en-US" sz="1300" dirty="0"/>
          </a:p>
        </p:txBody>
      </p:sp>
      <p:sp>
        <p:nvSpPr>
          <p:cNvPr id="3" name="Text 1"/>
          <p:cNvSpPr txBox="1"/>
          <p:nvPr/>
        </p:nvSpPr>
        <p:spPr>
          <a:xfrm>
            <a:off x="548640" y="685800"/>
            <a:ext cx="11064240" cy="822960"/>
          </a:xfrm>
          <a:prstGeom prst="rect">
            <a:avLst/>
          </a:prstGeom>
          <a:noFill/>
          <a:ln/>
        </p:spPr>
        <p:txBody>
          <a:bodyPr wrap="square" lIns="0" tIns="0" rIns="0" bIns="0" rtlCol="0" anchor="ctr"/>
          <a:lstStyle/>
          <a:p>
            <a:pPr marL="0" indent="0">
              <a:buNone/>
            </a:pPr>
            <a:r>
              <a:rPr lang="en-US" sz="3000" b="1" dirty="0">
                <a:solidFill>
                  <a:srgbClr val="0A2A43"/>
                </a:solidFill>
                <a:latin typeface="Cambria" pitchFamily="34" charset="0"/>
                <a:ea typeface="Cambria" pitchFamily="34" charset="-122"/>
                <a:cs typeface="Cambria" pitchFamily="34" charset="-120"/>
              </a:rPr>
              <a:t>The 12-Point Fund Evaluation Checklist</a:t>
            </a:r>
            <a:endParaRPr lang="en-US" sz="3000" dirty="0"/>
          </a:p>
        </p:txBody>
      </p:sp>
      <p:sp>
        <p:nvSpPr>
          <p:cNvPr id="4" name="Shape 2"/>
          <p:cNvSpPr/>
          <p:nvPr/>
        </p:nvSpPr>
        <p:spPr>
          <a:xfrm>
            <a:off x="548640" y="1737360"/>
            <a:ext cx="3611880" cy="914400"/>
          </a:xfrm>
          <a:prstGeom prst="roundRect">
            <a:avLst>
              <a:gd name="adj" fmla="val 8000"/>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5" name="Shape 3"/>
          <p:cNvSpPr/>
          <p:nvPr/>
        </p:nvSpPr>
        <p:spPr>
          <a:xfrm>
            <a:off x="685800" y="1975104"/>
            <a:ext cx="438912" cy="438912"/>
          </a:xfrm>
          <a:prstGeom prst="ellipse">
            <a:avLst/>
          </a:prstGeom>
          <a:solidFill>
            <a:srgbClr val="028090"/>
          </a:solidFill>
          <a:ln/>
        </p:spPr>
        <p:txBody>
          <a:bodyPr/>
          <a:lstStyle/>
          <a:p>
            <a:endParaRPr lang="en-IN"/>
          </a:p>
        </p:txBody>
      </p:sp>
      <p:sp>
        <p:nvSpPr>
          <p:cNvPr id="6" name="Text 4"/>
          <p:cNvSpPr txBox="1"/>
          <p:nvPr/>
        </p:nvSpPr>
        <p:spPr>
          <a:xfrm>
            <a:off x="640080" y="1975104"/>
            <a:ext cx="530352"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234440" y="1737360"/>
            <a:ext cx="2788920" cy="914400"/>
          </a:xfrm>
          <a:prstGeom prst="rect">
            <a:avLst/>
          </a:prstGeom>
          <a:noFill/>
          <a:ln/>
        </p:spPr>
        <p:txBody>
          <a:bodyPr wrap="square" lIns="0" tIns="0" rIns="0" bIns="0" rtlCol="0" anchor="ctr"/>
          <a:lstStyle/>
          <a:p>
            <a:pPr marL="0" indent="0">
              <a:lnSpc>
                <a:spcPct val="105000"/>
              </a:lnSpc>
              <a:buNone/>
            </a:pPr>
            <a:r>
              <a:rPr lang="en-US" sz="1250" b="1" dirty="0">
                <a:solidFill>
                  <a:srgbClr val="1C1C1C"/>
                </a:solidFill>
                <a:latin typeface="Calibri" pitchFamily="34" charset="0"/>
                <a:ea typeface="Calibri" pitchFamily="34" charset="-122"/>
                <a:cs typeface="Calibri" pitchFamily="34" charset="-120"/>
              </a:rPr>
              <a:t>Scheme objective</a:t>
            </a:r>
            <a:endParaRPr lang="en-US" sz="1250" dirty="0"/>
          </a:p>
        </p:txBody>
      </p:sp>
      <p:sp>
        <p:nvSpPr>
          <p:cNvPr id="8" name="Shape 6"/>
          <p:cNvSpPr/>
          <p:nvPr/>
        </p:nvSpPr>
        <p:spPr>
          <a:xfrm>
            <a:off x="4270248" y="1737360"/>
            <a:ext cx="3611880" cy="914400"/>
          </a:xfrm>
          <a:prstGeom prst="roundRect">
            <a:avLst>
              <a:gd name="adj" fmla="val 8000"/>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9" name="Shape 7"/>
          <p:cNvSpPr/>
          <p:nvPr/>
        </p:nvSpPr>
        <p:spPr>
          <a:xfrm>
            <a:off x="4407408" y="1975104"/>
            <a:ext cx="438912" cy="438912"/>
          </a:xfrm>
          <a:prstGeom prst="ellipse">
            <a:avLst/>
          </a:prstGeom>
          <a:solidFill>
            <a:srgbClr val="00A896"/>
          </a:solidFill>
          <a:ln/>
        </p:spPr>
        <p:txBody>
          <a:bodyPr/>
          <a:lstStyle/>
          <a:p>
            <a:endParaRPr lang="en-IN"/>
          </a:p>
        </p:txBody>
      </p:sp>
      <p:sp>
        <p:nvSpPr>
          <p:cNvPr id="10" name="Text 8"/>
          <p:cNvSpPr txBox="1"/>
          <p:nvPr/>
        </p:nvSpPr>
        <p:spPr>
          <a:xfrm>
            <a:off x="4361688" y="1975104"/>
            <a:ext cx="530352"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4956048" y="1737360"/>
            <a:ext cx="2788920" cy="914400"/>
          </a:xfrm>
          <a:prstGeom prst="rect">
            <a:avLst/>
          </a:prstGeom>
          <a:noFill/>
          <a:ln/>
        </p:spPr>
        <p:txBody>
          <a:bodyPr wrap="square" lIns="0" tIns="0" rIns="0" bIns="0" rtlCol="0" anchor="ctr"/>
          <a:lstStyle/>
          <a:p>
            <a:pPr marL="0" indent="0">
              <a:lnSpc>
                <a:spcPct val="105000"/>
              </a:lnSpc>
              <a:buNone/>
            </a:pPr>
            <a:r>
              <a:rPr lang="en-US" sz="1250" b="1" dirty="0">
                <a:solidFill>
                  <a:srgbClr val="1C1C1C"/>
                </a:solidFill>
                <a:latin typeface="Calibri" pitchFamily="34" charset="0"/>
                <a:ea typeface="Calibri" pitchFamily="34" charset="-122"/>
                <a:cs typeface="Calibri" pitchFamily="34" charset="-120"/>
              </a:rPr>
              <a:t>Category</a:t>
            </a:r>
            <a:endParaRPr lang="en-US" sz="1250" dirty="0"/>
          </a:p>
        </p:txBody>
      </p:sp>
      <p:sp>
        <p:nvSpPr>
          <p:cNvPr id="12" name="Shape 10"/>
          <p:cNvSpPr/>
          <p:nvPr/>
        </p:nvSpPr>
        <p:spPr>
          <a:xfrm>
            <a:off x="7991856" y="1737360"/>
            <a:ext cx="3611880" cy="914400"/>
          </a:xfrm>
          <a:prstGeom prst="roundRect">
            <a:avLst>
              <a:gd name="adj" fmla="val 8000"/>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13" name="Shape 11"/>
          <p:cNvSpPr/>
          <p:nvPr/>
        </p:nvSpPr>
        <p:spPr>
          <a:xfrm>
            <a:off x="8129016" y="1975104"/>
            <a:ext cx="438912" cy="438912"/>
          </a:xfrm>
          <a:prstGeom prst="ellipse">
            <a:avLst/>
          </a:prstGeom>
          <a:solidFill>
            <a:srgbClr val="1C7293"/>
          </a:solidFill>
          <a:ln/>
        </p:spPr>
        <p:txBody>
          <a:bodyPr/>
          <a:lstStyle/>
          <a:p>
            <a:endParaRPr lang="en-IN"/>
          </a:p>
        </p:txBody>
      </p:sp>
      <p:sp>
        <p:nvSpPr>
          <p:cNvPr id="14" name="Text 12"/>
          <p:cNvSpPr txBox="1"/>
          <p:nvPr/>
        </p:nvSpPr>
        <p:spPr>
          <a:xfrm>
            <a:off x="8083296" y="1975104"/>
            <a:ext cx="530352"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3"/>
          <p:cNvSpPr txBox="1"/>
          <p:nvPr/>
        </p:nvSpPr>
        <p:spPr>
          <a:xfrm>
            <a:off x="8677656" y="1737360"/>
            <a:ext cx="2788920" cy="914400"/>
          </a:xfrm>
          <a:prstGeom prst="rect">
            <a:avLst/>
          </a:prstGeom>
          <a:noFill/>
          <a:ln/>
        </p:spPr>
        <p:txBody>
          <a:bodyPr wrap="square" lIns="0" tIns="0" rIns="0" bIns="0" rtlCol="0" anchor="ctr"/>
          <a:lstStyle/>
          <a:p>
            <a:pPr marL="0" indent="0">
              <a:lnSpc>
                <a:spcPct val="105000"/>
              </a:lnSpc>
              <a:buNone/>
            </a:pPr>
            <a:r>
              <a:rPr lang="en-US" sz="1250" b="1" dirty="0">
                <a:solidFill>
                  <a:srgbClr val="1C1C1C"/>
                </a:solidFill>
                <a:latin typeface="Calibri" pitchFamily="34" charset="0"/>
                <a:ea typeface="Calibri" pitchFamily="34" charset="-122"/>
                <a:cs typeface="Calibri" pitchFamily="34" charset="-120"/>
              </a:rPr>
              <a:t>Fit with goal &amp; horizon</a:t>
            </a:r>
            <a:endParaRPr lang="en-US" sz="1250" dirty="0"/>
          </a:p>
        </p:txBody>
      </p:sp>
      <p:sp>
        <p:nvSpPr>
          <p:cNvPr id="16" name="Shape 14"/>
          <p:cNvSpPr/>
          <p:nvPr/>
        </p:nvSpPr>
        <p:spPr>
          <a:xfrm>
            <a:off x="548640" y="2761488"/>
            <a:ext cx="3611880" cy="914400"/>
          </a:xfrm>
          <a:prstGeom prst="roundRect">
            <a:avLst>
              <a:gd name="adj" fmla="val 8000"/>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17" name="Shape 15"/>
          <p:cNvSpPr/>
          <p:nvPr/>
        </p:nvSpPr>
        <p:spPr>
          <a:xfrm>
            <a:off x="685800" y="2999232"/>
            <a:ext cx="438912" cy="438912"/>
          </a:xfrm>
          <a:prstGeom prst="ellipse">
            <a:avLst/>
          </a:prstGeom>
          <a:solidFill>
            <a:srgbClr val="028090"/>
          </a:solidFill>
          <a:ln/>
        </p:spPr>
        <p:txBody>
          <a:bodyPr/>
          <a:lstStyle/>
          <a:p>
            <a:endParaRPr lang="en-IN"/>
          </a:p>
        </p:txBody>
      </p:sp>
      <p:sp>
        <p:nvSpPr>
          <p:cNvPr id="18" name="Text 16"/>
          <p:cNvSpPr txBox="1"/>
          <p:nvPr/>
        </p:nvSpPr>
        <p:spPr>
          <a:xfrm>
            <a:off x="640080" y="2999232"/>
            <a:ext cx="530352"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9" name="Text 17"/>
          <p:cNvSpPr txBox="1"/>
          <p:nvPr/>
        </p:nvSpPr>
        <p:spPr>
          <a:xfrm>
            <a:off x="1234440" y="2761488"/>
            <a:ext cx="2788920" cy="914400"/>
          </a:xfrm>
          <a:prstGeom prst="rect">
            <a:avLst/>
          </a:prstGeom>
          <a:noFill/>
          <a:ln/>
        </p:spPr>
        <p:txBody>
          <a:bodyPr wrap="square" lIns="0" tIns="0" rIns="0" bIns="0" rtlCol="0" anchor="ctr"/>
          <a:lstStyle/>
          <a:p>
            <a:pPr marL="0" indent="0">
              <a:lnSpc>
                <a:spcPct val="105000"/>
              </a:lnSpc>
              <a:buNone/>
            </a:pPr>
            <a:r>
              <a:rPr lang="en-US" sz="1250" b="1" dirty="0">
                <a:solidFill>
                  <a:srgbClr val="1C1C1C"/>
                </a:solidFill>
                <a:latin typeface="Calibri" pitchFamily="34" charset="0"/>
                <a:ea typeface="Calibri" pitchFamily="34" charset="-122"/>
                <a:cs typeface="Calibri" pitchFamily="34" charset="-120"/>
              </a:rPr>
              <a:t>Benchmark</a:t>
            </a:r>
            <a:endParaRPr lang="en-US" sz="1250" dirty="0"/>
          </a:p>
        </p:txBody>
      </p:sp>
      <p:sp>
        <p:nvSpPr>
          <p:cNvPr id="20" name="Shape 18"/>
          <p:cNvSpPr/>
          <p:nvPr/>
        </p:nvSpPr>
        <p:spPr>
          <a:xfrm>
            <a:off x="4270248" y="2761488"/>
            <a:ext cx="3611880" cy="914400"/>
          </a:xfrm>
          <a:prstGeom prst="roundRect">
            <a:avLst>
              <a:gd name="adj" fmla="val 8000"/>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21" name="Shape 19"/>
          <p:cNvSpPr/>
          <p:nvPr/>
        </p:nvSpPr>
        <p:spPr>
          <a:xfrm>
            <a:off x="4407408" y="2999232"/>
            <a:ext cx="438912" cy="438912"/>
          </a:xfrm>
          <a:prstGeom prst="ellipse">
            <a:avLst/>
          </a:prstGeom>
          <a:solidFill>
            <a:srgbClr val="00A896"/>
          </a:solidFill>
          <a:ln/>
        </p:spPr>
        <p:txBody>
          <a:bodyPr/>
          <a:lstStyle/>
          <a:p>
            <a:endParaRPr lang="en-IN"/>
          </a:p>
        </p:txBody>
      </p:sp>
      <p:sp>
        <p:nvSpPr>
          <p:cNvPr id="22" name="Text 20"/>
          <p:cNvSpPr txBox="1"/>
          <p:nvPr/>
        </p:nvSpPr>
        <p:spPr>
          <a:xfrm>
            <a:off x="4361688" y="2999232"/>
            <a:ext cx="530352"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3" name="Text 21"/>
          <p:cNvSpPr txBox="1"/>
          <p:nvPr/>
        </p:nvSpPr>
        <p:spPr>
          <a:xfrm>
            <a:off x="4956048" y="2761488"/>
            <a:ext cx="2788920" cy="914400"/>
          </a:xfrm>
          <a:prstGeom prst="rect">
            <a:avLst/>
          </a:prstGeom>
          <a:noFill/>
          <a:ln/>
        </p:spPr>
        <p:txBody>
          <a:bodyPr wrap="square" lIns="0" tIns="0" rIns="0" bIns="0" rtlCol="0" anchor="ctr"/>
          <a:lstStyle/>
          <a:p>
            <a:pPr marL="0" indent="0">
              <a:lnSpc>
                <a:spcPct val="105000"/>
              </a:lnSpc>
              <a:buNone/>
            </a:pPr>
            <a:r>
              <a:rPr lang="en-US" sz="1250" b="1" dirty="0">
                <a:solidFill>
                  <a:srgbClr val="1C1C1C"/>
                </a:solidFill>
                <a:latin typeface="Calibri" pitchFamily="34" charset="0"/>
                <a:ea typeface="Calibri" pitchFamily="34" charset="-122"/>
                <a:cs typeface="Calibri" pitchFamily="34" charset="-120"/>
              </a:rPr>
              <a:t>Performance across periods</a:t>
            </a:r>
            <a:endParaRPr lang="en-US" sz="1250" dirty="0"/>
          </a:p>
        </p:txBody>
      </p:sp>
      <p:sp>
        <p:nvSpPr>
          <p:cNvPr id="24" name="Shape 22"/>
          <p:cNvSpPr/>
          <p:nvPr/>
        </p:nvSpPr>
        <p:spPr>
          <a:xfrm>
            <a:off x="7991856" y="2761488"/>
            <a:ext cx="3611880" cy="914400"/>
          </a:xfrm>
          <a:prstGeom prst="roundRect">
            <a:avLst>
              <a:gd name="adj" fmla="val 8000"/>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25" name="Shape 23"/>
          <p:cNvSpPr/>
          <p:nvPr/>
        </p:nvSpPr>
        <p:spPr>
          <a:xfrm>
            <a:off x="8129016" y="2999232"/>
            <a:ext cx="438912" cy="438912"/>
          </a:xfrm>
          <a:prstGeom prst="ellipse">
            <a:avLst/>
          </a:prstGeom>
          <a:solidFill>
            <a:srgbClr val="1C7293"/>
          </a:solidFill>
          <a:ln/>
        </p:spPr>
        <p:txBody>
          <a:bodyPr/>
          <a:lstStyle/>
          <a:p>
            <a:endParaRPr lang="en-IN"/>
          </a:p>
        </p:txBody>
      </p:sp>
      <p:sp>
        <p:nvSpPr>
          <p:cNvPr id="26" name="Text 24"/>
          <p:cNvSpPr txBox="1"/>
          <p:nvPr/>
        </p:nvSpPr>
        <p:spPr>
          <a:xfrm>
            <a:off x="8083296" y="2999232"/>
            <a:ext cx="530352"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7" name="Text 25"/>
          <p:cNvSpPr txBox="1"/>
          <p:nvPr/>
        </p:nvSpPr>
        <p:spPr>
          <a:xfrm>
            <a:off x="8677656" y="2761488"/>
            <a:ext cx="2788920" cy="914400"/>
          </a:xfrm>
          <a:prstGeom prst="rect">
            <a:avLst/>
          </a:prstGeom>
          <a:noFill/>
          <a:ln/>
        </p:spPr>
        <p:txBody>
          <a:bodyPr wrap="square" lIns="0" tIns="0" rIns="0" bIns="0" rtlCol="0" anchor="ctr"/>
          <a:lstStyle/>
          <a:p>
            <a:pPr marL="0" indent="0">
              <a:lnSpc>
                <a:spcPct val="105000"/>
              </a:lnSpc>
              <a:buNone/>
            </a:pPr>
            <a:r>
              <a:rPr lang="en-US" sz="1250" b="1" dirty="0">
                <a:solidFill>
                  <a:srgbClr val="1C1C1C"/>
                </a:solidFill>
                <a:latin typeface="Calibri" pitchFamily="34" charset="0"/>
                <a:ea typeface="Calibri" pitchFamily="34" charset="-122"/>
                <a:cs typeface="Calibri" pitchFamily="34" charset="-120"/>
              </a:rPr>
              <a:t>Consistency vs category/benchmark</a:t>
            </a:r>
            <a:endParaRPr lang="en-US" sz="1250" dirty="0"/>
          </a:p>
        </p:txBody>
      </p:sp>
      <p:sp>
        <p:nvSpPr>
          <p:cNvPr id="28" name="Shape 26"/>
          <p:cNvSpPr/>
          <p:nvPr/>
        </p:nvSpPr>
        <p:spPr>
          <a:xfrm>
            <a:off x="548640" y="3785616"/>
            <a:ext cx="3611880" cy="914400"/>
          </a:xfrm>
          <a:prstGeom prst="roundRect">
            <a:avLst>
              <a:gd name="adj" fmla="val 8000"/>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29" name="Shape 27"/>
          <p:cNvSpPr/>
          <p:nvPr/>
        </p:nvSpPr>
        <p:spPr>
          <a:xfrm>
            <a:off x="685800" y="4023360"/>
            <a:ext cx="438912" cy="438912"/>
          </a:xfrm>
          <a:prstGeom prst="ellipse">
            <a:avLst/>
          </a:prstGeom>
          <a:solidFill>
            <a:srgbClr val="028090"/>
          </a:solidFill>
          <a:ln/>
        </p:spPr>
        <p:txBody>
          <a:bodyPr/>
          <a:lstStyle/>
          <a:p>
            <a:endParaRPr lang="en-IN"/>
          </a:p>
        </p:txBody>
      </p:sp>
      <p:sp>
        <p:nvSpPr>
          <p:cNvPr id="30" name="Text 28"/>
          <p:cNvSpPr txBox="1"/>
          <p:nvPr/>
        </p:nvSpPr>
        <p:spPr>
          <a:xfrm>
            <a:off x="640080" y="4023360"/>
            <a:ext cx="530352"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31" name="Text 29"/>
          <p:cNvSpPr txBox="1"/>
          <p:nvPr/>
        </p:nvSpPr>
        <p:spPr>
          <a:xfrm>
            <a:off x="1234440" y="3785616"/>
            <a:ext cx="2788920" cy="914400"/>
          </a:xfrm>
          <a:prstGeom prst="rect">
            <a:avLst/>
          </a:prstGeom>
          <a:noFill/>
          <a:ln/>
        </p:spPr>
        <p:txBody>
          <a:bodyPr wrap="square" lIns="0" tIns="0" rIns="0" bIns="0" rtlCol="0" anchor="ctr"/>
          <a:lstStyle/>
          <a:p>
            <a:pPr marL="0" indent="0">
              <a:lnSpc>
                <a:spcPct val="105000"/>
              </a:lnSpc>
              <a:buNone/>
            </a:pPr>
            <a:r>
              <a:rPr lang="en-US" sz="1250" b="1" dirty="0">
                <a:solidFill>
                  <a:srgbClr val="1C1C1C"/>
                </a:solidFill>
                <a:latin typeface="Calibri" pitchFamily="34" charset="0"/>
                <a:ea typeface="Calibri" pitchFamily="34" charset="-122"/>
                <a:cs typeface="Calibri" pitchFamily="34" charset="-120"/>
              </a:rPr>
              <a:t>Expense ratio</a:t>
            </a:r>
            <a:endParaRPr lang="en-US" sz="1250" dirty="0"/>
          </a:p>
        </p:txBody>
      </p:sp>
      <p:sp>
        <p:nvSpPr>
          <p:cNvPr id="32" name="Shape 30"/>
          <p:cNvSpPr/>
          <p:nvPr/>
        </p:nvSpPr>
        <p:spPr>
          <a:xfrm>
            <a:off x="4270248" y="3785616"/>
            <a:ext cx="3611880" cy="914400"/>
          </a:xfrm>
          <a:prstGeom prst="roundRect">
            <a:avLst>
              <a:gd name="adj" fmla="val 8000"/>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33" name="Shape 31"/>
          <p:cNvSpPr/>
          <p:nvPr/>
        </p:nvSpPr>
        <p:spPr>
          <a:xfrm>
            <a:off x="4407408" y="4023360"/>
            <a:ext cx="438912" cy="438912"/>
          </a:xfrm>
          <a:prstGeom prst="ellipse">
            <a:avLst/>
          </a:prstGeom>
          <a:solidFill>
            <a:srgbClr val="00A896"/>
          </a:solidFill>
          <a:ln/>
        </p:spPr>
        <p:txBody>
          <a:bodyPr/>
          <a:lstStyle/>
          <a:p>
            <a:endParaRPr lang="en-IN"/>
          </a:p>
        </p:txBody>
      </p:sp>
      <p:sp>
        <p:nvSpPr>
          <p:cNvPr id="34" name="Text 32"/>
          <p:cNvSpPr txBox="1"/>
          <p:nvPr/>
        </p:nvSpPr>
        <p:spPr>
          <a:xfrm>
            <a:off x="4361688" y="4023360"/>
            <a:ext cx="530352"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35" name="Text 33"/>
          <p:cNvSpPr txBox="1"/>
          <p:nvPr/>
        </p:nvSpPr>
        <p:spPr>
          <a:xfrm>
            <a:off x="4956048" y="3785616"/>
            <a:ext cx="2788920" cy="914400"/>
          </a:xfrm>
          <a:prstGeom prst="rect">
            <a:avLst/>
          </a:prstGeom>
          <a:noFill/>
          <a:ln/>
        </p:spPr>
        <p:txBody>
          <a:bodyPr wrap="square" lIns="0" tIns="0" rIns="0" bIns="0" rtlCol="0" anchor="ctr"/>
          <a:lstStyle/>
          <a:p>
            <a:pPr marL="0" indent="0">
              <a:lnSpc>
                <a:spcPct val="105000"/>
              </a:lnSpc>
              <a:buNone/>
            </a:pPr>
            <a:r>
              <a:rPr lang="en-US" sz="1250" b="1" dirty="0">
                <a:solidFill>
                  <a:srgbClr val="1C1C1C"/>
                </a:solidFill>
                <a:latin typeface="Calibri" pitchFamily="34" charset="0"/>
                <a:ea typeface="Calibri" pitchFamily="34" charset="-122"/>
                <a:cs typeface="Calibri" pitchFamily="34" charset="-120"/>
              </a:rPr>
              <a:t>Exit load &amp; other charges</a:t>
            </a:r>
            <a:endParaRPr lang="en-US" sz="1250" dirty="0"/>
          </a:p>
        </p:txBody>
      </p:sp>
      <p:sp>
        <p:nvSpPr>
          <p:cNvPr id="36" name="Shape 34"/>
          <p:cNvSpPr/>
          <p:nvPr/>
        </p:nvSpPr>
        <p:spPr>
          <a:xfrm>
            <a:off x="7991856" y="3785616"/>
            <a:ext cx="3611880" cy="914400"/>
          </a:xfrm>
          <a:prstGeom prst="roundRect">
            <a:avLst>
              <a:gd name="adj" fmla="val 8000"/>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37" name="Shape 35"/>
          <p:cNvSpPr/>
          <p:nvPr/>
        </p:nvSpPr>
        <p:spPr>
          <a:xfrm>
            <a:off x="8129016" y="4023360"/>
            <a:ext cx="438912" cy="438912"/>
          </a:xfrm>
          <a:prstGeom prst="ellipse">
            <a:avLst/>
          </a:prstGeom>
          <a:solidFill>
            <a:srgbClr val="1C7293"/>
          </a:solidFill>
          <a:ln/>
        </p:spPr>
        <p:txBody>
          <a:bodyPr/>
          <a:lstStyle/>
          <a:p>
            <a:endParaRPr lang="en-IN"/>
          </a:p>
        </p:txBody>
      </p:sp>
      <p:sp>
        <p:nvSpPr>
          <p:cNvPr id="38" name="Text 36"/>
          <p:cNvSpPr txBox="1"/>
          <p:nvPr/>
        </p:nvSpPr>
        <p:spPr>
          <a:xfrm>
            <a:off x="8083296" y="4023360"/>
            <a:ext cx="530352"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39" name="Text 37"/>
          <p:cNvSpPr txBox="1"/>
          <p:nvPr/>
        </p:nvSpPr>
        <p:spPr>
          <a:xfrm>
            <a:off x="8677656" y="3785616"/>
            <a:ext cx="2788920" cy="914400"/>
          </a:xfrm>
          <a:prstGeom prst="rect">
            <a:avLst/>
          </a:prstGeom>
          <a:noFill/>
          <a:ln/>
        </p:spPr>
        <p:txBody>
          <a:bodyPr wrap="square" lIns="0" tIns="0" rIns="0" bIns="0" rtlCol="0" anchor="ctr"/>
          <a:lstStyle/>
          <a:p>
            <a:pPr marL="0" indent="0">
              <a:lnSpc>
                <a:spcPct val="105000"/>
              </a:lnSpc>
              <a:buNone/>
            </a:pPr>
            <a:r>
              <a:rPr lang="en-US" sz="1250" b="1" dirty="0">
                <a:solidFill>
                  <a:srgbClr val="1C1C1C"/>
                </a:solidFill>
                <a:latin typeface="Calibri" pitchFamily="34" charset="0"/>
                <a:ea typeface="Calibri" pitchFamily="34" charset="-122"/>
                <a:cs typeface="Calibri" pitchFamily="34" charset="-120"/>
              </a:rPr>
              <a:t>Top holdings &amp; sector exposure</a:t>
            </a:r>
            <a:endParaRPr lang="en-US" sz="1250" dirty="0"/>
          </a:p>
        </p:txBody>
      </p:sp>
      <p:sp>
        <p:nvSpPr>
          <p:cNvPr id="40" name="Shape 38"/>
          <p:cNvSpPr/>
          <p:nvPr/>
        </p:nvSpPr>
        <p:spPr>
          <a:xfrm>
            <a:off x="548640" y="4809744"/>
            <a:ext cx="3611880" cy="914400"/>
          </a:xfrm>
          <a:prstGeom prst="roundRect">
            <a:avLst>
              <a:gd name="adj" fmla="val 8000"/>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41" name="Shape 39"/>
          <p:cNvSpPr/>
          <p:nvPr/>
        </p:nvSpPr>
        <p:spPr>
          <a:xfrm>
            <a:off x="685800" y="5047488"/>
            <a:ext cx="438912" cy="438912"/>
          </a:xfrm>
          <a:prstGeom prst="ellipse">
            <a:avLst/>
          </a:prstGeom>
          <a:solidFill>
            <a:srgbClr val="028090"/>
          </a:solidFill>
          <a:ln/>
        </p:spPr>
        <p:txBody>
          <a:bodyPr/>
          <a:lstStyle/>
          <a:p>
            <a:endParaRPr lang="en-IN"/>
          </a:p>
        </p:txBody>
      </p:sp>
      <p:sp>
        <p:nvSpPr>
          <p:cNvPr id="42" name="Text 40"/>
          <p:cNvSpPr txBox="1"/>
          <p:nvPr/>
        </p:nvSpPr>
        <p:spPr>
          <a:xfrm>
            <a:off x="640080" y="5047488"/>
            <a:ext cx="530352"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43" name="Text 41"/>
          <p:cNvSpPr txBox="1"/>
          <p:nvPr/>
        </p:nvSpPr>
        <p:spPr>
          <a:xfrm>
            <a:off x="1234440" y="4809744"/>
            <a:ext cx="2788920" cy="914400"/>
          </a:xfrm>
          <a:prstGeom prst="rect">
            <a:avLst/>
          </a:prstGeom>
          <a:noFill/>
          <a:ln/>
        </p:spPr>
        <p:txBody>
          <a:bodyPr wrap="square" lIns="0" tIns="0" rIns="0" bIns="0" rtlCol="0" anchor="ctr"/>
          <a:lstStyle/>
          <a:p>
            <a:pPr marL="0" indent="0">
              <a:lnSpc>
                <a:spcPct val="105000"/>
              </a:lnSpc>
              <a:buNone/>
            </a:pPr>
            <a:r>
              <a:rPr lang="en-US" sz="1250" b="1" dirty="0">
                <a:solidFill>
                  <a:srgbClr val="1C1C1C"/>
                </a:solidFill>
                <a:latin typeface="Calibri" pitchFamily="34" charset="0"/>
                <a:ea typeface="Calibri" pitchFamily="34" charset="-122"/>
                <a:cs typeface="Calibri" pitchFamily="34" charset="-120"/>
              </a:rPr>
              <a:t>Overlap with other funds</a:t>
            </a:r>
            <a:endParaRPr lang="en-US" sz="1250" dirty="0"/>
          </a:p>
        </p:txBody>
      </p:sp>
      <p:sp>
        <p:nvSpPr>
          <p:cNvPr id="44" name="Shape 42"/>
          <p:cNvSpPr/>
          <p:nvPr/>
        </p:nvSpPr>
        <p:spPr>
          <a:xfrm>
            <a:off x="4270248" y="4809744"/>
            <a:ext cx="3611880" cy="914400"/>
          </a:xfrm>
          <a:prstGeom prst="roundRect">
            <a:avLst>
              <a:gd name="adj" fmla="val 8000"/>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45" name="Shape 43"/>
          <p:cNvSpPr/>
          <p:nvPr/>
        </p:nvSpPr>
        <p:spPr>
          <a:xfrm>
            <a:off x="4407408" y="5047488"/>
            <a:ext cx="438912" cy="438912"/>
          </a:xfrm>
          <a:prstGeom prst="ellipse">
            <a:avLst/>
          </a:prstGeom>
          <a:solidFill>
            <a:srgbClr val="00A896"/>
          </a:solidFill>
          <a:ln/>
        </p:spPr>
        <p:txBody>
          <a:bodyPr/>
          <a:lstStyle/>
          <a:p>
            <a:endParaRPr lang="en-IN"/>
          </a:p>
        </p:txBody>
      </p:sp>
      <p:sp>
        <p:nvSpPr>
          <p:cNvPr id="46" name="Text 44"/>
          <p:cNvSpPr txBox="1"/>
          <p:nvPr/>
        </p:nvSpPr>
        <p:spPr>
          <a:xfrm>
            <a:off x="4361688" y="5047488"/>
            <a:ext cx="530352"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11</a:t>
            </a:r>
            <a:endParaRPr lang="en-US" sz="1400" dirty="0"/>
          </a:p>
        </p:txBody>
      </p:sp>
      <p:sp>
        <p:nvSpPr>
          <p:cNvPr id="47" name="Text 45"/>
          <p:cNvSpPr txBox="1"/>
          <p:nvPr/>
        </p:nvSpPr>
        <p:spPr>
          <a:xfrm>
            <a:off x="4956048" y="4809744"/>
            <a:ext cx="2788920" cy="914400"/>
          </a:xfrm>
          <a:prstGeom prst="rect">
            <a:avLst/>
          </a:prstGeom>
          <a:noFill/>
          <a:ln/>
        </p:spPr>
        <p:txBody>
          <a:bodyPr wrap="square" lIns="0" tIns="0" rIns="0" bIns="0" rtlCol="0" anchor="ctr"/>
          <a:lstStyle/>
          <a:p>
            <a:pPr marL="0" indent="0">
              <a:lnSpc>
                <a:spcPct val="105000"/>
              </a:lnSpc>
              <a:buNone/>
            </a:pPr>
            <a:r>
              <a:rPr lang="en-US" sz="1250" b="1" dirty="0">
                <a:solidFill>
                  <a:srgbClr val="1C1C1C"/>
                </a:solidFill>
                <a:latin typeface="Calibri" pitchFamily="34" charset="0"/>
                <a:ea typeface="Calibri" pitchFamily="34" charset="-122"/>
                <a:cs typeface="Calibri" pitchFamily="34" charset="-120"/>
              </a:rPr>
              <a:t>Behaviour in corrections</a:t>
            </a:r>
            <a:endParaRPr lang="en-US" sz="1250" dirty="0"/>
          </a:p>
        </p:txBody>
      </p:sp>
      <p:sp>
        <p:nvSpPr>
          <p:cNvPr id="48" name="Shape 46"/>
          <p:cNvSpPr/>
          <p:nvPr/>
        </p:nvSpPr>
        <p:spPr>
          <a:xfrm>
            <a:off x="7991856" y="4809744"/>
            <a:ext cx="3611880" cy="914400"/>
          </a:xfrm>
          <a:prstGeom prst="roundRect">
            <a:avLst>
              <a:gd name="adj" fmla="val 8000"/>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49" name="Shape 47"/>
          <p:cNvSpPr/>
          <p:nvPr/>
        </p:nvSpPr>
        <p:spPr>
          <a:xfrm>
            <a:off x="8129016" y="5047488"/>
            <a:ext cx="438912" cy="438912"/>
          </a:xfrm>
          <a:prstGeom prst="ellipse">
            <a:avLst/>
          </a:prstGeom>
          <a:solidFill>
            <a:srgbClr val="1C7293"/>
          </a:solidFill>
          <a:ln/>
        </p:spPr>
        <p:txBody>
          <a:bodyPr/>
          <a:lstStyle/>
          <a:p>
            <a:endParaRPr lang="en-IN"/>
          </a:p>
        </p:txBody>
      </p:sp>
      <p:sp>
        <p:nvSpPr>
          <p:cNvPr id="50" name="Text 48"/>
          <p:cNvSpPr txBox="1"/>
          <p:nvPr/>
        </p:nvSpPr>
        <p:spPr>
          <a:xfrm>
            <a:off x="8083296" y="5047488"/>
            <a:ext cx="530352"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12</a:t>
            </a:r>
            <a:endParaRPr lang="en-US" sz="1400" dirty="0"/>
          </a:p>
        </p:txBody>
      </p:sp>
      <p:sp>
        <p:nvSpPr>
          <p:cNvPr id="51" name="Text 49"/>
          <p:cNvSpPr txBox="1"/>
          <p:nvPr/>
        </p:nvSpPr>
        <p:spPr>
          <a:xfrm>
            <a:off x="8677656" y="4809744"/>
            <a:ext cx="2788920" cy="914400"/>
          </a:xfrm>
          <a:prstGeom prst="rect">
            <a:avLst/>
          </a:prstGeom>
          <a:noFill/>
          <a:ln/>
        </p:spPr>
        <p:txBody>
          <a:bodyPr wrap="square" lIns="0" tIns="0" rIns="0" bIns="0" rtlCol="0" anchor="ctr"/>
          <a:lstStyle/>
          <a:p>
            <a:pPr marL="0" indent="0">
              <a:lnSpc>
                <a:spcPct val="105000"/>
              </a:lnSpc>
              <a:buNone/>
            </a:pPr>
            <a:r>
              <a:rPr lang="en-US" sz="1250" b="1" dirty="0">
                <a:solidFill>
                  <a:srgbClr val="1C1C1C"/>
                </a:solidFill>
                <a:latin typeface="Calibri" pitchFamily="34" charset="0"/>
                <a:ea typeface="Calibri" pitchFamily="34" charset="-122"/>
                <a:cs typeface="Calibri" pitchFamily="34" charset="-120"/>
              </a:rPr>
              <a:t>Fit with overall portfolio</a:t>
            </a:r>
            <a:endParaRPr lang="en-US" sz="1250" dirty="0"/>
          </a:p>
        </p:txBody>
      </p:sp>
      <p:sp>
        <p:nvSpPr>
          <p:cNvPr id="52" name="Text 50"/>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900" dirty="0">
                <a:solidFill>
                  <a:srgbClr val="8A97A0"/>
                </a:solidFill>
                <a:latin typeface="Calibri" pitchFamily="34" charset="0"/>
                <a:ea typeface="Calibri" pitchFamily="34" charset="-122"/>
                <a:cs typeface="Calibri" pitchFamily="34" charset="-120"/>
              </a:rPr>
              <a:t>Mutual Funds: What My Investing Journey Taught Me</a:t>
            </a:r>
            <a:endParaRPr lang="en-US" sz="900" dirty="0"/>
          </a:p>
        </p:txBody>
      </p:sp>
      <p:sp>
        <p:nvSpPr>
          <p:cNvPr id="53" name="Text 51"/>
          <p:cNvSpPr txBox="1"/>
          <p:nvPr/>
        </p:nvSpPr>
        <p:spPr>
          <a:xfrm>
            <a:off x="11000232" y="6473952"/>
            <a:ext cx="731520" cy="274320"/>
          </a:xfrm>
          <a:prstGeom prst="rect">
            <a:avLst/>
          </a:prstGeom>
          <a:noFill/>
          <a:ln/>
        </p:spPr>
        <p:txBody>
          <a:bodyPr wrap="square" lIns="0" tIns="0" rIns="0" bIns="0" rtlCol="0" anchor="ctr"/>
          <a:lstStyle/>
          <a:p>
            <a:pPr marL="0" indent="0" algn="r">
              <a:buNone/>
            </a:pPr>
            <a:r>
              <a:rPr lang="en-US" sz="900" dirty="0">
                <a:solidFill>
                  <a:srgbClr val="8A97A0"/>
                </a:solidFill>
                <a:latin typeface="Calibri" pitchFamily="34" charset="0"/>
                <a:ea typeface="Calibri" pitchFamily="34" charset="-122"/>
                <a:cs typeface="Calibri" pitchFamily="34" charset="-120"/>
              </a:rPr>
              <a:t>17 / 31</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A PRACTICAL CHOICE</a:t>
            </a:r>
            <a:endParaRPr lang="en-US" sz="1300" dirty="0"/>
          </a:p>
        </p:txBody>
      </p:sp>
      <p:sp>
        <p:nvSpPr>
          <p:cNvPr id="3" name="Text 1"/>
          <p:cNvSpPr txBox="1"/>
          <p:nvPr/>
        </p:nvSpPr>
        <p:spPr>
          <a:xfrm>
            <a:off x="548640" y="685800"/>
            <a:ext cx="11064240" cy="822960"/>
          </a:xfrm>
          <a:prstGeom prst="rect">
            <a:avLst/>
          </a:prstGeom>
          <a:noFill/>
          <a:ln/>
        </p:spPr>
        <p:txBody>
          <a:bodyPr wrap="square" lIns="0" tIns="0" rIns="0" bIns="0" rtlCol="0" anchor="ctr"/>
          <a:lstStyle/>
          <a:p>
            <a:pPr marL="0" indent="0">
              <a:buNone/>
            </a:pPr>
            <a:r>
              <a:rPr lang="en-US" sz="3000" b="1" dirty="0">
                <a:solidFill>
                  <a:srgbClr val="0A2A43"/>
                </a:solidFill>
                <a:latin typeface="Cambria" pitchFamily="34" charset="0"/>
                <a:ea typeface="Cambria" pitchFamily="34" charset="-122"/>
                <a:cs typeface="Cambria" pitchFamily="34" charset="-120"/>
              </a:rPr>
              <a:t>Direct vs Regular Plans</a:t>
            </a:r>
            <a:endParaRPr lang="en-US" sz="3000" dirty="0"/>
          </a:p>
        </p:txBody>
      </p:sp>
      <p:sp>
        <p:nvSpPr>
          <p:cNvPr id="4" name="Shape 2"/>
          <p:cNvSpPr/>
          <p:nvPr/>
        </p:nvSpPr>
        <p:spPr>
          <a:xfrm>
            <a:off x="548640" y="1691640"/>
            <a:ext cx="5349240" cy="2286000"/>
          </a:xfrm>
          <a:prstGeom prst="roundRect">
            <a:avLst>
              <a:gd name="adj" fmla="val 3200"/>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5" name="Text 3"/>
          <p:cNvSpPr txBox="1"/>
          <p:nvPr/>
        </p:nvSpPr>
        <p:spPr>
          <a:xfrm>
            <a:off x="868680" y="1828800"/>
            <a:ext cx="3657600" cy="411480"/>
          </a:xfrm>
          <a:prstGeom prst="rect">
            <a:avLst/>
          </a:prstGeom>
          <a:noFill/>
          <a:ln/>
        </p:spPr>
        <p:txBody>
          <a:bodyPr wrap="square" lIns="0" tIns="0" rIns="0" bIns="0" rtlCol="0" anchor="ctr"/>
          <a:lstStyle/>
          <a:p>
            <a:pPr marL="0" indent="0">
              <a:buNone/>
            </a:pPr>
            <a:r>
              <a:rPr lang="en-US" sz="1800" b="1" dirty="0">
                <a:solidFill>
                  <a:srgbClr val="028090"/>
                </a:solidFill>
                <a:latin typeface="Cambria" pitchFamily="34" charset="0"/>
                <a:ea typeface="Cambria" pitchFamily="34" charset="-122"/>
                <a:cs typeface="Cambria" pitchFamily="34" charset="-120"/>
              </a:rPr>
              <a:t>Direct Plan</a:t>
            </a:r>
            <a:endParaRPr lang="en-US" sz="1800" dirty="0"/>
          </a:p>
        </p:txBody>
      </p:sp>
      <p:sp>
        <p:nvSpPr>
          <p:cNvPr id="6" name="Text 4"/>
          <p:cNvSpPr txBox="1"/>
          <p:nvPr/>
        </p:nvSpPr>
        <p:spPr>
          <a:xfrm>
            <a:off x="868680" y="2286000"/>
            <a:ext cx="4754880" cy="4114800"/>
          </a:xfrm>
          <a:prstGeom prst="rect">
            <a:avLst/>
          </a:prstGeom>
          <a:noFill/>
          <a:ln/>
        </p:spPr>
        <p:txBody>
          <a:bodyPr wrap="square" lIns="0" tIns="0" rIns="0" bIns="0" rtlCol="0" anchor="t"/>
          <a:lstStyle/>
          <a:p>
            <a:pPr marL="228600" indent="-228600">
              <a:lnSpc>
                <a:spcPct val="108000"/>
              </a:lnSpc>
              <a:spcAft>
                <a:spcPts val="800"/>
              </a:spcAft>
              <a:buSzPct val="100000"/>
              <a:buChar char="•"/>
            </a:pPr>
            <a:r>
              <a:rPr lang="en-US" sz="1250" dirty="0">
                <a:solidFill>
                  <a:srgbClr val="1C1C1C"/>
                </a:solidFill>
                <a:latin typeface="Calibri" pitchFamily="34" charset="0"/>
                <a:ea typeface="Calibri" pitchFamily="34" charset="-122"/>
                <a:cs typeface="Calibri" pitchFamily="34" charset="-120"/>
              </a:rPr>
              <a:t>Bought directly from the AMC — no distributor involved.</a:t>
            </a:r>
            <a:endParaRPr lang="en-US" sz="1250" dirty="0"/>
          </a:p>
          <a:p>
            <a:pPr marL="228600" indent="-228600">
              <a:lnSpc>
                <a:spcPct val="108000"/>
              </a:lnSpc>
              <a:spcAft>
                <a:spcPts val="800"/>
              </a:spcAft>
              <a:buSzPct val="100000"/>
              <a:buChar char="•"/>
            </a:pPr>
            <a:r>
              <a:rPr lang="en-US" sz="1250" dirty="0">
                <a:solidFill>
                  <a:srgbClr val="1C1C1C"/>
                </a:solidFill>
                <a:latin typeface="Calibri" pitchFamily="34" charset="0"/>
                <a:ea typeface="Calibri" pitchFamily="34" charset="-122"/>
                <a:cs typeface="Calibri" pitchFamily="34" charset="-120"/>
              </a:rPr>
              <a:t>Generally lower expense ratio (no distribution cost).</a:t>
            </a:r>
            <a:endParaRPr lang="en-US" sz="1250" dirty="0"/>
          </a:p>
          <a:p>
            <a:pPr marL="228600" indent="-228600">
              <a:lnSpc>
                <a:spcPct val="108000"/>
              </a:lnSpc>
              <a:spcAft>
                <a:spcPts val="800"/>
              </a:spcAft>
              <a:buSzPct val="100000"/>
              <a:buChar char="•"/>
            </a:pPr>
            <a:r>
              <a:rPr lang="en-US" sz="1250" dirty="0">
                <a:solidFill>
                  <a:srgbClr val="1C1C1C"/>
                </a:solidFill>
                <a:latin typeface="Calibri" pitchFamily="34" charset="0"/>
                <a:ea typeface="Calibri" pitchFamily="34" charset="-122"/>
                <a:cs typeface="Calibri" pitchFamily="34" charset="-120"/>
              </a:rPr>
              <a:t>You take on more responsibility for research and execution.</a:t>
            </a:r>
            <a:endParaRPr lang="en-US" sz="1250" dirty="0"/>
          </a:p>
        </p:txBody>
      </p:sp>
      <p:sp>
        <p:nvSpPr>
          <p:cNvPr id="7" name="Shape 5"/>
          <p:cNvSpPr/>
          <p:nvPr/>
        </p:nvSpPr>
        <p:spPr>
          <a:xfrm>
            <a:off x="6126480" y="1691640"/>
            <a:ext cx="5486400" cy="2286000"/>
          </a:xfrm>
          <a:prstGeom prst="roundRect">
            <a:avLst>
              <a:gd name="adj" fmla="val 3200"/>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8" name="Text 6"/>
          <p:cNvSpPr txBox="1"/>
          <p:nvPr/>
        </p:nvSpPr>
        <p:spPr>
          <a:xfrm>
            <a:off x="6446520" y="1828800"/>
            <a:ext cx="3657600" cy="411480"/>
          </a:xfrm>
          <a:prstGeom prst="rect">
            <a:avLst/>
          </a:prstGeom>
          <a:noFill/>
          <a:ln/>
        </p:spPr>
        <p:txBody>
          <a:bodyPr wrap="square" lIns="0" tIns="0" rIns="0" bIns="0" rtlCol="0" anchor="ctr"/>
          <a:lstStyle/>
          <a:p>
            <a:pPr marL="0" indent="0">
              <a:buNone/>
            </a:pPr>
            <a:r>
              <a:rPr lang="en-US" sz="1800" b="1" dirty="0">
                <a:solidFill>
                  <a:srgbClr val="00A896"/>
                </a:solidFill>
                <a:latin typeface="Cambria" pitchFamily="34" charset="0"/>
                <a:ea typeface="Cambria" pitchFamily="34" charset="-122"/>
                <a:cs typeface="Cambria" pitchFamily="34" charset="-120"/>
              </a:rPr>
              <a:t>Regular Plan</a:t>
            </a:r>
            <a:endParaRPr lang="en-US" sz="1800" dirty="0"/>
          </a:p>
        </p:txBody>
      </p:sp>
      <p:sp>
        <p:nvSpPr>
          <p:cNvPr id="9" name="Text 7"/>
          <p:cNvSpPr txBox="1"/>
          <p:nvPr/>
        </p:nvSpPr>
        <p:spPr>
          <a:xfrm>
            <a:off x="6446520" y="2286000"/>
            <a:ext cx="4937760" cy="4114800"/>
          </a:xfrm>
          <a:prstGeom prst="rect">
            <a:avLst/>
          </a:prstGeom>
          <a:noFill/>
          <a:ln/>
        </p:spPr>
        <p:txBody>
          <a:bodyPr wrap="square" lIns="0" tIns="0" rIns="0" bIns="0" rtlCol="0" anchor="t"/>
          <a:lstStyle/>
          <a:p>
            <a:pPr marL="228600" indent="-228600">
              <a:lnSpc>
                <a:spcPct val="108000"/>
              </a:lnSpc>
              <a:spcAft>
                <a:spcPts val="800"/>
              </a:spcAft>
              <a:buSzPct val="100000"/>
              <a:buChar char="•"/>
            </a:pPr>
            <a:r>
              <a:rPr lang="en-US" sz="1250" dirty="0">
                <a:solidFill>
                  <a:srgbClr val="1C1C1C"/>
                </a:solidFill>
                <a:latin typeface="Calibri" pitchFamily="34" charset="0"/>
                <a:ea typeface="Calibri" pitchFamily="34" charset="-122"/>
                <a:cs typeface="Calibri" pitchFamily="34" charset="-120"/>
              </a:rPr>
              <a:t>Bought through a distributor/adviser/platform.</a:t>
            </a:r>
            <a:endParaRPr lang="en-US" sz="1250" dirty="0"/>
          </a:p>
          <a:p>
            <a:pPr marL="228600" indent="-228600">
              <a:lnSpc>
                <a:spcPct val="108000"/>
              </a:lnSpc>
              <a:spcAft>
                <a:spcPts val="800"/>
              </a:spcAft>
              <a:buSzPct val="100000"/>
              <a:buChar char="•"/>
            </a:pPr>
            <a:r>
              <a:rPr lang="en-US" sz="1250" dirty="0">
                <a:solidFill>
                  <a:srgbClr val="1C1C1C"/>
                </a:solidFill>
                <a:latin typeface="Calibri" pitchFamily="34" charset="0"/>
                <a:ea typeface="Calibri" pitchFamily="34" charset="-122"/>
                <a:cs typeface="Calibri" pitchFamily="34" charset="-120"/>
              </a:rPr>
              <a:t>Slightly higher expense ratio — pays for assistance and service.</a:t>
            </a:r>
            <a:endParaRPr lang="en-US" sz="1250" dirty="0"/>
          </a:p>
          <a:p>
            <a:pPr marL="228600" indent="-228600">
              <a:lnSpc>
                <a:spcPct val="108000"/>
              </a:lnSpc>
              <a:spcAft>
                <a:spcPts val="800"/>
              </a:spcAft>
              <a:buSzPct val="100000"/>
              <a:buChar char="•"/>
            </a:pPr>
            <a:r>
              <a:rPr lang="en-US" sz="1250" dirty="0">
                <a:solidFill>
                  <a:srgbClr val="1C1C1C"/>
                </a:solidFill>
                <a:latin typeface="Calibri" pitchFamily="34" charset="0"/>
                <a:ea typeface="Calibri" pitchFamily="34" charset="-122"/>
                <a:cs typeface="Calibri" pitchFamily="34" charset="-120"/>
              </a:rPr>
              <a:t>Useful if you want guidance; understand how the person/platform is compensated.</a:t>
            </a:r>
            <a:endParaRPr lang="en-US" sz="1250" dirty="0"/>
          </a:p>
        </p:txBody>
      </p:sp>
      <p:sp>
        <p:nvSpPr>
          <p:cNvPr id="10" name="Shape 8"/>
          <p:cNvSpPr/>
          <p:nvPr/>
        </p:nvSpPr>
        <p:spPr>
          <a:xfrm>
            <a:off x="548640" y="4114800"/>
            <a:ext cx="11064240" cy="1417320"/>
          </a:xfrm>
          <a:prstGeom prst="roundRect">
            <a:avLst>
              <a:gd name="adj" fmla="val 5161"/>
            </a:avLst>
          </a:prstGeom>
          <a:solidFill>
            <a:srgbClr val="0F3A57"/>
          </a:solidFill>
          <a:ln/>
          <a:effectLst>
            <a:outerShdw blurRad="76200" dist="25400" dir="5400000" algn="bl" rotWithShape="0">
              <a:srgbClr val="1B1B1B">
                <a:alpha val="12000"/>
              </a:srgbClr>
            </a:outerShdw>
          </a:effectLst>
        </p:spPr>
        <p:txBody>
          <a:bodyPr/>
          <a:lstStyle/>
          <a:p>
            <a:endParaRPr lang="en-IN"/>
          </a:p>
        </p:txBody>
      </p:sp>
      <p:sp>
        <p:nvSpPr>
          <p:cNvPr id="11" name="Text 9"/>
          <p:cNvSpPr txBox="1"/>
          <p:nvPr/>
        </p:nvSpPr>
        <p:spPr>
          <a:xfrm>
            <a:off x="868680" y="4224528"/>
            <a:ext cx="7315200" cy="320040"/>
          </a:xfrm>
          <a:prstGeom prst="rect">
            <a:avLst/>
          </a:prstGeom>
          <a:noFill/>
          <a:ln/>
        </p:spPr>
        <p:txBody>
          <a:bodyPr wrap="square" lIns="0" tIns="0" rIns="0" bIns="0" rtlCol="0" anchor="ctr"/>
          <a:lstStyle/>
          <a:p>
            <a:pPr marL="0" indent="0">
              <a:buNone/>
            </a:pPr>
            <a:r>
              <a:rPr lang="en-US" sz="1300" b="1" dirty="0">
                <a:solidFill>
                  <a:srgbClr val="6FE7DD"/>
                </a:solidFill>
                <a:latin typeface="Calibri" pitchFamily="34" charset="0"/>
                <a:ea typeface="Calibri" pitchFamily="34" charset="-122"/>
                <a:cs typeface="Calibri" pitchFamily="34" charset="-120"/>
              </a:rPr>
              <a:t>Real example: Parag Parikh Flexi Cap Fund</a:t>
            </a:r>
            <a:endParaRPr lang="en-US" sz="1300" dirty="0"/>
          </a:p>
        </p:txBody>
      </p:sp>
      <p:sp>
        <p:nvSpPr>
          <p:cNvPr id="12" name="Text 10"/>
          <p:cNvSpPr txBox="1"/>
          <p:nvPr/>
        </p:nvSpPr>
        <p:spPr>
          <a:xfrm>
            <a:off x="868680" y="4553712"/>
            <a:ext cx="10241280" cy="320040"/>
          </a:xfrm>
          <a:prstGeom prst="rect">
            <a:avLst/>
          </a:prstGeom>
          <a:noFill/>
          <a:ln/>
        </p:spPr>
        <p:txBody>
          <a:bodyPr wrap="square" lIns="0" tIns="0" rIns="0" bIns="0" rtlCol="0" anchor="ctr"/>
          <a:lstStyle/>
          <a:p>
            <a:pPr marL="0" indent="0">
              <a:buNone/>
            </a:pPr>
            <a:r>
              <a:rPr lang="en-US" sz="1250" dirty="0">
                <a:solidFill>
                  <a:srgbClr val="E4EEF0"/>
                </a:solidFill>
                <a:latin typeface="Calibri" pitchFamily="34" charset="0"/>
                <a:ea typeface="Calibri" pitchFamily="34" charset="-122"/>
                <a:cs typeface="Calibri" pitchFamily="34" charset="-120"/>
              </a:rPr>
              <a:t>Direct: NAV ₹89.86 · Expense Ratio 0.53%          Regular: NAV ₹83.92 · Expense Ratio 1.05%</a:t>
            </a:r>
            <a:endParaRPr lang="en-US" sz="1250" dirty="0"/>
          </a:p>
        </p:txBody>
      </p:sp>
      <p:sp>
        <p:nvSpPr>
          <p:cNvPr id="13" name="Text 11"/>
          <p:cNvSpPr txBox="1"/>
          <p:nvPr/>
        </p:nvSpPr>
        <p:spPr>
          <a:xfrm>
            <a:off x="868680" y="4892040"/>
            <a:ext cx="10241280" cy="594360"/>
          </a:xfrm>
          <a:prstGeom prst="rect">
            <a:avLst/>
          </a:prstGeom>
          <a:noFill/>
          <a:ln/>
        </p:spPr>
        <p:txBody>
          <a:bodyPr wrap="square" lIns="0" tIns="0" rIns="0" bIns="0" rtlCol="0" anchor="ctr"/>
          <a:lstStyle/>
          <a:p>
            <a:pPr marL="0" indent="0">
              <a:lnSpc>
                <a:spcPct val="115000"/>
              </a:lnSpc>
              <a:buNone/>
            </a:pPr>
            <a:r>
              <a:rPr lang="en-US" sz="1200" b="1" i="1" dirty="0">
                <a:solidFill>
                  <a:srgbClr val="F4A300"/>
                </a:solidFill>
                <a:latin typeface="Calibri" pitchFamily="34" charset="0"/>
                <a:ea typeface="Calibri" pitchFamily="34" charset="-122"/>
                <a:cs typeface="Calibri" pitchFamily="34" charset="-120"/>
              </a:rPr>
              <a:t>Same ₹3,000/month SIP (step-up ₹1,000/yr), same portfolio, same fund manager — over 10 years, choosing Regular over Direct costs this investor ≈₹31,600 in lost value, purely from the extra 0.52% expense ratio compounding. (Full year-by-year math in the companion Excel model.)</a:t>
            </a:r>
            <a:endParaRPr lang="en-US" sz="1200" dirty="0"/>
          </a:p>
        </p:txBody>
      </p:sp>
      <p:sp>
        <p:nvSpPr>
          <p:cNvPr id="14" name="Shape 12"/>
          <p:cNvSpPr/>
          <p:nvPr/>
        </p:nvSpPr>
        <p:spPr>
          <a:xfrm>
            <a:off x="548640" y="5669280"/>
            <a:ext cx="11064240" cy="640080"/>
          </a:xfrm>
          <a:prstGeom prst="roundRect">
            <a:avLst>
              <a:gd name="adj" fmla="val 11429"/>
            </a:avLst>
          </a:prstGeom>
          <a:solidFill>
            <a:srgbClr val="0A2A43"/>
          </a:solidFill>
          <a:ln/>
          <a:effectLst>
            <a:outerShdw blurRad="76200" dist="25400" dir="5400000" algn="bl" rotWithShape="0">
              <a:srgbClr val="1B1B1B">
                <a:alpha val="12000"/>
              </a:srgbClr>
            </a:outerShdw>
          </a:effectLst>
        </p:spPr>
        <p:txBody>
          <a:bodyPr/>
          <a:lstStyle/>
          <a:p>
            <a:endParaRPr lang="en-IN"/>
          </a:p>
        </p:txBody>
      </p:sp>
      <p:sp>
        <p:nvSpPr>
          <p:cNvPr id="15" name="Text 13"/>
          <p:cNvSpPr txBox="1"/>
          <p:nvPr/>
        </p:nvSpPr>
        <p:spPr>
          <a:xfrm>
            <a:off x="914400" y="5669280"/>
            <a:ext cx="10332720" cy="640080"/>
          </a:xfrm>
          <a:prstGeom prst="rect">
            <a:avLst/>
          </a:prstGeom>
          <a:noFill/>
          <a:ln/>
        </p:spPr>
        <p:txBody>
          <a:bodyPr wrap="square" lIns="0" tIns="0" rIns="0" bIns="0" rtlCol="0" anchor="ctr"/>
          <a:lstStyle/>
          <a:p>
            <a:pPr marL="0" indent="0">
              <a:lnSpc>
                <a:spcPct val="110000"/>
              </a:lnSpc>
              <a:buNone/>
            </a:pPr>
            <a:r>
              <a:rPr lang="en-US" sz="1200" i="1" dirty="0">
                <a:solidFill>
                  <a:srgbClr val="E4EEF0"/>
                </a:solidFill>
                <a:latin typeface="Calibri" pitchFamily="34" charset="0"/>
                <a:ea typeface="Calibri" pitchFamily="34" charset="-122"/>
                <a:cs typeface="Calibri" pitchFamily="34" charset="-120"/>
              </a:rPr>
              <a:t>Both plans share the same portfolio and fund manager — only the expense ratio differs. “Direct” doesn’t automatically mean “better for everyone.”</a:t>
            </a:r>
            <a:endParaRPr lang="en-US" sz="1200" dirty="0"/>
          </a:p>
        </p:txBody>
      </p:sp>
      <p:sp>
        <p:nvSpPr>
          <p:cNvPr id="16" name="Text 14"/>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900" dirty="0">
                <a:solidFill>
                  <a:srgbClr val="8A97A0"/>
                </a:solidFill>
                <a:latin typeface="Calibri" pitchFamily="34" charset="0"/>
                <a:ea typeface="Calibri" pitchFamily="34" charset="-122"/>
                <a:cs typeface="Calibri" pitchFamily="34" charset="-120"/>
              </a:rPr>
              <a:t>Mutual Funds: What My Investing Journey Taught Me</a:t>
            </a:r>
            <a:endParaRPr lang="en-US" sz="900" dirty="0"/>
          </a:p>
        </p:txBody>
      </p:sp>
      <p:sp>
        <p:nvSpPr>
          <p:cNvPr id="17" name="Text 15"/>
          <p:cNvSpPr txBox="1"/>
          <p:nvPr/>
        </p:nvSpPr>
        <p:spPr>
          <a:xfrm>
            <a:off x="11000232" y="6473952"/>
            <a:ext cx="731520" cy="274320"/>
          </a:xfrm>
          <a:prstGeom prst="rect">
            <a:avLst/>
          </a:prstGeom>
          <a:noFill/>
          <a:ln/>
        </p:spPr>
        <p:txBody>
          <a:bodyPr wrap="square" lIns="0" tIns="0" rIns="0" bIns="0" rtlCol="0" anchor="ctr"/>
          <a:lstStyle/>
          <a:p>
            <a:pPr marL="0" indent="0" algn="r">
              <a:buNone/>
            </a:pPr>
            <a:r>
              <a:rPr lang="en-US" sz="900" dirty="0">
                <a:solidFill>
                  <a:srgbClr val="8A97A0"/>
                </a:solidFill>
                <a:latin typeface="Calibri" pitchFamily="34" charset="0"/>
                <a:ea typeface="Calibri" pitchFamily="34" charset="-122"/>
                <a:cs typeface="Calibri" pitchFamily="34" charset="-120"/>
              </a:rPr>
              <a:t>18 / 31</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A THIRD CHOICE, BEYOND DIRECT VS REGULAR</a:t>
            </a:r>
            <a:endParaRPr lang="en-US" sz="1300" dirty="0"/>
          </a:p>
        </p:txBody>
      </p:sp>
      <p:sp>
        <p:nvSpPr>
          <p:cNvPr id="3" name="Text 1"/>
          <p:cNvSpPr txBox="1"/>
          <p:nvPr/>
        </p:nvSpPr>
        <p:spPr>
          <a:xfrm>
            <a:off x="548640" y="685800"/>
            <a:ext cx="11064240" cy="822960"/>
          </a:xfrm>
          <a:prstGeom prst="rect">
            <a:avLst/>
          </a:prstGeom>
          <a:noFill/>
          <a:ln/>
        </p:spPr>
        <p:txBody>
          <a:bodyPr wrap="square" lIns="0" tIns="0" rIns="0" bIns="0" rtlCol="0" anchor="ctr"/>
          <a:lstStyle/>
          <a:p>
            <a:pPr marL="0" indent="0">
              <a:buNone/>
            </a:pPr>
            <a:r>
              <a:rPr lang="en-US" sz="3000" b="1" dirty="0">
                <a:solidFill>
                  <a:srgbClr val="0A2A43"/>
                </a:solidFill>
                <a:latin typeface="Cambria" pitchFamily="34" charset="0"/>
                <a:ea typeface="Cambria" pitchFamily="34" charset="-122"/>
                <a:cs typeface="Cambria" pitchFamily="34" charset="-120"/>
              </a:rPr>
              <a:t>IDCW vs Growth: Which Option Actually Matters?</a:t>
            </a:r>
            <a:endParaRPr lang="en-US" sz="3000" dirty="0"/>
          </a:p>
        </p:txBody>
      </p:sp>
      <p:sp>
        <p:nvSpPr>
          <p:cNvPr id="4" name="Shape 2"/>
          <p:cNvSpPr/>
          <p:nvPr/>
        </p:nvSpPr>
        <p:spPr>
          <a:xfrm>
            <a:off x="548640" y="1691640"/>
            <a:ext cx="5349240" cy="2834640"/>
          </a:xfrm>
          <a:prstGeom prst="roundRect">
            <a:avLst>
              <a:gd name="adj" fmla="val 2581"/>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5" name="Text 3"/>
          <p:cNvSpPr txBox="1"/>
          <p:nvPr/>
        </p:nvSpPr>
        <p:spPr>
          <a:xfrm>
            <a:off x="868680" y="1828800"/>
            <a:ext cx="4114800" cy="411480"/>
          </a:xfrm>
          <a:prstGeom prst="rect">
            <a:avLst/>
          </a:prstGeom>
          <a:noFill/>
          <a:ln/>
        </p:spPr>
        <p:txBody>
          <a:bodyPr wrap="square" lIns="0" tIns="0" rIns="0" bIns="0" rtlCol="0" anchor="ctr"/>
          <a:lstStyle/>
          <a:p>
            <a:pPr marL="0" indent="0">
              <a:buNone/>
            </a:pPr>
            <a:r>
              <a:rPr lang="en-US" sz="1700" b="1" dirty="0">
                <a:solidFill>
                  <a:srgbClr val="028090"/>
                </a:solidFill>
                <a:latin typeface="Cambria" pitchFamily="34" charset="0"/>
                <a:ea typeface="Cambria" pitchFamily="34" charset="-122"/>
                <a:cs typeface="Cambria" pitchFamily="34" charset="-120"/>
              </a:rPr>
              <a:t>Growth Option</a:t>
            </a:r>
            <a:endParaRPr lang="en-US" sz="1700" dirty="0"/>
          </a:p>
        </p:txBody>
      </p:sp>
      <p:sp>
        <p:nvSpPr>
          <p:cNvPr id="6" name="Text 4"/>
          <p:cNvSpPr txBox="1"/>
          <p:nvPr/>
        </p:nvSpPr>
        <p:spPr>
          <a:xfrm>
            <a:off x="868680" y="2331720"/>
            <a:ext cx="4754880" cy="4114800"/>
          </a:xfrm>
          <a:prstGeom prst="rect">
            <a:avLst/>
          </a:prstGeom>
          <a:noFill/>
          <a:ln/>
        </p:spPr>
        <p:txBody>
          <a:bodyPr wrap="square" lIns="0" tIns="0" rIns="0" bIns="0" rtlCol="0" anchor="t"/>
          <a:lstStyle/>
          <a:p>
            <a:pPr marL="228600" indent="-228600">
              <a:lnSpc>
                <a:spcPct val="108000"/>
              </a:lnSpc>
              <a:spcAft>
                <a:spcPts val="800"/>
              </a:spcAft>
              <a:buSzPct val="100000"/>
              <a:buChar char="•"/>
            </a:pPr>
            <a:r>
              <a:rPr lang="en-US" sz="1200" dirty="0">
                <a:solidFill>
                  <a:srgbClr val="1C1C1C"/>
                </a:solidFill>
                <a:latin typeface="Calibri" pitchFamily="34" charset="0"/>
                <a:ea typeface="Calibri" pitchFamily="34" charset="-122"/>
                <a:cs typeface="Calibri" pitchFamily="34" charset="-120"/>
              </a:rPr>
              <a:t>No periodic payouts — all gains stay invested and keep compounding inside the fund.</a:t>
            </a:r>
            <a:endParaRPr lang="en-US" sz="1200" dirty="0"/>
          </a:p>
          <a:p>
            <a:pPr marL="228600" indent="-228600">
              <a:lnSpc>
                <a:spcPct val="108000"/>
              </a:lnSpc>
              <a:spcAft>
                <a:spcPts val="800"/>
              </a:spcAft>
              <a:buSzPct val="100000"/>
              <a:buChar char="•"/>
            </a:pPr>
            <a:r>
              <a:rPr lang="en-US" sz="1200" dirty="0">
                <a:solidFill>
                  <a:srgbClr val="1C1C1C"/>
                </a:solidFill>
                <a:latin typeface="Calibri" pitchFamily="34" charset="0"/>
                <a:ea typeface="Calibri" pitchFamily="34" charset="-122"/>
                <a:cs typeface="Calibri" pitchFamily="34" charset="-120"/>
              </a:rPr>
              <a:t>NAV rises over time to reflect the full accumulated value.</a:t>
            </a:r>
            <a:endParaRPr lang="en-US" sz="1200" dirty="0"/>
          </a:p>
          <a:p>
            <a:pPr marL="228600" indent="-228600">
              <a:lnSpc>
                <a:spcPct val="108000"/>
              </a:lnSpc>
              <a:spcAft>
                <a:spcPts val="800"/>
              </a:spcAft>
              <a:buSzPct val="100000"/>
              <a:buChar char="•"/>
            </a:pPr>
            <a:r>
              <a:rPr lang="en-US" sz="1200" dirty="0">
                <a:solidFill>
                  <a:srgbClr val="1C1C1C"/>
                </a:solidFill>
                <a:latin typeface="Calibri" pitchFamily="34" charset="0"/>
                <a:ea typeface="Calibri" pitchFamily="34" charset="-122"/>
                <a:cs typeface="Calibri" pitchFamily="34" charset="-120"/>
              </a:rPr>
              <a:t>You control when to realise gains — tax (STCG/LTCG) applies only when you redeem.</a:t>
            </a:r>
            <a:endParaRPr lang="en-US" sz="1200" dirty="0"/>
          </a:p>
          <a:p>
            <a:pPr marL="228600" indent="-228600">
              <a:lnSpc>
                <a:spcPct val="108000"/>
              </a:lnSpc>
              <a:spcAft>
                <a:spcPts val="800"/>
              </a:spcAft>
              <a:buSzPct val="100000"/>
              <a:buChar char="•"/>
            </a:pPr>
            <a:r>
              <a:rPr lang="en-US" sz="1200" dirty="0">
                <a:solidFill>
                  <a:srgbClr val="1C1C1C"/>
                </a:solidFill>
                <a:latin typeface="Calibri" pitchFamily="34" charset="0"/>
                <a:ea typeface="Calibri" pitchFamily="34" charset="-122"/>
                <a:cs typeface="Calibri" pitchFamily="34" charset="-120"/>
              </a:rPr>
              <a:t>Generally the more efficient default for long-term wealth-creation goals.</a:t>
            </a:r>
            <a:endParaRPr lang="en-US" sz="1200" dirty="0"/>
          </a:p>
        </p:txBody>
      </p:sp>
      <p:sp>
        <p:nvSpPr>
          <p:cNvPr id="7" name="Shape 5"/>
          <p:cNvSpPr/>
          <p:nvPr/>
        </p:nvSpPr>
        <p:spPr>
          <a:xfrm>
            <a:off x="6126480" y="1691640"/>
            <a:ext cx="5532120" cy="2834640"/>
          </a:xfrm>
          <a:prstGeom prst="roundRect">
            <a:avLst>
              <a:gd name="adj" fmla="val 2581"/>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8" name="Text 6"/>
          <p:cNvSpPr txBox="1"/>
          <p:nvPr/>
        </p:nvSpPr>
        <p:spPr>
          <a:xfrm>
            <a:off x="6446520" y="1828800"/>
            <a:ext cx="4114800" cy="411480"/>
          </a:xfrm>
          <a:prstGeom prst="rect">
            <a:avLst/>
          </a:prstGeom>
          <a:noFill/>
          <a:ln/>
        </p:spPr>
        <p:txBody>
          <a:bodyPr wrap="square" lIns="0" tIns="0" rIns="0" bIns="0" rtlCol="0" anchor="ctr"/>
          <a:lstStyle/>
          <a:p>
            <a:pPr marL="0" indent="0">
              <a:buNone/>
            </a:pPr>
            <a:r>
              <a:rPr lang="en-US" sz="1700" b="1" dirty="0">
                <a:solidFill>
                  <a:srgbClr val="00A896"/>
                </a:solidFill>
                <a:latin typeface="Cambria" pitchFamily="34" charset="0"/>
                <a:ea typeface="Cambria" pitchFamily="34" charset="-122"/>
                <a:cs typeface="Cambria" pitchFamily="34" charset="-120"/>
              </a:rPr>
              <a:t>IDCW Option</a:t>
            </a:r>
            <a:endParaRPr lang="en-US" sz="1700" dirty="0"/>
          </a:p>
        </p:txBody>
      </p:sp>
      <p:sp>
        <p:nvSpPr>
          <p:cNvPr id="9" name="Text 7"/>
          <p:cNvSpPr txBox="1"/>
          <p:nvPr/>
        </p:nvSpPr>
        <p:spPr>
          <a:xfrm>
            <a:off x="6446520" y="2331720"/>
            <a:ext cx="4937760" cy="4114800"/>
          </a:xfrm>
          <a:prstGeom prst="rect">
            <a:avLst/>
          </a:prstGeom>
          <a:noFill/>
          <a:ln/>
        </p:spPr>
        <p:txBody>
          <a:bodyPr wrap="square" lIns="0" tIns="0" rIns="0" bIns="0" rtlCol="0" anchor="t"/>
          <a:lstStyle/>
          <a:p>
            <a:pPr marL="228600" indent="-228600">
              <a:lnSpc>
                <a:spcPct val="108000"/>
              </a:lnSpc>
              <a:spcAft>
                <a:spcPts val="800"/>
              </a:spcAft>
              <a:buSzPct val="100000"/>
              <a:buChar char="•"/>
            </a:pPr>
            <a:r>
              <a:rPr lang="en-US" sz="1200" dirty="0">
                <a:solidFill>
                  <a:srgbClr val="1C1C1C"/>
                </a:solidFill>
                <a:latin typeface="Calibri" pitchFamily="34" charset="0"/>
                <a:ea typeface="Calibri" pitchFamily="34" charset="-122"/>
                <a:cs typeface="Calibri" pitchFamily="34" charset="-120"/>
              </a:rPr>
              <a:t>Income Distribution cum Capital Withdrawal — SEBI’s 2021 rename of the old “Dividend” option.</a:t>
            </a:r>
            <a:endParaRPr lang="en-US" sz="1200" dirty="0"/>
          </a:p>
          <a:p>
            <a:pPr marL="228600" indent="-228600">
              <a:lnSpc>
                <a:spcPct val="108000"/>
              </a:lnSpc>
              <a:spcAft>
                <a:spcPts val="800"/>
              </a:spcAft>
              <a:buSzPct val="100000"/>
              <a:buChar char="•"/>
            </a:pPr>
            <a:r>
              <a:rPr lang="en-US" sz="1200" dirty="0">
                <a:solidFill>
                  <a:srgbClr val="1C1C1C"/>
                </a:solidFill>
                <a:latin typeface="Calibri" pitchFamily="34" charset="0"/>
                <a:ea typeface="Calibri" pitchFamily="34" charset="-122"/>
                <a:cs typeface="Calibri" pitchFamily="34" charset="-120"/>
              </a:rPr>
              <a:t>The fund periodically pays out part of its gains (or capital) as cash — or as extra units if you pick “IDCW Reinvestment.”</a:t>
            </a:r>
            <a:endParaRPr lang="en-US" sz="1200" dirty="0"/>
          </a:p>
          <a:p>
            <a:pPr marL="228600" indent="-228600">
              <a:lnSpc>
                <a:spcPct val="108000"/>
              </a:lnSpc>
              <a:spcAft>
                <a:spcPts val="800"/>
              </a:spcAft>
              <a:buSzPct val="100000"/>
              <a:buChar char="•"/>
            </a:pPr>
            <a:r>
              <a:rPr lang="en-US" sz="1200" dirty="0">
                <a:solidFill>
                  <a:srgbClr val="1C1C1C"/>
                </a:solidFill>
                <a:latin typeface="Calibri" pitchFamily="34" charset="0"/>
                <a:ea typeface="Calibri" pitchFamily="34" charset="-122"/>
                <a:cs typeface="Calibri" pitchFamily="34" charset="-120"/>
              </a:rPr>
              <a:t>Each payout directly reduces the scheme’s NAV by roughly the payout amount.</a:t>
            </a:r>
            <a:endParaRPr lang="en-US" sz="1200" dirty="0"/>
          </a:p>
          <a:p>
            <a:pPr marL="228600" indent="-228600">
              <a:lnSpc>
                <a:spcPct val="108000"/>
              </a:lnSpc>
              <a:spcAft>
                <a:spcPts val="800"/>
              </a:spcAft>
              <a:buSzPct val="100000"/>
              <a:buChar char="•"/>
            </a:pPr>
            <a:r>
              <a:rPr lang="en-US" sz="1200" dirty="0">
                <a:solidFill>
                  <a:srgbClr val="1C1C1C"/>
                </a:solidFill>
                <a:latin typeface="Calibri" pitchFamily="34" charset="0"/>
                <a:ea typeface="Calibri" pitchFamily="34" charset="-122"/>
                <a:cs typeface="Calibri" pitchFamily="34" charset="-120"/>
              </a:rPr>
              <a:t>Payouts are taxed as income at your slab rate in the year received — no LTCG/STCG benefit.</a:t>
            </a:r>
            <a:endParaRPr lang="en-US" sz="1200" dirty="0"/>
          </a:p>
        </p:txBody>
      </p:sp>
      <p:sp>
        <p:nvSpPr>
          <p:cNvPr id="10" name="Shape 8"/>
          <p:cNvSpPr/>
          <p:nvPr/>
        </p:nvSpPr>
        <p:spPr>
          <a:xfrm>
            <a:off x="548640" y="4709160"/>
            <a:ext cx="11109960" cy="1234440"/>
          </a:xfrm>
          <a:prstGeom prst="roundRect">
            <a:avLst>
              <a:gd name="adj" fmla="val 5926"/>
            </a:avLst>
          </a:prstGeom>
          <a:solidFill>
            <a:srgbClr val="0A2A43"/>
          </a:solidFill>
          <a:ln/>
          <a:effectLst>
            <a:outerShdw blurRad="76200" dist="25400" dir="5400000" algn="bl" rotWithShape="0">
              <a:srgbClr val="1B1B1B">
                <a:alpha val="12000"/>
              </a:srgbClr>
            </a:outerShdw>
          </a:effectLst>
        </p:spPr>
        <p:txBody>
          <a:bodyPr/>
          <a:lstStyle/>
          <a:p>
            <a:endParaRPr lang="en-IN"/>
          </a:p>
        </p:txBody>
      </p:sp>
      <p:sp>
        <p:nvSpPr>
          <p:cNvPr id="11" name="Text 9"/>
          <p:cNvSpPr txBox="1"/>
          <p:nvPr/>
        </p:nvSpPr>
        <p:spPr>
          <a:xfrm>
            <a:off x="868680" y="4846320"/>
            <a:ext cx="10515600" cy="960120"/>
          </a:xfrm>
          <a:prstGeom prst="rect">
            <a:avLst/>
          </a:prstGeom>
          <a:noFill/>
          <a:ln/>
        </p:spPr>
        <p:txBody>
          <a:bodyPr wrap="square" lIns="0" tIns="0" rIns="0" bIns="0" rtlCol="0" anchor="ctr"/>
          <a:lstStyle/>
          <a:p>
            <a:pPr marL="0" indent="0">
              <a:lnSpc>
                <a:spcPct val="120000"/>
              </a:lnSpc>
              <a:buNone/>
            </a:pPr>
            <a:r>
              <a:rPr lang="en-US" sz="1300" b="1" dirty="0">
                <a:solidFill>
                  <a:srgbClr val="F4A300"/>
                </a:solidFill>
                <a:latin typeface="Calibri" pitchFamily="34" charset="0"/>
                <a:ea typeface="Calibri" pitchFamily="34" charset="-122"/>
                <a:cs typeface="Calibri" pitchFamily="34" charset="-120"/>
              </a:rPr>
              <a:t>The myth-buster: NAV ₹50, IDCW pays ₹2/unit → NAV drops to ₹48. Your total value: ₹48 (units) + ₹2 (cash) = ₹50 — unchanged. It’s not extra income; it’s your own money handed back to you.</a:t>
            </a:r>
            <a:endParaRPr lang="en-US" sz="1300" dirty="0"/>
          </a:p>
        </p:txBody>
      </p:sp>
      <p:sp>
        <p:nvSpPr>
          <p:cNvPr id="12" name="Shape 10"/>
          <p:cNvSpPr/>
          <p:nvPr/>
        </p:nvSpPr>
        <p:spPr>
          <a:xfrm>
            <a:off x="548640" y="6080760"/>
            <a:ext cx="11109960" cy="502920"/>
          </a:xfrm>
          <a:prstGeom prst="roundRect">
            <a:avLst>
              <a:gd name="adj" fmla="val 14545"/>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13" name="Text 11"/>
          <p:cNvSpPr txBox="1"/>
          <p:nvPr/>
        </p:nvSpPr>
        <p:spPr>
          <a:xfrm>
            <a:off x="868680" y="6080760"/>
            <a:ext cx="10515600" cy="502920"/>
          </a:xfrm>
          <a:prstGeom prst="rect">
            <a:avLst/>
          </a:prstGeom>
          <a:noFill/>
          <a:ln/>
        </p:spPr>
        <p:txBody>
          <a:bodyPr wrap="square" lIns="0" tIns="0" rIns="0" bIns="0" rtlCol="0" anchor="ctr"/>
          <a:lstStyle/>
          <a:p>
            <a:pPr marL="0" indent="0">
              <a:lnSpc>
                <a:spcPct val="110000"/>
              </a:lnSpc>
              <a:buNone/>
            </a:pPr>
            <a:r>
              <a:rPr lang="en-US" sz="1150" i="1" dirty="0">
                <a:solidFill>
                  <a:srgbClr val="0A2A43"/>
                </a:solidFill>
                <a:latin typeface="Calibri" pitchFamily="34" charset="0"/>
                <a:ea typeface="Calibri" pitchFamily="34" charset="-122"/>
                <a:cs typeface="Calibri" pitchFamily="34" charset="-120"/>
              </a:rPr>
              <a:t>Want a regular cash flow instead? An SWP usually beats IDCW — you choose the amount and timing, and it’s a controlled redemption, not a fund-driven distribution.</a:t>
            </a:r>
            <a:endParaRPr lang="en-US" sz="1150" dirty="0"/>
          </a:p>
        </p:txBody>
      </p:sp>
      <p:sp>
        <p:nvSpPr>
          <p:cNvPr id="14" name="Text 12"/>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900" dirty="0">
                <a:solidFill>
                  <a:srgbClr val="8A97A0"/>
                </a:solidFill>
                <a:latin typeface="Calibri" pitchFamily="34" charset="0"/>
                <a:ea typeface="Calibri" pitchFamily="34" charset="-122"/>
                <a:cs typeface="Calibri" pitchFamily="34" charset="-120"/>
              </a:rPr>
              <a:t>Mutual Funds: What My Investing Journey Taught Me</a:t>
            </a:r>
            <a:endParaRPr lang="en-US" sz="900" dirty="0"/>
          </a:p>
        </p:txBody>
      </p:sp>
      <p:sp>
        <p:nvSpPr>
          <p:cNvPr id="15" name="Text 13"/>
          <p:cNvSpPr txBox="1"/>
          <p:nvPr/>
        </p:nvSpPr>
        <p:spPr>
          <a:xfrm>
            <a:off x="11000232" y="6473952"/>
            <a:ext cx="731520" cy="274320"/>
          </a:xfrm>
          <a:prstGeom prst="rect">
            <a:avLst/>
          </a:prstGeom>
          <a:noFill/>
          <a:ln/>
        </p:spPr>
        <p:txBody>
          <a:bodyPr wrap="square" lIns="0" tIns="0" rIns="0" bIns="0" rtlCol="0" anchor="ctr"/>
          <a:lstStyle/>
          <a:p>
            <a:pPr marL="0" indent="0" algn="r">
              <a:buNone/>
            </a:pPr>
            <a:r>
              <a:rPr lang="en-US" sz="900" dirty="0">
                <a:solidFill>
                  <a:srgbClr val="8A97A0"/>
                </a:solidFill>
                <a:latin typeface="Calibri" pitchFamily="34" charset="0"/>
                <a:ea typeface="Calibri" pitchFamily="34" charset="-122"/>
                <a:cs typeface="Calibri" pitchFamily="34" charset="-120"/>
              </a:rPr>
              <a:t>19 / 31</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GETTING STARTED</a:t>
            </a:r>
            <a:endParaRPr lang="en-US" sz="1300" dirty="0"/>
          </a:p>
        </p:txBody>
      </p:sp>
      <p:sp>
        <p:nvSpPr>
          <p:cNvPr id="3" name="Text 1"/>
          <p:cNvSpPr txBox="1"/>
          <p:nvPr/>
        </p:nvSpPr>
        <p:spPr>
          <a:xfrm>
            <a:off x="548640" y="685800"/>
            <a:ext cx="11064240" cy="822960"/>
          </a:xfrm>
          <a:prstGeom prst="rect">
            <a:avLst/>
          </a:prstGeom>
          <a:noFill/>
          <a:ln/>
        </p:spPr>
        <p:txBody>
          <a:bodyPr wrap="square" lIns="0" tIns="0" rIns="0" bIns="0" rtlCol="0" anchor="ctr"/>
          <a:lstStyle/>
          <a:p>
            <a:pPr marL="0" indent="0">
              <a:buNone/>
            </a:pPr>
            <a:r>
              <a:rPr lang="en-US" sz="3000" b="1" dirty="0">
                <a:solidFill>
                  <a:srgbClr val="0A2A43"/>
                </a:solidFill>
                <a:latin typeface="Cambria" pitchFamily="34" charset="0"/>
                <a:ea typeface="Cambria" pitchFamily="34" charset="-122"/>
                <a:cs typeface="Cambria" pitchFamily="34" charset="-120"/>
              </a:rPr>
              <a:t>How to Actually Start Investing</a:t>
            </a:r>
            <a:endParaRPr lang="en-US" sz="3000" dirty="0"/>
          </a:p>
        </p:txBody>
      </p:sp>
      <p:sp>
        <p:nvSpPr>
          <p:cNvPr id="4" name="Text 2"/>
          <p:cNvSpPr txBox="1"/>
          <p:nvPr/>
        </p:nvSpPr>
        <p:spPr>
          <a:xfrm>
            <a:off x="548640" y="1691640"/>
            <a:ext cx="5029200" cy="365760"/>
          </a:xfrm>
          <a:prstGeom prst="rect">
            <a:avLst/>
          </a:prstGeom>
          <a:noFill/>
          <a:ln/>
        </p:spPr>
        <p:txBody>
          <a:bodyPr wrap="square" lIns="0" tIns="0" rIns="0" bIns="0" rtlCol="0" anchor="ctr"/>
          <a:lstStyle/>
          <a:p>
            <a:pPr marL="0" indent="0">
              <a:buNone/>
            </a:pPr>
            <a:r>
              <a:rPr lang="en-US" sz="1500" b="1" dirty="0">
                <a:solidFill>
                  <a:srgbClr val="028090"/>
                </a:solidFill>
                <a:latin typeface="Calibri" pitchFamily="34" charset="0"/>
                <a:ea typeface="Calibri" pitchFamily="34" charset="-122"/>
                <a:cs typeface="Calibri" pitchFamily="34" charset="-120"/>
              </a:rPr>
              <a:t>What you need</a:t>
            </a:r>
            <a:endParaRPr lang="en-US" sz="1500" dirty="0"/>
          </a:p>
        </p:txBody>
      </p:sp>
      <p:sp>
        <p:nvSpPr>
          <p:cNvPr id="5" name="Text 3"/>
          <p:cNvSpPr txBox="1"/>
          <p:nvPr/>
        </p:nvSpPr>
        <p:spPr>
          <a:xfrm>
            <a:off x="548640" y="2057400"/>
            <a:ext cx="5120640" cy="4114800"/>
          </a:xfrm>
          <a:prstGeom prst="rect">
            <a:avLst/>
          </a:prstGeom>
          <a:noFill/>
          <a:ln/>
        </p:spPr>
        <p:txBody>
          <a:bodyPr wrap="square" lIns="0" tIns="0" rIns="0" bIns="0" rtlCol="0" anchor="t"/>
          <a:lstStyle/>
          <a:p>
            <a:pPr marL="228600" indent="-228600">
              <a:lnSpc>
                <a:spcPct val="108000"/>
              </a:lnSpc>
              <a:spcAft>
                <a:spcPts val="800"/>
              </a:spcAft>
              <a:buSzPct val="100000"/>
              <a:buChar char="•"/>
            </a:pPr>
            <a:r>
              <a:rPr lang="en-US" sz="1300" dirty="0">
                <a:solidFill>
                  <a:srgbClr val="1C1C1C"/>
                </a:solidFill>
                <a:latin typeface="Calibri" pitchFamily="34" charset="0"/>
                <a:ea typeface="Calibri" pitchFamily="34" charset="-122"/>
                <a:cs typeface="Calibri" pitchFamily="34" charset="-120"/>
              </a:rPr>
              <a:t>PAN + completed KYC (mandatory before investing)</a:t>
            </a:r>
            <a:endParaRPr lang="en-US" sz="1300" dirty="0"/>
          </a:p>
          <a:p>
            <a:pPr marL="228600" indent="-228600">
              <a:lnSpc>
                <a:spcPct val="108000"/>
              </a:lnSpc>
              <a:spcAft>
                <a:spcPts val="800"/>
              </a:spcAft>
              <a:buSzPct val="100000"/>
              <a:buChar char="•"/>
            </a:pPr>
            <a:r>
              <a:rPr lang="en-US" sz="1300" dirty="0">
                <a:solidFill>
                  <a:srgbClr val="1C1C1C"/>
                </a:solidFill>
                <a:latin typeface="Calibri" pitchFamily="34" charset="0"/>
                <a:ea typeface="Calibri" pitchFamily="34" charset="-122"/>
                <a:cs typeface="Calibri" pitchFamily="34" charset="-120"/>
              </a:rPr>
              <a:t>Bank account for payments &amp; redemptions</a:t>
            </a:r>
            <a:endParaRPr lang="en-US" sz="1300" dirty="0"/>
          </a:p>
          <a:p>
            <a:pPr marL="228600" indent="-228600">
              <a:lnSpc>
                <a:spcPct val="108000"/>
              </a:lnSpc>
              <a:spcAft>
                <a:spcPts val="800"/>
              </a:spcAft>
              <a:buSzPct val="100000"/>
              <a:buChar char="•"/>
            </a:pPr>
            <a:r>
              <a:rPr lang="en-US" sz="1300" dirty="0">
                <a:solidFill>
                  <a:srgbClr val="1C1C1C"/>
                </a:solidFill>
                <a:latin typeface="Calibri" pitchFamily="34" charset="0"/>
                <a:ea typeface="Calibri" pitchFamily="34" charset="-122"/>
                <a:cs typeface="Calibri" pitchFamily="34" charset="-120"/>
              </a:rPr>
              <a:t>Mobile number &amp; email for OTPs and statements</a:t>
            </a:r>
            <a:endParaRPr lang="en-US" sz="1300" dirty="0"/>
          </a:p>
          <a:p>
            <a:pPr marL="228600" indent="-228600">
              <a:lnSpc>
                <a:spcPct val="108000"/>
              </a:lnSpc>
              <a:spcAft>
                <a:spcPts val="800"/>
              </a:spcAft>
              <a:buSzPct val="100000"/>
              <a:buChar char="•"/>
            </a:pPr>
            <a:r>
              <a:rPr lang="en-US" sz="1300" dirty="0">
                <a:solidFill>
                  <a:srgbClr val="1C1C1C"/>
                </a:solidFill>
                <a:latin typeface="Calibri" pitchFamily="34" charset="0"/>
                <a:ea typeface="Calibri" pitchFamily="34" charset="-122"/>
                <a:cs typeface="Calibri" pitchFamily="34" charset="-120"/>
              </a:rPr>
              <a:t>Nomination details (keep updated)</a:t>
            </a:r>
            <a:endParaRPr lang="en-US" sz="1300" dirty="0"/>
          </a:p>
          <a:p>
            <a:pPr marL="228600" indent="-228600">
              <a:lnSpc>
                <a:spcPct val="108000"/>
              </a:lnSpc>
              <a:spcAft>
                <a:spcPts val="800"/>
              </a:spcAft>
              <a:buSzPct val="100000"/>
              <a:buChar char="•"/>
            </a:pPr>
            <a:r>
              <a:rPr lang="en-US" sz="1300" dirty="0">
                <a:solidFill>
                  <a:srgbClr val="1C1C1C"/>
                </a:solidFill>
                <a:latin typeface="Calibri" pitchFamily="34" charset="0"/>
                <a:ea typeface="Calibri" pitchFamily="34" charset="-122"/>
                <a:cs typeface="Calibri" pitchFamily="34" charset="-120"/>
              </a:rPr>
              <a:t>Demat account: NOT always required — depends on the route you choose</a:t>
            </a:r>
            <a:endParaRPr lang="en-US" sz="1300" dirty="0"/>
          </a:p>
        </p:txBody>
      </p:sp>
      <p:sp>
        <p:nvSpPr>
          <p:cNvPr id="6" name="Text 4"/>
          <p:cNvSpPr txBox="1"/>
          <p:nvPr/>
        </p:nvSpPr>
        <p:spPr>
          <a:xfrm>
            <a:off x="5943600" y="1691640"/>
            <a:ext cx="5486400" cy="365760"/>
          </a:xfrm>
          <a:prstGeom prst="rect">
            <a:avLst/>
          </a:prstGeom>
          <a:noFill/>
          <a:ln/>
        </p:spPr>
        <p:txBody>
          <a:bodyPr wrap="square" lIns="0" tIns="0" rIns="0" bIns="0" rtlCol="0" anchor="ctr"/>
          <a:lstStyle/>
          <a:p>
            <a:pPr marL="0" indent="0">
              <a:buNone/>
            </a:pPr>
            <a:r>
              <a:rPr lang="en-US" sz="1500" b="1" dirty="0">
                <a:solidFill>
                  <a:srgbClr val="00A896"/>
                </a:solidFill>
                <a:latin typeface="Calibri" pitchFamily="34" charset="0"/>
                <a:ea typeface="Calibri" pitchFamily="34" charset="-122"/>
                <a:cs typeface="Calibri" pitchFamily="34" charset="-120"/>
              </a:rPr>
              <a:t>How to invest — pick a route</a:t>
            </a:r>
            <a:endParaRPr lang="en-US" sz="1500" dirty="0"/>
          </a:p>
        </p:txBody>
      </p:sp>
      <p:sp>
        <p:nvSpPr>
          <p:cNvPr id="7" name="Text 5"/>
          <p:cNvSpPr txBox="1"/>
          <p:nvPr/>
        </p:nvSpPr>
        <p:spPr>
          <a:xfrm>
            <a:off x="5943600" y="2057400"/>
            <a:ext cx="5577840" cy="4114800"/>
          </a:xfrm>
          <a:prstGeom prst="rect">
            <a:avLst/>
          </a:prstGeom>
          <a:noFill/>
          <a:ln/>
        </p:spPr>
        <p:txBody>
          <a:bodyPr wrap="square" lIns="0" tIns="0" rIns="0" bIns="0" rtlCol="0" anchor="t"/>
          <a:lstStyle/>
          <a:p>
            <a:pPr marL="228600" indent="-228600">
              <a:lnSpc>
                <a:spcPct val="108000"/>
              </a:lnSpc>
              <a:spcAft>
                <a:spcPts val="800"/>
              </a:spcAft>
              <a:buSzPct val="100000"/>
              <a:buChar char="•"/>
            </a:pPr>
            <a:r>
              <a:rPr lang="en-US" sz="1300" dirty="0">
                <a:solidFill>
                  <a:srgbClr val="1C1C1C"/>
                </a:solidFill>
                <a:latin typeface="Calibri" pitchFamily="34" charset="0"/>
                <a:ea typeface="Calibri" pitchFamily="34" charset="-122"/>
                <a:cs typeface="Calibri" pitchFamily="34" charset="-120"/>
              </a:rPr>
              <a:t>AMC website / app — direct, choose Direct/Regular</a:t>
            </a:r>
            <a:endParaRPr lang="en-US" sz="1300" dirty="0"/>
          </a:p>
          <a:p>
            <a:pPr marL="228600" indent="-228600">
              <a:lnSpc>
                <a:spcPct val="108000"/>
              </a:lnSpc>
              <a:spcAft>
                <a:spcPts val="800"/>
              </a:spcAft>
              <a:buSzPct val="100000"/>
              <a:buChar char="•"/>
            </a:pPr>
            <a:r>
              <a:rPr lang="en-US" sz="1300" dirty="0">
                <a:solidFill>
                  <a:srgbClr val="1C1C1C"/>
                </a:solidFill>
                <a:latin typeface="Calibri" pitchFamily="34" charset="0"/>
                <a:ea typeface="Calibri" pitchFamily="34" charset="-122"/>
                <a:cs typeface="Calibri" pitchFamily="34" charset="-120"/>
              </a:rPr>
              <a:t>MFCentral — unified platform (CAMS &amp; KFintech)</a:t>
            </a:r>
            <a:endParaRPr lang="en-US" sz="1300" dirty="0"/>
          </a:p>
          <a:p>
            <a:pPr marL="228600" indent="-228600">
              <a:lnSpc>
                <a:spcPct val="108000"/>
              </a:lnSpc>
              <a:spcAft>
                <a:spcPts val="800"/>
              </a:spcAft>
              <a:buSzPct val="100000"/>
              <a:buChar char="•"/>
            </a:pPr>
            <a:r>
              <a:rPr lang="en-US" sz="1300" dirty="0">
                <a:solidFill>
                  <a:srgbClr val="1C1C1C"/>
                </a:solidFill>
                <a:latin typeface="Calibri" pitchFamily="34" charset="0"/>
                <a:ea typeface="Calibri" pitchFamily="34" charset="-122"/>
                <a:cs typeface="Calibri" pitchFamily="34" charset="-120"/>
              </a:rPr>
              <a:t>MFU / industry-supported platforms</a:t>
            </a:r>
            <a:endParaRPr lang="en-US" sz="1300" dirty="0"/>
          </a:p>
          <a:p>
            <a:pPr marL="228600" indent="-228600">
              <a:lnSpc>
                <a:spcPct val="108000"/>
              </a:lnSpc>
              <a:spcAft>
                <a:spcPts val="800"/>
              </a:spcAft>
              <a:buSzPct val="100000"/>
              <a:buChar char="•"/>
            </a:pPr>
            <a:r>
              <a:rPr lang="en-US" sz="1300" dirty="0">
                <a:solidFill>
                  <a:srgbClr val="1C1C1C"/>
                </a:solidFill>
                <a:latin typeface="Calibri" pitchFamily="34" charset="0"/>
                <a:ea typeface="Calibri" pitchFamily="34" charset="-122"/>
                <a:cs typeface="Calibri" pitchFamily="34" charset="-120"/>
              </a:rPr>
              <a:t>Stock exchange / broker apps (NSE/BSE)</a:t>
            </a:r>
            <a:endParaRPr lang="en-US" sz="1300" dirty="0"/>
          </a:p>
          <a:p>
            <a:pPr marL="228600" indent="-228600">
              <a:lnSpc>
                <a:spcPct val="108000"/>
              </a:lnSpc>
              <a:spcAft>
                <a:spcPts val="800"/>
              </a:spcAft>
              <a:buSzPct val="100000"/>
              <a:buChar char="•"/>
            </a:pPr>
            <a:r>
              <a:rPr lang="en-US" sz="1300" dirty="0">
                <a:solidFill>
                  <a:srgbClr val="1C1C1C"/>
                </a:solidFill>
                <a:latin typeface="Calibri" pitchFamily="34" charset="0"/>
                <a:ea typeface="Calibri" pitchFamily="34" charset="-122"/>
                <a:cs typeface="Calibri" pitchFamily="34" charset="-120"/>
              </a:rPr>
              <a:t>Bank internet banking (usually Regular)</a:t>
            </a:r>
            <a:endParaRPr lang="en-US" sz="1300" dirty="0"/>
          </a:p>
          <a:p>
            <a:pPr marL="228600" indent="-228600">
              <a:lnSpc>
                <a:spcPct val="108000"/>
              </a:lnSpc>
              <a:spcAft>
                <a:spcPts val="800"/>
              </a:spcAft>
              <a:buSzPct val="100000"/>
              <a:buChar char="•"/>
            </a:pPr>
            <a:r>
              <a:rPr lang="en-US" sz="1300" dirty="0">
                <a:solidFill>
                  <a:srgbClr val="1C1C1C"/>
                </a:solidFill>
                <a:latin typeface="Calibri" pitchFamily="34" charset="0"/>
                <a:ea typeface="Calibri" pitchFamily="34" charset="-122"/>
                <a:cs typeface="Calibri" pitchFamily="34" charset="-120"/>
              </a:rPr>
              <a:t>Registered MF distributor / adviser</a:t>
            </a:r>
            <a:endParaRPr lang="en-US" sz="1300" dirty="0"/>
          </a:p>
        </p:txBody>
      </p:sp>
      <p:sp>
        <p:nvSpPr>
          <p:cNvPr id="8" name="Shape 6"/>
          <p:cNvSpPr/>
          <p:nvPr/>
        </p:nvSpPr>
        <p:spPr>
          <a:xfrm>
            <a:off x="548640" y="5486400"/>
            <a:ext cx="11064240" cy="914400"/>
          </a:xfrm>
          <a:prstGeom prst="roundRect">
            <a:avLst>
              <a:gd name="adj" fmla="val 8000"/>
            </a:avLst>
          </a:prstGeom>
          <a:solidFill>
            <a:srgbClr val="0A2A43"/>
          </a:solidFill>
          <a:ln/>
          <a:effectLst>
            <a:outerShdw blurRad="76200" dist="25400" dir="5400000" algn="bl" rotWithShape="0">
              <a:srgbClr val="1B1B1B">
                <a:alpha val="12000"/>
              </a:srgbClr>
            </a:outerShdw>
          </a:effectLst>
        </p:spPr>
        <p:txBody>
          <a:bodyPr/>
          <a:lstStyle/>
          <a:p>
            <a:endParaRPr lang="en-IN"/>
          </a:p>
        </p:txBody>
      </p:sp>
      <p:sp>
        <p:nvSpPr>
          <p:cNvPr id="9" name="Text 7"/>
          <p:cNvSpPr txBox="1"/>
          <p:nvPr/>
        </p:nvSpPr>
        <p:spPr>
          <a:xfrm>
            <a:off x="868680" y="5577840"/>
            <a:ext cx="10424160" cy="731520"/>
          </a:xfrm>
          <a:prstGeom prst="rect">
            <a:avLst/>
          </a:prstGeom>
          <a:noFill/>
          <a:ln/>
        </p:spPr>
        <p:txBody>
          <a:bodyPr wrap="square" lIns="0" tIns="0" rIns="0" bIns="0" rtlCol="0" anchor="ctr"/>
          <a:lstStyle/>
          <a:p>
            <a:pPr marL="0" indent="0">
              <a:lnSpc>
                <a:spcPct val="115000"/>
              </a:lnSpc>
              <a:buNone/>
            </a:pPr>
            <a:r>
              <a:rPr lang="en-US" sz="1350" b="1" dirty="0">
                <a:solidFill>
                  <a:srgbClr val="F4A300"/>
                </a:solidFill>
                <a:latin typeface="Calibri" pitchFamily="34" charset="0"/>
                <a:ea typeface="Calibri" pitchFamily="34" charset="-122"/>
                <a:cs typeface="Calibri" pitchFamily="34" charset="-120"/>
              </a:rPr>
              <a:t>Don’t assume every app offers Direct plans. Always verify the platform is legitimate and regulated before entering PAN, bank or OTP details.</a:t>
            </a:r>
            <a:endParaRPr lang="en-US" sz="1350" dirty="0"/>
          </a:p>
        </p:txBody>
      </p:sp>
      <p:sp>
        <p:nvSpPr>
          <p:cNvPr id="10" name="Text 8"/>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900" dirty="0">
                <a:solidFill>
                  <a:srgbClr val="8A97A0"/>
                </a:solidFill>
                <a:latin typeface="Calibri" pitchFamily="34" charset="0"/>
                <a:ea typeface="Calibri" pitchFamily="34" charset="-122"/>
                <a:cs typeface="Calibri" pitchFamily="34" charset="-120"/>
              </a:rPr>
              <a:t>Mutual Funds: What My Investing Journey Taught Me</a:t>
            </a:r>
            <a:endParaRPr lang="en-US" sz="900" dirty="0"/>
          </a:p>
        </p:txBody>
      </p:sp>
      <p:sp>
        <p:nvSpPr>
          <p:cNvPr id="11" name="Text 9"/>
          <p:cNvSpPr txBox="1"/>
          <p:nvPr/>
        </p:nvSpPr>
        <p:spPr>
          <a:xfrm>
            <a:off x="11000232" y="6473952"/>
            <a:ext cx="731520" cy="274320"/>
          </a:xfrm>
          <a:prstGeom prst="rect">
            <a:avLst/>
          </a:prstGeom>
          <a:noFill/>
          <a:ln/>
        </p:spPr>
        <p:txBody>
          <a:bodyPr wrap="square" lIns="0" tIns="0" rIns="0" bIns="0" rtlCol="0" anchor="ctr"/>
          <a:lstStyle/>
          <a:p>
            <a:pPr marL="0" indent="0" algn="r">
              <a:buNone/>
            </a:pPr>
            <a:r>
              <a:rPr lang="en-US" sz="900" dirty="0">
                <a:solidFill>
                  <a:srgbClr val="8A97A0"/>
                </a:solidFill>
                <a:latin typeface="Calibri" pitchFamily="34" charset="0"/>
                <a:ea typeface="Calibri" pitchFamily="34" charset="-122"/>
                <a:cs typeface="Calibri" pitchFamily="34" charset="-120"/>
              </a:rPr>
              <a:t>20 / 31</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HOUSEKEEPING THAT ACTUALLY MATTERS</a:t>
            </a:r>
            <a:endParaRPr lang="en-US" sz="1300" dirty="0"/>
          </a:p>
        </p:txBody>
      </p:sp>
      <p:sp>
        <p:nvSpPr>
          <p:cNvPr id="3" name="Text 1"/>
          <p:cNvSpPr txBox="1"/>
          <p:nvPr/>
        </p:nvSpPr>
        <p:spPr>
          <a:xfrm>
            <a:off x="548640" y="685800"/>
            <a:ext cx="11064240" cy="822960"/>
          </a:xfrm>
          <a:prstGeom prst="rect">
            <a:avLst/>
          </a:prstGeom>
          <a:noFill/>
          <a:ln/>
        </p:spPr>
        <p:txBody>
          <a:bodyPr wrap="square" lIns="0" tIns="0" rIns="0" bIns="0" rtlCol="0" anchor="ctr"/>
          <a:lstStyle/>
          <a:p>
            <a:pPr marL="0" indent="0">
              <a:buNone/>
            </a:pPr>
            <a:r>
              <a:rPr lang="en-US" sz="3000" b="1" dirty="0">
                <a:solidFill>
                  <a:srgbClr val="0A2A43"/>
                </a:solidFill>
                <a:latin typeface="Cambria" pitchFamily="34" charset="0"/>
                <a:ea typeface="Cambria" pitchFamily="34" charset="-122"/>
                <a:cs typeface="Cambria" pitchFamily="34" charset="-120"/>
              </a:rPr>
              <a:t>Boring but Important: Folio, PAN &amp; Nomination</a:t>
            </a:r>
            <a:endParaRPr lang="en-US" sz="3000" dirty="0"/>
          </a:p>
        </p:txBody>
      </p:sp>
      <p:sp>
        <p:nvSpPr>
          <p:cNvPr id="4" name="Shape 2"/>
          <p:cNvSpPr/>
          <p:nvPr/>
        </p:nvSpPr>
        <p:spPr>
          <a:xfrm>
            <a:off x="548640" y="1737360"/>
            <a:ext cx="5394960" cy="1600200"/>
          </a:xfrm>
          <a:prstGeom prst="roundRect">
            <a:avLst>
              <a:gd name="adj" fmla="val 4571"/>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5" name="Shape 3"/>
          <p:cNvSpPr/>
          <p:nvPr/>
        </p:nvSpPr>
        <p:spPr>
          <a:xfrm>
            <a:off x="731520" y="1920240"/>
            <a:ext cx="502920" cy="502920"/>
          </a:xfrm>
          <a:prstGeom prst="ellipse">
            <a:avLst/>
          </a:prstGeom>
          <a:solidFill>
            <a:srgbClr val="028090"/>
          </a:solidFill>
          <a:ln/>
        </p:spPr>
        <p:txBody>
          <a:bodyPr/>
          <a:lstStyle/>
          <a:p>
            <a:endParaRPr lang="en-IN"/>
          </a:p>
        </p:txBody>
      </p:sp>
      <p:sp>
        <p:nvSpPr>
          <p:cNvPr id="6" name="Text 4"/>
          <p:cNvSpPr txBox="1"/>
          <p:nvPr/>
        </p:nvSpPr>
        <p:spPr>
          <a:xfrm>
            <a:off x="685800" y="1920240"/>
            <a:ext cx="59436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7" name="Text 5"/>
          <p:cNvSpPr txBox="1"/>
          <p:nvPr/>
        </p:nvSpPr>
        <p:spPr>
          <a:xfrm>
            <a:off x="1371600" y="1901952"/>
            <a:ext cx="4389120" cy="365760"/>
          </a:xfrm>
          <a:prstGeom prst="rect">
            <a:avLst/>
          </a:prstGeom>
          <a:noFill/>
          <a:ln/>
        </p:spPr>
        <p:txBody>
          <a:bodyPr wrap="square" lIns="0" tIns="0" rIns="0" bIns="0" rtlCol="0" anchor="ctr"/>
          <a:lstStyle/>
          <a:p>
            <a:pPr marL="0" indent="0">
              <a:buNone/>
            </a:pPr>
            <a:r>
              <a:rPr lang="en-US" sz="1400" b="1" dirty="0">
                <a:solidFill>
                  <a:srgbClr val="0A2A43"/>
                </a:solidFill>
                <a:latin typeface="Calibri" pitchFamily="34" charset="0"/>
                <a:ea typeface="Calibri" pitchFamily="34" charset="-122"/>
                <a:cs typeface="Calibri" pitchFamily="34" charset="-120"/>
              </a:rPr>
              <a:t>Consolidate folios</a:t>
            </a:r>
            <a:endParaRPr lang="en-US" sz="1400" dirty="0"/>
          </a:p>
        </p:txBody>
      </p:sp>
      <p:sp>
        <p:nvSpPr>
          <p:cNvPr id="8" name="Text 6"/>
          <p:cNvSpPr txBox="1"/>
          <p:nvPr/>
        </p:nvSpPr>
        <p:spPr>
          <a:xfrm>
            <a:off x="1371600" y="2267712"/>
            <a:ext cx="4389120" cy="1005840"/>
          </a:xfrm>
          <a:prstGeom prst="rect">
            <a:avLst/>
          </a:prstGeom>
          <a:noFill/>
          <a:ln/>
        </p:spPr>
        <p:txBody>
          <a:bodyPr wrap="square" lIns="0" tIns="0" rIns="0" bIns="0" rtlCol="0" anchor="ctr"/>
          <a:lstStyle/>
          <a:p>
            <a:pPr marL="0" indent="0">
              <a:lnSpc>
                <a:spcPct val="120000"/>
              </a:lnSpc>
              <a:buNone/>
            </a:pPr>
            <a:r>
              <a:rPr lang="en-US" sz="1150" dirty="0">
                <a:solidFill>
                  <a:srgbClr val="1C1C1C"/>
                </a:solidFill>
                <a:latin typeface="Calibri" pitchFamily="34" charset="0"/>
                <a:ea typeface="Calibri" pitchFamily="34" charset="-122"/>
                <a:cs typeface="Calibri" pitchFamily="34" charset="-120"/>
              </a:rPr>
              <a:t>Use one PAN, one email and one phone number across all your investments — a CAS statement (from CAMS/KFintech) then shows every holding in one place.</a:t>
            </a:r>
            <a:endParaRPr lang="en-US" sz="1150" dirty="0"/>
          </a:p>
        </p:txBody>
      </p:sp>
      <p:sp>
        <p:nvSpPr>
          <p:cNvPr id="9" name="Shape 7"/>
          <p:cNvSpPr/>
          <p:nvPr/>
        </p:nvSpPr>
        <p:spPr>
          <a:xfrm>
            <a:off x="6217920" y="1737360"/>
            <a:ext cx="5394960" cy="1600200"/>
          </a:xfrm>
          <a:prstGeom prst="roundRect">
            <a:avLst>
              <a:gd name="adj" fmla="val 4571"/>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10" name="Shape 8"/>
          <p:cNvSpPr/>
          <p:nvPr/>
        </p:nvSpPr>
        <p:spPr>
          <a:xfrm>
            <a:off x="6400800" y="1920240"/>
            <a:ext cx="502920" cy="502920"/>
          </a:xfrm>
          <a:prstGeom prst="ellipse">
            <a:avLst/>
          </a:prstGeom>
          <a:solidFill>
            <a:srgbClr val="00A896"/>
          </a:solidFill>
          <a:ln/>
        </p:spPr>
        <p:txBody>
          <a:bodyPr/>
          <a:lstStyle/>
          <a:p>
            <a:endParaRPr lang="en-IN"/>
          </a:p>
        </p:txBody>
      </p:sp>
      <p:sp>
        <p:nvSpPr>
          <p:cNvPr id="11" name="Text 9"/>
          <p:cNvSpPr txBox="1"/>
          <p:nvPr/>
        </p:nvSpPr>
        <p:spPr>
          <a:xfrm>
            <a:off x="6355080" y="1920240"/>
            <a:ext cx="59436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2" name="Text 10"/>
          <p:cNvSpPr txBox="1"/>
          <p:nvPr/>
        </p:nvSpPr>
        <p:spPr>
          <a:xfrm>
            <a:off x="7040880" y="1901952"/>
            <a:ext cx="4389120" cy="365760"/>
          </a:xfrm>
          <a:prstGeom prst="rect">
            <a:avLst/>
          </a:prstGeom>
          <a:noFill/>
          <a:ln/>
        </p:spPr>
        <p:txBody>
          <a:bodyPr wrap="square" lIns="0" tIns="0" rIns="0" bIns="0" rtlCol="0" anchor="ctr"/>
          <a:lstStyle/>
          <a:p>
            <a:pPr marL="0" indent="0">
              <a:buNone/>
            </a:pPr>
            <a:r>
              <a:rPr lang="en-US" sz="1400" b="1" dirty="0">
                <a:solidFill>
                  <a:srgbClr val="0A2A43"/>
                </a:solidFill>
                <a:latin typeface="Calibri" pitchFamily="34" charset="0"/>
                <a:ea typeface="Calibri" pitchFamily="34" charset="-122"/>
                <a:cs typeface="Calibri" pitchFamily="34" charset="-120"/>
              </a:rPr>
              <a:t>Keep KYC “validated”</a:t>
            </a:r>
            <a:endParaRPr lang="en-US" sz="1400" dirty="0"/>
          </a:p>
        </p:txBody>
      </p:sp>
      <p:sp>
        <p:nvSpPr>
          <p:cNvPr id="13" name="Text 11"/>
          <p:cNvSpPr txBox="1"/>
          <p:nvPr/>
        </p:nvSpPr>
        <p:spPr>
          <a:xfrm>
            <a:off x="7040880" y="2267712"/>
            <a:ext cx="4389120" cy="1005840"/>
          </a:xfrm>
          <a:prstGeom prst="rect">
            <a:avLst/>
          </a:prstGeom>
          <a:noFill/>
          <a:ln/>
        </p:spPr>
        <p:txBody>
          <a:bodyPr wrap="square" lIns="0" tIns="0" rIns="0" bIns="0" rtlCol="0" anchor="ctr"/>
          <a:lstStyle/>
          <a:p>
            <a:pPr marL="0" indent="0">
              <a:lnSpc>
                <a:spcPct val="120000"/>
              </a:lnSpc>
              <a:buNone/>
            </a:pPr>
            <a:r>
              <a:rPr lang="en-US" sz="1150" dirty="0">
                <a:solidFill>
                  <a:srgbClr val="1C1C1C"/>
                </a:solidFill>
                <a:latin typeface="Calibri" pitchFamily="34" charset="0"/>
                <a:ea typeface="Calibri" pitchFamily="34" charset="-122"/>
                <a:cs typeface="Calibri" pitchFamily="34" charset="-120"/>
              </a:rPr>
              <a:t>Not just “registered” — a validated KYC status avoids failed transactions and delays when you invest, switch or redeem across AMCs.</a:t>
            </a:r>
            <a:endParaRPr lang="en-US" sz="1150" dirty="0"/>
          </a:p>
        </p:txBody>
      </p:sp>
      <p:sp>
        <p:nvSpPr>
          <p:cNvPr id="14" name="Shape 12"/>
          <p:cNvSpPr/>
          <p:nvPr/>
        </p:nvSpPr>
        <p:spPr>
          <a:xfrm>
            <a:off x="548640" y="3520440"/>
            <a:ext cx="5394960" cy="1600200"/>
          </a:xfrm>
          <a:prstGeom prst="roundRect">
            <a:avLst>
              <a:gd name="adj" fmla="val 4571"/>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15" name="Shape 13"/>
          <p:cNvSpPr/>
          <p:nvPr/>
        </p:nvSpPr>
        <p:spPr>
          <a:xfrm>
            <a:off x="731520" y="3703320"/>
            <a:ext cx="502920" cy="502920"/>
          </a:xfrm>
          <a:prstGeom prst="ellipse">
            <a:avLst/>
          </a:prstGeom>
          <a:solidFill>
            <a:srgbClr val="1C7293"/>
          </a:solidFill>
          <a:ln/>
        </p:spPr>
        <p:txBody>
          <a:bodyPr/>
          <a:lstStyle/>
          <a:p>
            <a:endParaRPr lang="en-IN"/>
          </a:p>
        </p:txBody>
      </p:sp>
      <p:sp>
        <p:nvSpPr>
          <p:cNvPr id="16" name="Text 14"/>
          <p:cNvSpPr txBox="1"/>
          <p:nvPr/>
        </p:nvSpPr>
        <p:spPr>
          <a:xfrm>
            <a:off x="685800" y="3703320"/>
            <a:ext cx="59436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7" name="Text 15"/>
          <p:cNvSpPr txBox="1"/>
          <p:nvPr/>
        </p:nvSpPr>
        <p:spPr>
          <a:xfrm>
            <a:off x="1371600" y="3685032"/>
            <a:ext cx="4389120" cy="365760"/>
          </a:xfrm>
          <a:prstGeom prst="rect">
            <a:avLst/>
          </a:prstGeom>
          <a:noFill/>
          <a:ln/>
        </p:spPr>
        <p:txBody>
          <a:bodyPr wrap="square" lIns="0" tIns="0" rIns="0" bIns="0" rtlCol="0" anchor="ctr"/>
          <a:lstStyle/>
          <a:p>
            <a:pPr marL="0" indent="0">
              <a:buNone/>
            </a:pPr>
            <a:r>
              <a:rPr lang="en-US" sz="1400" b="1" dirty="0">
                <a:solidFill>
                  <a:srgbClr val="0A2A43"/>
                </a:solidFill>
                <a:latin typeface="Calibri" pitchFamily="34" charset="0"/>
                <a:ea typeface="Calibri" pitchFamily="34" charset="-122"/>
                <a:cs typeface="Calibri" pitchFamily="34" charset="-120"/>
              </a:rPr>
              <a:t>Add — and update — nominees</a:t>
            </a:r>
            <a:endParaRPr lang="en-US" sz="1400" dirty="0"/>
          </a:p>
        </p:txBody>
      </p:sp>
      <p:sp>
        <p:nvSpPr>
          <p:cNvPr id="18" name="Text 16"/>
          <p:cNvSpPr txBox="1"/>
          <p:nvPr/>
        </p:nvSpPr>
        <p:spPr>
          <a:xfrm>
            <a:off x="1371600" y="4050792"/>
            <a:ext cx="4389120" cy="1005840"/>
          </a:xfrm>
          <a:prstGeom prst="rect">
            <a:avLst/>
          </a:prstGeom>
          <a:noFill/>
          <a:ln/>
        </p:spPr>
        <p:txBody>
          <a:bodyPr wrap="square" lIns="0" tIns="0" rIns="0" bIns="0" rtlCol="0" anchor="ctr"/>
          <a:lstStyle/>
          <a:p>
            <a:pPr marL="0" indent="0">
              <a:lnSpc>
                <a:spcPct val="120000"/>
              </a:lnSpc>
              <a:buNone/>
            </a:pPr>
            <a:r>
              <a:rPr lang="en-US" sz="1150" dirty="0">
                <a:solidFill>
                  <a:srgbClr val="1C1C1C"/>
                </a:solidFill>
                <a:latin typeface="Calibri" pitchFamily="34" charset="0"/>
                <a:ea typeface="Calibri" pitchFamily="34" charset="-122"/>
                <a:cs typeface="Calibri" pitchFamily="34" charset="-120"/>
              </a:rPr>
              <a:t>Every single folio needs a nominee. Without one, your family faces a slow legal (succession) process to claim the money.</a:t>
            </a:r>
            <a:endParaRPr lang="en-US" sz="1150" dirty="0"/>
          </a:p>
        </p:txBody>
      </p:sp>
      <p:sp>
        <p:nvSpPr>
          <p:cNvPr id="19" name="Shape 17"/>
          <p:cNvSpPr/>
          <p:nvPr/>
        </p:nvSpPr>
        <p:spPr>
          <a:xfrm>
            <a:off x="6217920" y="3520440"/>
            <a:ext cx="5394960" cy="1600200"/>
          </a:xfrm>
          <a:prstGeom prst="roundRect">
            <a:avLst>
              <a:gd name="adj" fmla="val 4571"/>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20" name="Shape 18"/>
          <p:cNvSpPr/>
          <p:nvPr/>
        </p:nvSpPr>
        <p:spPr>
          <a:xfrm>
            <a:off x="6400800" y="3703320"/>
            <a:ext cx="502920" cy="502920"/>
          </a:xfrm>
          <a:prstGeom prst="ellipse">
            <a:avLst/>
          </a:prstGeom>
          <a:solidFill>
            <a:srgbClr val="6D2E46"/>
          </a:solidFill>
          <a:ln/>
        </p:spPr>
        <p:txBody>
          <a:bodyPr/>
          <a:lstStyle/>
          <a:p>
            <a:endParaRPr lang="en-IN"/>
          </a:p>
        </p:txBody>
      </p:sp>
      <p:sp>
        <p:nvSpPr>
          <p:cNvPr id="21" name="Text 19"/>
          <p:cNvSpPr txBox="1"/>
          <p:nvPr/>
        </p:nvSpPr>
        <p:spPr>
          <a:xfrm>
            <a:off x="6355080" y="3703320"/>
            <a:ext cx="59436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22" name="Text 20"/>
          <p:cNvSpPr txBox="1"/>
          <p:nvPr/>
        </p:nvSpPr>
        <p:spPr>
          <a:xfrm>
            <a:off x="7040880" y="3685032"/>
            <a:ext cx="4389120" cy="365760"/>
          </a:xfrm>
          <a:prstGeom prst="rect">
            <a:avLst/>
          </a:prstGeom>
          <a:noFill/>
          <a:ln/>
        </p:spPr>
        <p:txBody>
          <a:bodyPr wrap="square" lIns="0" tIns="0" rIns="0" bIns="0" rtlCol="0" anchor="ctr"/>
          <a:lstStyle/>
          <a:p>
            <a:pPr marL="0" indent="0">
              <a:buNone/>
            </a:pPr>
            <a:r>
              <a:rPr lang="en-US" sz="1400" b="1" dirty="0">
                <a:solidFill>
                  <a:srgbClr val="0A2A43"/>
                </a:solidFill>
                <a:latin typeface="Calibri" pitchFamily="34" charset="0"/>
                <a:ea typeface="Calibri" pitchFamily="34" charset="-122"/>
                <a:cs typeface="Calibri" pitchFamily="34" charset="-120"/>
              </a:rPr>
              <a:t>Update after life changes</a:t>
            </a:r>
            <a:endParaRPr lang="en-US" sz="1400" dirty="0"/>
          </a:p>
        </p:txBody>
      </p:sp>
      <p:sp>
        <p:nvSpPr>
          <p:cNvPr id="23" name="Text 21"/>
          <p:cNvSpPr txBox="1"/>
          <p:nvPr/>
        </p:nvSpPr>
        <p:spPr>
          <a:xfrm>
            <a:off x="7040880" y="4050792"/>
            <a:ext cx="4389120" cy="1005840"/>
          </a:xfrm>
          <a:prstGeom prst="rect">
            <a:avLst/>
          </a:prstGeom>
          <a:noFill/>
          <a:ln/>
        </p:spPr>
        <p:txBody>
          <a:bodyPr wrap="square" lIns="0" tIns="0" rIns="0" bIns="0" rtlCol="0" anchor="ctr"/>
          <a:lstStyle/>
          <a:p>
            <a:pPr marL="0" indent="0">
              <a:lnSpc>
                <a:spcPct val="120000"/>
              </a:lnSpc>
              <a:buNone/>
            </a:pPr>
            <a:r>
              <a:rPr lang="en-US" sz="1150" dirty="0">
                <a:solidFill>
                  <a:srgbClr val="1C1C1C"/>
                </a:solidFill>
                <a:latin typeface="Calibri" pitchFamily="34" charset="0"/>
                <a:ea typeface="Calibri" pitchFamily="34" charset="-122"/>
                <a:cs typeface="Calibri" pitchFamily="34" charset="-120"/>
              </a:rPr>
              <a:t>Marriage, a new address, a new bank account — update your folios. A messy history is often the #1 reason portfolio reviews take forever.</a:t>
            </a:r>
            <a:endParaRPr lang="en-US" sz="1150" dirty="0"/>
          </a:p>
        </p:txBody>
      </p:sp>
      <p:sp>
        <p:nvSpPr>
          <p:cNvPr id="24" name="Text 22"/>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900" dirty="0">
                <a:solidFill>
                  <a:srgbClr val="8A97A0"/>
                </a:solidFill>
                <a:latin typeface="Calibri" pitchFamily="34" charset="0"/>
                <a:ea typeface="Calibri" pitchFamily="34" charset="-122"/>
                <a:cs typeface="Calibri" pitchFamily="34" charset="-120"/>
              </a:rPr>
              <a:t>Mutual Funds: What My Investing Journey Taught Me</a:t>
            </a:r>
            <a:endParaRPr lang="en-US" sz="900" dirty="0"/>
          </a:p>
        </p:txBody>
      </p:sp>
      <p:sp>
        <p:nvSpPr>
          <p:cNvPr id="25" name="Text 23"/>
          <p:cNvSpPr txBox="1"/>
          <p:nvPr/>
        </p:nvSpPr>
        <p:spPr>
          <a:xfrm>
            <a:off x="11000232" y="6473952"/>
            <a:ext cx="731520" cy="274320"/>
          </a:xfrm>
          <a:prstGeom prst="rect">
            <a:avLst/>
          </a:prstGeom>
          <a:noFill/>
          <a:ln/>
        </p:spPr>
        <p:txBody>
          <a:bodyPr wrap="square" lIns="0" tIns="0" rIns="0" bIns="0" rtlCol="0" anchor="ctr"/>
          <a:lstStyle/>
          <a:p>
            <a:pPr marL="0" indent="0" algn="r">
              <a:buNone/>
            </a:pPr>
            <a:r>
              <a:rPr lang="en-US" sz="900" dirty="0">
                <a:solidFill>
                  <a:srgbClr val="8A97A0"/>
                </a:solidFill>
                <a:latin typeface="Calibri" pitchFamily="34" charset="0"/>
                <a:ea typeface="Calibri" pitchFamily="34" charset="-122"/>
                <a:cs typeface="Calibri" pitchFamily="34" charset="-120"/>
              </a:rPr>
              <a:t>21 / 31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2A43"/>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300" b="1" kern="0" spc="200" dirty="0">
                <a:solidFill>
                  <a:srgbClr val="6FE7DD"/>
                </a:solidFill>
                <a:latin typeface="Calibri" pitchFamily="34" charset="0"/>
                <a:ea typeface="Calibri" pitchFamily="34" charset="-122"/>
                <a:cs typeface="Calibri" pitchFamily="34" charset="-120"/>
              </a:rPr>
              <a:t>MAKING RISK REAL</a:t>
            </a:r>
            <a:endParaRPr lang="en-US" sz="1300" dirty="0"/>
          </a:p>
        </p:txBody>
      </p:sp>
      <p:sp>
        <p:nvSpPr>
          <p:cNvPr id="3" name="Text 1"/>
          <p:cNvSpPr txBox="1"/>
          <p:nvPr/>
        </p:nvSpPr>
        <p:spPr>
          <a:xfrm>
            <a:off x="548640" y="685800"/>
            <a:ext cx="11064240" cy="82296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What Happens When the Market Falls 30%?</a:t>
            </a:r>
            <a:endParaRPr lang="en-US" sz="3000" dirty="0"/>
          </a:p>
        </p:txBody>
      </p:sp>
      <p:sp>
        <p:nvSpPr>
          <p:cNvPr id="4" name="Shape 2"/>
          <p:cNvSpPr/>
          <p:nvPr/>
        </p:nvSpPr>
        <p:spPr>
          <a:xfrm>
            <a:off x="548640" y="1828800"/>
            <a:ext cx="5120640" cy="1828800"/>
          </a:xfrm>
          <a:prstGeom prst="roundRect">
            <a:avLst>
              <a:gd name="adj" fmla="val 4000"/>
            </a:avLst>
          </a:prstGeom>
          <a:solidFill>
            <a:srgbClr val="0F3A57"/>
          </a:solidFill>
          <a:ln/>
          <a:effectLst>
            <a:outerShdw blurRad="76200" dist="25400" dir="5400000" algn="bl" rotWithShape="0">
              <a:srgbClr val="1B1B1B">
                <a:alpha val="12000"/>
              </a:srgbClr>
            </a:outerShdw>
          </a:effectLst>
        </p:spPr>
        <p:txBody>
          <a:bodyPr/>
          <a:lstStyle/>
          <a:p>
            <a:endParaRPr lang="en-IN"/>
          </a:p>
        </p:txBody>
      </p:sp>
      <p:sp>
        <p:nvSpPr>
          <p:cNvPr id="5" name="Text 3"/>
          <p:cNvSpPr txBox="1"/>
          <p:nvPr/>
        </p:nvSpPr>
        <p:spPr>
          <a:xfrm>
            <a:off x="868680" y="2011680"/>
            <a:ext cx="45720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₹5,00,000</a:t>
            </a:r>
            <a:endParaRPr lang="en-US" sz="3000" dirty="0"/>
          </a:p>
        </p:txBody>
      </p:sp>
      <p:sp>
        <p:nvSpPr>
          <p:cNvPr id="6" name="Text 4"/>
          <p:cNvSpPr txBox="1"/>
          <p:nvPr/>
        </p:nvSpPr>
        <p:spPr>
          <a:xfrm>
            <a:off x="868680" y="2651760"/>
            <a:ext cx="4572000" cy="365760"/>
          </a:xfrm>
          <a:prstGeom prst="rect">
            <a:avLst/>
          </a:prstGeom>
          <a:noFill/>
          <a:ln/>
        </p:spPr>
        <p:txBody>
          <a:bodyPr wrap="square" lIns="0" tIns="0" rIns="0" bIns="0" rtlCol="0" anchor="ctr"/>
          <a:lstStyle/>
          <a:p>
            <a:pPr marL="0" indent="0">
              <a:buNone/>
            </a:pPr>
            <a:r>
              <a:rPr lang="en-US" sz="1300" dirty="0">
                <a:solidFill>
                  <a:srgbClr val="C8D6DB"/>
                </a:solidFill>
                <a:latin typeface="Calibri" pitchFamily="34" charset="0"/>
                <a:ea typeface="Calibri" pitchFamily="34" charset="-122"/>
                <a:cs typeface="Calibri" pitchFamily="34" charset="-120"/>
              </a:rPr>
              <a:t>equity MF portfolio</a:t>
            </a:r>
            <a:endParaRPr lang="en-US" sz="1300" dirty="0"/>
          </a:p>
        </p:txBody>
      </p:sp>
      <p:sp>
        <p:nvSpPr>
          <p:cNvPr id="7" name="Text 5"/>
          <p:cNvSpPr txBox="1"/>
          <p:nvPr/>
        </p:nvSpPr>
        <p:spPr>
          <a:xfrm>
            <a:off x="868680" y="3017520"/>
            <a:ext cx="4572000" cy="457200"/>
          </a:xfrm>
          <a:prstGeom prst="rect">
            <a:avLst/>
          </a:prstGeom>
          <a:noFill/>
          <a:ln/>
        </p:spPr>
        <p:txBody>
          <a:bodyPr wrap="square" lIns="0" tIns="0" rIns="0" bIns="0" rtlCol="0" anchor="ctr"/>
          <a:lstStyle/>
          <a:p>
            <a:pPr marL="0" indent="0">
              <a:buNone/>
            </a:pPr>
            <a:r>
              <a:rPr lang="en-US" sz="1500" b="1" dirty="0">
                <a:solidFill>
                  <a:srgbClr val="C0392B"/>
                </a:solidFill>
                <a:latin typeface="Calibri" pitchFamily="34" charset="0"/>
                <a:ea typeface="Calibri" pitchFamily="34" charset="-122"/>
                <a:cs typeface="Calibri" pitchFamily="34" charset="-120"/>
              </a:rPr>
              <a:t>↓ 30% fall</a:t>
            </a:r>
            <a:endParaRPr lang="en-US" sz="1500" dirty="0"/>
          </a:p>
        </p:txBody>
      </p:sp>
      <p:sp>
        <p:nvSpPr>
          <p:cNvPr id="8" name="Shape 6"/>
          <p:cNvSpPr/>
          <p:nvPr/>
        </p:nvSpPr>
        <p:spPr>
          <a:xfrm>
            <a:off x="5943600" y="1828800"/>
            <a:ext cx="5669280" cy="1828800"/>
          </a:xfrm>
          <a:prstGeom prst="roundRect">
            <a:avLst>
              <a:gd name="adj" fmla="val 4000"/>
            </a:avLst>
          </a:prstGeom>
          <a:solidFill>
            <a:srgbClr val="0F3A57"/>
          </a:solidFill>
          <a:ln/>
          <a:effectLst>
            <a:outerShdw blurRad="76200" dist="25400" dir="5400000" algn="bl" rotWithShape="0">
              <a:srgbClr val="1B1B1B">
                <a:alpha val="12000"/>
              </a:srgbClr>
            </a:outerShdw>
          </a:effectLst>
        </p:spPr>
        <p:txBody>
          <a:bodyPr/>
          <a:lstStyle/>
          <a:p>
            <a:endParaRPr lang="en-IN"/>
          </a:p>
        </p:txBody>
      </p:sp>
      <p:sp>
        <p:nvSpPr>
          <p:cNvPr id="9" name="Text 7"/>
          <p:cNvSpPr txBox="1"/>
          <p:nvPr/>
        </p:nvSpPr>
        <p:spPr>
          <a:xfrm>
            <a:off x="6263640" y="2011680"/>
            <a:ext cx="5120640" cy="640080"/>
          </a:xfrm>
          <a:prstGeom prst="rect">
            <a:avLst/>
          </a:prstGeom>
          <a:noFill/>
          <a:ln/>
        </p:spPr>
        <p:txBody>
          <a:bodyPr wrap="square" lIns="0" tIns="0" rIns="0" bIns="0" rtlCol="0" anchor="ctr"/>
          <a:lstStyle/>
          <a:p>
            <a:pPr marL="0" indent="0">
              <a:buNone/>
            </a:pPr>
            <a:r>
              <a:rPr lang="en-US" sz="3000" b="1" dirty="0">
                <a:solidFill>
                  <a:srgbClr val="F4A300"/>
                </a:solidFill>
                <a:latin typeface="Cambria" pitchFamily="34" charset="0"/>
                <a:ea typeface="Cambria" pitchFamily="34" charset="-122"/>
                <a:cs typeface="Cambria" pitchFamily="34" charset="-120"/>
              </a:rPr>
              <a:t>≈ ₹3,50,000</a:t>
            </a:r>
            <a:endParaRPr lang="en-US" sz="3000" dirty="0"/>
          </a:p>
        </p:txBody>
      </p:sp>
      <p:sp>
        <p:nvSpPr>
          <p:cNvPr id="10" name="Text 8"/>
          <p:cNvSpPr txBox="1"/>
          <p:nvPr/>
        </p:nvSpPr>
        <p:spPr>
          <a:xfrm>
            <a:off x="6263640" y="2697480"/>
            <a:ext cx="5212080" cy="822960"/>
          </a:xfrm>
          <a:prstGeom prst="rect">
            <a:avLst/>
          </a:prstGeom>
          <a:noFill/>
          <a:ln/>
        </p:spPr>
        <p:txBody>
          <a:bodyPr wrap="square" lIns="0" tIns="0" rIns="0" bIns="0" rtlCol="0" anchor="ctr"/>
          <a:lstStyle/>
          <a:p>
            <a:pPr marL="0" indent="0">
              <a:lnSpc>
                <a:spcPct val="120000"/>
              </a:lnSpc>
              <a:buNone/>
            </a:pPr>
            <a:r>
              <a:rPr lang="en-US" sz="1250" i="1" dirty="0">
                <a:solidFill>
                  <a:srgbClr val="C8D6DB"/>
                </a:solidFill>
                <a:latin typeface="Calibri" pitchFamily="34" charset="0"/>
                <a:ea typeface="Calibri" pitchFamily="34" charset="-122"/>
                <a:cs typeface="Calibri" pitchFamily="34" charset="-120"/>
              </a:rPr>
              <a:t>What would you do? Stop SIP · Redeem · Continue · Invest more · Review goal</a:t>
            </a:r>
            <a:endParaRPr lang="en-US" sz="1250" dirty="0"/>
          </a:p>
        </p:txBody>
      </p:sp>
      <p:sp>
        <p:nvSpPr>
          <p:cNvPr id="11" name="Text 9"/>
          <p:cNvSpPr txBox="1"/>
          <p:nvPr/>
        </p:nvSpPr>
        <p:spPr>
          <a:xfrm>
            <a:off x="548640" y="3886200"/>
            <a:ext cx="10789920" cy="4114800"/>
          </a:xfrm>
          <a:prstGeom prst="rect">
            <a:avLst/>
          </a:prstGeom>
          <a:noFill/>
          <a:ln/>
        </p:spPr>
        <p:txBody>
          <a:bodyPr wrap="square" lIns="0" tIns="0" rIns="0" bIns="0" rtlCol="0" anchor="t"/>
          <a:lstStyle/>
          <a:p>
            <a:pPr marL="228600" indent="-228600">
              <a:lnSpc>
                <a:spcPct val="108000"/>
              </a:lnSpc>
              <a:spcAft>
                <a:spcPts val="1200"/>
              </a:spcAft>
              <a:buSzPct val="100000"/>
              <a:buChar char="•"/>
            </a:pPr>
            <a:r>
              <a:rPr lang="en-US" sz="1400" dirty="0">
                <a:solidFill>
                  <a:srgbClr val="E4EEF0"/>
                </a:solidFill>
                <a:latin typeface="Calibri" pitchFamily="34" charset="0"/>
                <a:ea typeface="Calibri" pitchFamily="34" charset="-122"/>
                <a:cs typeface="Calibri" pitchFamily="34" charset="-120"/>
              </a:rPr>
              <a:t>There is no universal “correct” action — it depends on your original goal, time horizon, liquidity needs, risk tolerance and portfolio construction.</a:t>
            </a:r>
            <a:endParaRPr lang="en-US" sz="1400" dirty="0"/>
          </a:p>
          <a:p>
            <a:pPr marL="228600" indent="-228600">
              <a:lnSpc>
                <a:spcPct val="108000"/>
              </a:lnSpc>
              <a:spcAft>
                <a:spcPts val="1200"/>
              </a:spcAft>
              <a:buSzPct val="100000"/>
              <a:buChar char="•"/>
            </a:pPr>
            <a:r>
              <a:rPr lang="en-US" sz="1400" dirty="0">
                <a:solidFill>
                  <a:srgbClr val="E4EEF0"/>
                </a:solidFill>
                <a:latin typeface="Calibri" pitchFamily="34" charset="0"/>
                <a:ea typeface="Calibri" pitchFamily="34" charset="-122"/>
                <a:cs typeface="Calibri" pitchFamily="34" charset="-120"/>
              </a:rPr>
              <a:t>The Riskometer is a useful starting point, but it does not replace understanding the portfolio.</a:t>
            </a:r>
            <a:endParaRPr lang="en-US" sz="1400" dirty="0"/>
          </a:p>
          <a:p>
            <a:pPr marL="228600" indent="-228600">
              <a:lnSpc>
                <a:spcPct val="108000"/>
              </a:lnSpc>
              <a:spcAft>
                <a:spcPts val="1200"/>
              </a:spcAft>
              <a:buSzPct val="100000"/>
              <a:buChar char="•"/>
            </a:pPr>
            <a:r>
              <a:rPr lang="en-US" sz="1400" dirty="0">
                <a:solidFill>
                  <a:srgbClr val="E4EEF0"/>
                </a:solidFill>
                <a:latin typeface="Calibri" pitchFamily="34" charset="0"/>
                <a:ea typeface="Calibri" pitchFamily="34" charset="-122"/>
                <a:cs typeface="Calibri" pitchFamily="34" charset="-120"/>
              </a:rPr>
              <a:t>Equity declines are normal and possible — never treat an equity MF like a guaranteed-return deposit.</a:t>
            </a:r>
            <a:endParaRPr lang="en-US" sz="1400" dirty="0"/>
          </a:p>
        </p:txBody>
      </p:sp>
      <p:sp>
        <p:nvSpPr>
          <p:cNvPr id="12" name="Shape 10"/>
          <p:cNvSpPr/>
          <p:nvPr/>
        </p:nvSpPr>
        <p:spPr>
          <a:xfrm>
            <a:off x="548640" y="5806440"/>
            <a:ext cx="11064240" cy="640080"/>
          </a:xfrm>
          <a:prstGeom prst="roundRect">
            <a:avLst>
              <a:gd name="adj" fmla="val 11429"/>
            </a:avLst>
          </a:prstGeom>
          <a:solidFill>
            <a:srgbClr val="0F3A57"/>
          </a:solidFill>
          <a:ln/>
          <a:effectLst>
            <a:outerShdw blurRad="76200" dist="25400" dir="5400000" algn="bl" rotWithShape="0">
              <a:srgbClr val="1B1B1B">
                <a:alpha val="12000"/>
              </a:srgbClr>
            </a:outerShdw>
          </a:effectLst>
        </p:spPr>
        <p:txBody>
          <a:bodyPr/>
          <a:lstStyle/>
          <a:p>
            <a:endParaRPr lang="en-IN"/>
          </a:p>
        </p:txBody>
      </p:sp>
      <p:sp>
        <p:nvSpPr>
          <p:cNvPr id="13" name="Text 11"/>
          <p:cNvSpPr txBox="1"/>
          <p:nvPr/>
        </p:nvSpPr>
        <p:spPr>
          <a:xfrm>
            <a:off x="822960" y="5806440"/>
            <a:ext cx="10515600" cy="640080"/>
          </a:xfrm>
          <a:prstGeom prst="rect">
            <a:avLst/>
          </a:prstGeom>
          <a:noFill/>
          <a:ln/>
        </p:spPr>
        <p:txBody>
          <a:bodyPr wrap="square" lIns="0" tIns="0" rIns="0" bIns="0" rtlCol="0" anchor="ctr"/>
          <a:lstStyle/>
          <a:p>
            <a:pPr marL="0" indent="0">
              <a:buNone/>
            </a:pPr>
            <a:r>
              <a:rPr lang="en-US" sz="1350" b="1" dirty="0">
                <a:solidFill>
                  <a:srgbClr val="F4A300"/>
                </a:solidFill>
                <a:latin typeface="Calibri" pitchFamily="34" charset="0"/>
                <a:ea typeface="Calibri" pitchFamily="34" charset="-122"/>
                <a:cs typeface="Calibri" pitchFamily="34" charset="-120"/>
              </a:rPr>
              <a:t>Behavioral lesson: don’t design a portfolio you cannot emotionally or financially hold through a normal downturn.</a:t>
            </a:r>
            <a:endParaRPr lang="en-US" sz="1350" dirty="0"/>
          </a:p>
        </p:txBody>
      </p:sp>
      <p:sp>
        <p:nvSpPr>
          <p:cNvPr id="14" name="Text 12"/>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900" dirty="0">
                <a:solidFill>
                  <a:srgbClr val="8A97A0"/>
                </a:solidFill>
                <a:latin typeface="Calibri" pitchFamily="34" charset="0"/>
                <a:ea typeface="Calibri" pitchFamily="34" charset="-122"/>
                <a:cs typeface="Calibri" pitchFamily="34" charset="-120"/>
              </a:rPr>
              <a:t>Mutual Funds: What My Investing Journey Taught Me</a:t>
            </a:r>
            <a:endParaRPr lang="en-US" sz="900" dirty="0"/>
          </a:p>
        </p:txBody>
      </p:sp>
      <p:sp>
        <p:nvSpPr>
          <p:cNvPr id="15" name="Text 13"/>
          <p:cNvSpPr txBox="1"/>
          <p:nvPr/>
        </p:nvSpPr>
        <p:spPr>
          <a:xfrm>
            <a:off x="11000232" y="6473952"/>
            <a:ext cx="731520" cy="274320"/>
          </a:xfrm>
          <a:prstGeom prst="rect">
            <a:avLst/>
          </a:prstGeom>
          <a:noFill/>
          <a:ln/>
        </p:spPr>
        <p:txBody>
          <a:bodyPr wrap="square" lIns="0" tIns="0" rIns="0" bIns="0" rtlCol="0" anchor="ctr"/>
          <a:lstStyle/>
          <a:p>
            <a:pPr marL="0" indent="0" algn="r">
              <a:buNone/>
            </a:pPr>
            <a:r>
              <a:rPr lang="en-US" sz="900" dirty="0">
                <a:solidFill>
                  <a:srgbClr val="8A97A0"/>
                </a:solidFill>
                <a:latin typeface="Calibri" pitchFamily="34" charset="0"/>
                <a:ea typeface="Calibri" pitchFamily="34" charset="-122"/>
                <a:cs typeface="Calibri" pitchFamily="34" charset="-120"/>
              </a:rPr>
              <a:t>22 / 31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UNKNOWN FACTS</a:t>
            </a:r>
            <a:endParaRPr lang="en-US" sz="1300" dirty="0"/>
          </a:p>
        </p:txBody>
      </p:sp>
      <p:sp>
        <p:nvSpPr>
          <p:cNvPr id="3" name="Text 1"/>
          <p:cNvSpPr txBox="1"/>
          <p:nvPr/>
        </p:nvSpPr>
        <p:spPr>
          <a:xfrm>
            <a:off x="548640" y="685800"/>
            <a:ext cx="11064240" cy="822960"/>
          </a:xfrm>
          <a:prstGeom prst="rect">
            <a:avLst/>
          </a:prstGeom>
          <a:noFill/>
          <a:ln/>
        </p:spPr>
        <p:txBody>
          <a:bodyPr wrap="square" lIns="0" tIns="0" rIns="0" bIns="0" rtlCol="0" anchor="ctr"/>
          <a:lstStyle/>
          <a:p>
            <a:pPr marL="0" indent="0">
              <a:buNone/>
            </a:pPr>
            <a:r>
              <a:rPr lang="en-US" sz="3000" b="1" dirty="0">
                <a:solidFill>
                  <a:srgbClr val="0A2A43"/>
                </a:solidFill>
                <a:latin typeface="Cambria" pitchFamily="34" charset="0"/>
                <a:ea typeface="Cambria" pitchFamily="34" charset="-122"/>
                <a:cs typeface="Cambria" pitchFamily="34" charset="-120"/>
              </a:rPr>
              <a:t>10 Things Many MF Investors Don’t Know</a:t>
            </a:r>
            <a:endParaRPr lang="en-US" sz="3000" dirty="0"/>
          </a:p>
        </p:txBody>
      </p:sp>
      <p:sp>
        <p:nvSpPr>
          <p:cNvPr id="4" name="Shape 2"/>
          <p:cNvSpPr/>
          <p:nvPr/>
        </p:nvSpPr>
        <p:spPr>
          <a:xfrm>
            <a:off x="548640" y="1691640"/>
            <a:ext cx="5440680" cy="786384"/>
          </a:xfrm>
          <a:prstGeom prst="roundRect">
            <a:avLst>
              <a:gd name="adj" fmla="val 9302"/>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5" name="Shape 3"/>
          <p:cNvSpPr/>
          <p:nvPr/>
        </p:nvSpPr>
        <p:spPr>
          <a:xfrm>
            <a:off x="685800" y="1883664"/>
            <a:ext cx="402336" cy="402336"/>
          </a:xfrm>
          <a:prstGeom prst="ellipse">
            <a:avLst/>
          </a:prstGeom>
          <a:solidFill>
            <a:srgbClr val="028090"/>
          </a:solidFill>
          <a:ln/>
        </p:spPr>
        <p:txBody>
          <a:bodyPr/>
          <a:lstStyle/>
          <a:p>
            <a:endParaRPr lang="en-IN"/>
          </a:p>
        </p:txBody>
      </p:sp>
      <p:sp>
        <p:nvSpPr>
          <p:cNvPr id="6" name="Text 4"/>
          <p:cNvSpPr txBox="1"/>
          <p:nvPr/>
        </p:nvSpPr>
        <p:spPr>
          <a:xfrm>
            <a:off x="640080" y="1883664"/>
            <a:ext cx="49377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188720" y="1691640"/>
            <a:ext cx="4663440" cy="786384"/>
          </a:xfrm>
          <a:prstGeom prst="rect">
            <a:avLst/>
          </a:prstGeom>
          <a:noFill/>
          <a:ln/>
        </p:spPr>
        <p:txBody>
          <a:bodyPr wrap="square" lIns="0" tIns="0" rIns="0" bIns="0" rtlCol="0" anchor="ctr"/>
          <a:lstStyle/>
          <a:p>
            <a:pPr marL="0" indent="0">
              <a:lnSpc>
                <a:spcPct val="105000"/>
              </a:lnSpc>
              <a:buNone/>
            </a:pPr>
            <a:r>
              <a:rPr lang="en-US" sz="1300" b="1" dirty="0">
                <a:solidFill>
                  <a:srgbClr val="1C1C1C"/>
                </a:solidFill>
                <a:latin typeface="Calibri" pitchFamily="34" charset="0"/>
                <a:ea typeface="Calibri" pitchFamily="34" charset="-122"/>
                <a:cs typeface="Calibri" pitchFamily="34" charset="-120"/>
              </a:rPr>
              <a:t>Low NAV does not mean cheap</a:t>
            </a:r>
            <a:endParaRPr lang="en-US" sz="1300" dirty="0"/>
          </a:p>
        </p:txBody>
      </p:sp>
      <p:sp>
        <p:nvSpPr>
          <p:cNvPr id="8" name="Shape 6"/>
          <p:cNvSpPr/>
          <p:nvPr/>
        </p:nvSpPr>
        <p:spPr>
          <a:xfrm>
            <a:off x="6172200" y="1691640"/>
            <a:ext cx="5440680" cy="786384"/>
          </a:xfrm>
          <a:prstGeom prst="roundRect">
            <a:avLst>
              <a:gd name="adj" fmla="val 9302"/>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9" name="Shape 7"/>
          <p:cNvSpPr/>
          <p:nvPr/>
        </p:nvSpPr>
        <p:spPr>
          <a:xfrm>
            <a:off x="6309360" y="1883664"/>
            <a:ext cx="402336" cy="402336"/>
          </a:xfrm>
          <a:prstGeom prst="ellipse">
            <a:avLst/>
          </a:prstGeom>
          <a:solidFill>
            <a:srgbClr val="00A896"/>
          </a:solidFill>
          <a:ln/>
        </p:spPr>
        <p:txBody>
          <a:bodyPr/>
          <a:lstStyle/>
          <a:p>
            <a:endParaRPr lang="en-IN"/>
          </a:p>
        </p:txBody>
      </p:sp>
      <p:sp>
        <p:nvSpPr>
          <p:cNvPr id="10" name="Text 8"/>
          <p:cNvSpPr txBox="1"/>
          <p:nvPr/>
        </p:nvSpPr>
        <p:spPr>
          <a:xfrm>
            <a:off x="6263640" y="1883664"/>
            <a:ext cx="49377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6812280" y="1691640"/>
            <a:ext cx="4663440" cy="786384"/>
          </a:xfrm>
          <a:prstGeom prst="rect">
            <a:avLst/>
          </a:prstGeom>
          <a:noFill/>
          <a:ln/>
        </p:spPr>
        <p:txBody>
          <a:bodyPr wrap="square" lIns="0" tIns="0" rIns="0" bIns="0" rtlCol="0" anchor="ctr"/>
          <a:lstStyle/>
          <a:p>
            <a:pPr marL="0" indent="0">
              <a:lnSpc>
                <a:spcPct val="105000"/>
              </a:lnSpc>
              <a:buNone/>
            </a:pPr>
            <a:r>
              <a:rPr lang="en-US" sz="1300" b="1" dirty="0">
                <a:solidFill>
                  <a:srgbClr val="1C1C1C"/>
                </a:solidFill>
                <a:latin typeface="Calibri" pitchFamily="34" charset="0"/>
                <a:ea typeface="Calibri" pitchFamily="34" charset="-122"/>
                <a:cs typeface="Calibri" pitchFamily="34" charset="-120"/>
              </a:rPr>
              <a:t>SIP is a method, not a guarantee of profit</a:t>
            </a:r>
            <a:endParaRPr lang="en-US" sz="1300" dirty="0"/>
          </a:p>
        </p:txBody>
      </p:sp>
      <p:sp>
        <p:nvSpPr>
          <p:cNvPr id="12" name="Shape 10"/>
          <p:cNvSpPr/>
          <p:nvPr/>
        </p:nvSpPr>
        <p:spPr>
          <a:xfrm>
            <a:off x="548640" y="2587752"/>
            <a:ext cx="5440680" cy="786384"/>
          </a:xfrm>
          <a:prstGeom prst="roundRect">
            <a:avLst>
              <a:gd name="adj" fmla="val 9302"/>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13" name="Shape 11"/>
          <p:cNvSpPr/>
          <p:nvPr/>
        </p:nvSpPr>
        <p:spPr>
          <a:xfrm>
            <a:off x="685800" y="2779776"/>
            <a:ext cx="402336" cy="402336"/>
          </a:xfrm>
          <a:prstGeom prst="ellipse">
            <a:avLst/>
          </a:prstGeom>
          <a:solidFill>
            <a:srgbClr val="028090"/>
          </a:solidFill>
          <a:ln/>
        </p:spPr>
        <p:txBody>
          <a:bodyPr/>
          <a:lstStyle/>
          <a:p>
            <a:endParaRPr lang="en-IN"/>
          </a:p>
        </p:txBody>
      </p:sp>
      <p:sp>
        <p:nvSpPr>
          <p:cNvPr id="14" name="Text 12"/>
          <p:cNvSpPr txBox="1"/>
          <p:nvPr/>
        </p:nvSpPr>
        <p:spPr>
          <a:xfrm>
            <a:off x="640080" y="2779776"/>
            <a:ext cx="49377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txBox="1"/>
          <p:nvPr/>
        </p:nvSpPr>
        <p:spPr>
          <a:xfrm>
            <a:off x="1188720" y="2587752"/>
            <a:ext cx="4663440" cy="786384"/>
          </a:xfrm>
          <a:prstGeom prst="rect">
            <a:avLst/>
          </a:prstGeom>
          <a:noFill/>
          <a:ln/>
        </p:spPr>
        <p:txBody>
          <a:bodyPr wrap="square" lIns="0" tIns="0" rIns="0" bIns="0" rtlCol="0" anchor="ctr"/>
          <a:lstStyle/>
          <a:p>
            <a:pPr marL="0" indent="0">
              <a:lnSpc>
                <a:spcPct val="105000"/>
              </a:lnSpc>
              <a:buNone/>
            </a:pPr>
            <a:r>
              <a:rPr lang="en-US" sz="1300" b="1" dirty="0">
                <a:solidFill>
                  <a:srgbClr val="1C1C1C"/>
                </a:solidFill>
                <a:latin typeface="Calibri" pitchFamily="34" charset="0"/>
                <a:ea typeface="Calibri" pitchFamily="34" charset="-122"/>
                <a:cs typeface="Calibri" pitchFamily="34" charset="-120"/>
              </a:rPr>
              <a:t>Mutual funds can lose money</a:t>
            </a:r>
            <a:endParaRPr lang="en-US" sz="1300" dirty="0"/>
          </a:p>
        </p:txBody>
      </p:sp>
      <p:sp>
        <p:nvSpPr>
          <p:cNvPr id="16" name="Shape 14"/>
          <p:cNvSpPr/>
          <p:nvPr/>
        </p:nvSpPr>
        <p:spPr>
          <a:xfrm>
            <a:off x="6172200" y="2587752"/>
            <a:ext cx="5440680" cy="786384"/>
          </a:xfrm>
          <a:prstGeom prst="roundRect">
            <a:avLst>
              <a:gd name="adj" fmla="val 9302"/>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17" name="Shape 15"/>
          <p:cNvSpPr/>
          <p:nvPr/>
        </p:nvSpPr>
        <p:spPr>
          <a:xfrm>
            <a:off x="6309360" y="2779776"/>
            <a:ext cx="402336" cy="402336"/>
          </a:xfrm>
          <a:prstGeom prst="ellipse">
            <a:avLst/>
          </a:prstGeom>
          <a:solidFill>
            <a:srgbClr val="00A896"/>
          </a:solidFill>
          <a:ln/>
        </p:spPr>
        <p:txBody>
          <a:bodyPr/>
          <a:lstStyle/>
          <a:p>
            <a:endParaRPr lang="en-IN"/>
          </a:p>
        </p:txBody>
      </p:sp>
      <p:sp>
        <p:nvSpPr>
          <p:cNvPr id="18" name="Text 16"/>
          <p:cNvSpPr txBox="1"/>
          <p:nvPr/>
        </p:nvSpPr>
        <p:spPr>
          <a:xfrm>
            <a:off x="6263640" y="2779776"/>
            <a:ext cx="49377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txBox="1"/>
          <p:nvPr/>
        </p:nvSpPr>
        <p:spPr>
          <a:xfrm>
            <a:off x="6812280" y="2587752"/>
            <a:ext cx="4663440" cy="786384"/>
          </a:xfrm>
          <a:prstGeom prst="rect">
            <a:avLst/>
          </a:prstGeom>
          <a:noFill/>
          <a:ln/>
        </p:spPr>
        <p:txBody>
          <a:bodyPr wrap="square" lIns="0" tIns="0" rIns="0" bIns="0" rtlCol="0" anchor="ctr"/>
          <a:lstStyle/>
          <a:p>
            <a:pPr marL="0" indent="0">
              <a:lnSpc>
                <a:spcPct val="105000"/>
              </a:lnSpc>
              <a:buNone/>
            </a:pPr>
            <a:r>
              <a:rPr lang="en-US" sz="1300" b="1" dirty="0">
                <a:solidFill>
                  <a:srgbClr val="1C1C1C"/>
                </a:solidFill>
                <a:latin typeface="Calibri" pitchFamily="34" charset="0"/>
                <a:ea typeface="Calibri" pitchFamily="34" charset="-122"/>
                <a:cs typeface="Calibri" pitchFamily="34" charset="-120"/>
              </a:rPr>
              <a:t>5 funds ≠ automatic diversification</a:t>
            </a:r>
            <a:endParaRPr lang="en-US" sz="1300" dirty="0"/>
          </a:p>
        </p:txBody>
      </p:sp>
      <p:sp>
        <p:nvSpPr>
          <p:cNvPr id="20" name="Shape 18"/>
          <p:cNvSpPr/>
          <p:nvPr/>
        </p:nvSpPr>
        <p:spPr>
          <a:xfrm>
            <a:off x="548640" y="3483864"/>
            <a:ext cx="5440680" cy="786384"/>
          </a:xfrm>
          <a:prstGeom prst="roundRect">
            <a:avLst>
              <a:gd name="adj" fmla="val 9302"/>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21" name="Shape 19"/>
          <p:cNvSpPr/>
          <p:nvPr/>
        </p:nvSpPr>
        <p:spPr>
          <a:xfrm>
            <a:off x="685800" y="3675888"/>
            <a:ext cx="402336" cy="402336"/>
          </a:xfrm>
          <a:prstGeom prst="ellipse">
            <a:avLst/>
          </a:prstGeom>
          <a:solidFill>
            <a:srgbClr val="028090"/>
          </a:solidFill>
          <a:ln/>
        </p:spPr>
        <p:txBody>
          <a:bodyPr/>
          <a:lstStyle/>
          <a:p>
            <a:endParaRPr lang="en-IN"/>
          </a:p>
        </p:txBody>
      </p:sp>
      <p:sp>
        <p:nvSpPr>
          <p:cNvPr id="22" name="Text 20"/>
          <p:cNvSpPr txBox="1"/>
          <p:nvPr/>
        </p:nvSpPr>
        <p:spPr>
          <a:xfrm>
            <a:off x="640080" y="3675888"/>
            <a:ext cx="49377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21"/>
          <p:cNvSpPr txBox="1"/>
          <p:nvPr/>
        </p:nvSpPr>
        <p:spPr>
          <a:xfrm>
            <a:off x="1188720" y="3483864"/>
            <a:ext cx="4663440" cy="786384"/>
          </a:xfrm>
          <a:prstGeom prst="rect">
            <a:avLst/>
          </a:prstGeom>
          <a:noFill/>
          <a:ln/>
        </p:spPr>
        <p:txBody>
          <a:bodyPr wrap="square" lIns="0" tIns="0" rIns="0" bIns="0" rtlCol="0" anchor="ctr"/>
          <a:lstStyle/>
          <a:p>
            <a:pPr marL="0" indent="0">
              <a:lnSpc>
                <a:spcPct val="105000"/>
              </a:lnSpc>
              <a:buNone/>
            </a:pPr>
            <a:r>
              <a:rPr lang="en-US" sz="1300" b="1" dirty="0">
                <a:solidFill>
                  <a:srgbClr val="1C1C1C"/>
                </a:solidFill>
                <a:latin typeface="Calibri" pitchFamily="34" charset="0"/>
                <a:ea typeface="Calibri" pitchFamily="34" charset="-122"/>
                <a:cs typeface="Calibri" pitchFamily="34" charset="-120"/>
              </a:rPr>
              <a:t>Different funds can own the same stocks</a:t>
            </a:r>
            <a:endParaRPr lang="en-US" sz="1300" dirty="0"/>
          </a:p>
        </p:txBody>
      </p:sp>
      <p:sp>
        <p:nvSpPr>
          <p:cNvPr id="24" name="Shape 22"/>
          <p:cNvSpPr/>
          <p:nvPr/>
        </p:nvSpPr>
        <p:spPr>
          <a:xfrm>
            <a:off x="6172200" y="3483864"/>
            <a:ext cx="5440680" cy="786384"/>
          </a:xfrm>
          <a:prstGeom prst="roundRect">
            <a:avLst>
              <a:gd name="adj" fmla="val 9302"/>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25" name="Shape 23"/>
          <p:cNvSpPr/>
          <p:nvPr/>
        </p:nvSpPr>
        <p:spPr>
          <a:xfrm>
            <a:off x="6309360" y="3675888"/>
            <a:ext cx="402336" cy="402336"/>
          </a:xfrm>
          <a:prstGeom prst="ellipse">
            <a:avLst/>
          </a:prstGeom>
          <a:solidFill>
            <a:srgbClr val="00A896"/>
          </a:solidFill>
          <a:ln/>
        </p:spPr>
        <p:txBody>
          <a:bodyPr/>
          <a:lstStyle/>
          <a:p>
            <a:endParaRPr lang="en-IN"/>
          </a:p>
        </p:txBody>
      </p:sp>
      <p:sp>
        <p:nvSpPr>
          <p:cNvPr id="26" name="Text 24"/>
          <p:cNvSpPr txBox="1"/>
          <p:nvPr/>
        </p:nvSpPr>
        <p:spPr>
          <a:xfrm>
            <a:off x="6263640" y="3675888"/>
            <a:ext cx="49377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7" name="Text 25"/>
          <p:cNvSpPr txBox="1"/>
          <p:nvPr/>
        </p:nvSpPr>
        <p:spPr>
          <a:xfrm>
            <a:off x="6812280" y="3483864"/>
            <a:ext cx="4663440" cy="786384"/>
          </a:xfrm>
          <a:prstGeom prst="rect">
            <a:avLst/>
          </a:prstGeom>
          <a:noFill/>
          <a:ln/>
        </p:spPr>
        <p:txBody>
          <a:bodyPr wrap="square" lIns="0" tIns="0" rIns="0" bIns="0" rtlCol="0" anchor="ctr"/>
          <a:lstStyle/>
          <a:p>
            <a:pPr marL="0" indent="0">
              <a:lnSpc>
                <a:spcPct val="105000"/>
              </a:lnSpc>
              <a:buNone/>
            </a:pPr>
            <a:r>
              <a:rPr lang="en-US" sz="1300" b="1" dirty="0">
                <a:solidFill>
                  <a:srgbClr val="1C1C1C"/>
                </a:solidFill>
                <a:latin typeface="Calibri" pitchFamily="34" charset="0"/>
                <a:ea typeface="Calibri" pitchFamily="34" charset="-122"/>
                <a:cs typeface="Calibri" pitchFamily="34" charset="-120"/>
              </a:rPr>
              <a:t>Direct &amp; Regular can have different expense ratios</a:t>
            </a:r>
            <a:endParaRPr lang="en-US" sz="1300" dirty="0"/>
          </a:p>
        </p:txBody>
      </p:sp>
      <p:sp>
        <p:nvSpPr>
          <p:cNvPr id="28" name="Shape 26"/>
          <p:cNvSpPr/>
          <p:nvPr/>
        </p:nvSpPr>
        <p:spPr>
          <a:xfrm>
            <a:off x="548640" y="4379976"/>
            <a:ext cx="5440680" cy="786384"/>
          </a:xfrm>
          <a:prstGeom prst="roundRect">
            <a:avLst>
              <a:gd name="adj" fmla="val 9302"/>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29" name="Shape 27"/>
          <p:cNvSpPr/>
          <p:nvPr/>
        </p:nvSpPr>
        <p:spPr>
          <a:xfrm>
            <a:off x="685800" y="4572000"/>
            <a:ext cx="402336" cy="402336"/>
          </a:xfrm>
          <a:prstGeom prst="ellipse">
            <a:avLst/>
          </a:prstGeom>
          <a:solidFill>
            <a:srgbClr val="028090"/>
          </a:solidFill>
          <a:ln/>
        </p:spPr>
        <p:txBody>
          <a:bodyPr/>
          <a:lstStyle/>
          <a:p>
            <a:endParaRPr lang="en-IN"/>
          </a:p>
        </p:txBody>
      </p:sp>
      <p:sp>
        <p:nvSpPr>
          <p:cNvPr id="30" name="Text 28"/>
          <p:cNvSpPr txBox="1"/>
          <p:nvPr/>
        </p:nvSpPr>
        <p:spPr>
          <a:xfrm>
            <a:off x="640080" y="4572000"/>
            <a:ext cx="49377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1" name="Text 29"/>
          <p:cNvSpPr txBox="1"/>
          <p:nvPr/>
        </p:nvSpPr>
        <p:spPr>
          <a:xfrm>
            <a:off x="1188720" y="4379976"/>
            <a:ext cx="4663440" cy="786384"/>
          </a:xfrm>
          <a:prstGeom prst="rect">
            <a:avLst/>
          </a:prstGeom>
          <a:noFill/>
          <a:ln/>
        </p:spPr>
        <p:txBody>
          <a:bodyPr wrap="square" lIns="0" tIns="0" rIns="0" bIns="0" rtlCol="0" anchor="ctr"/>
          <a:lstStyle/>
          <a:p>
            <a:pPr marL="0" indent="0">
              <a:lnSpc>
                <a:spcPct val="105000"/>
              </a:lnSpc>
              <a:buNone/>
            </a:pPr>
            <a:r>
              <a:rPr lang="en-US" sz="1300" b="1" dirty="0">
                <a:solidFill>
                  <a:srgbClr val="1C1C1C"/>
                </a:solidFill>
                <a:latin typeface="Calibri" pitchFamily="34" charset="0"/>
                <a:ea typeface="Calibri" pitchFamily="34" charset="-122"/>
                <a:cs typeface="Calibri" pitchFamily="34" charset="-120"/>
              </a:rPr>
              <a:t>Expense differences compound over long periods</a:t>
            </a:r>
            <a:endParaRPr lang="en-US" sz="1300" dirty="0"/>
          </a:p>
        </p:txBody>
      </p:sp>
      <p:sp>
        <p:nvSpPr>
          <p:cNvPr id="32" name="Shape 30"/>
          <p:cNvSpPr/>
          <p:nvPr/>
        </p:nvSpPr>
        <p:spPr>
          <a:xfrm>
            <a:off x="6172200" y="4379976"/>
            <a:ext cx="5440680" cy="786384"/>
          </a:xfrm>
          <a:prstGeom prst="roundRect">
            <a:avLst>
              <a:gd name="adj" fmla="val 9302"/>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33" name="Shape 31"/>
          <p:cNvSpPr/>
          <p:nvPr/>
        </p:nvSpPr>
        <p:spPr>
          <a:xfrm>
            <a:off x="6309360" y="4572000"/>
            <a:ext cx="402336" cy="402336"/>
          </a:xfrm>
          <a:prstGeom prst="ellipse">
            <a:avLst/>
          </a:prstGeom>
          <a:solidFill>
            <a:srgbClr val="00A896"/>
          </a:solidFill>
          <a:ln/>
        </p:spPr>
        <p:txBody>
          <a:bodyPr/>
          <a:lstStyle/>
          <a:p>
            <a:endParaRPr lang="en-IN"/>
          </a:p>
        </p:txBody>
      </p:sp>
      <p:sp>
        <p:nvSpPr>
          <p:cNvPr id="34" name="Text 32"/>
          <p:cNvSpPr txBox="1"/>
          <p:nvPr/>
        </p:nvSpPr>
        <p:spPr>
          <a:xfrm>
            <a:off x="6263640" y="4572000"/>
            <a:ext cx="49377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35" name="Text 33"/>
          <p:cNvSpPr txBox="1"/>
          <p:nvPr/>
        </p:nvSpPr>
        <p:spPr>
          <a:xfrm>
            <a:off x="6812280" y="4379976"/>
            <a:ext cx="4663440" cy="786384"/>
          </a:xfrm>
          <a:prstGeom prst="rect">
            <a:avLst/>
          </a:prstGeom>
          <a:noFill/>
          <a:ln/>
        </p:spPr>
        <p:txBody>
          <a:bodyPr wrap="square" lIns="0" tIns="0" rIns="0" bIns="0" rtlCol="0" anchor="ctr"/>
          <a:lstStyle/>
          <a:p>
            <a:pPr marL="0" indent="0">
              <a:lnSpc>
                <a:spcPct val="105000"/>
              </a:lnSpc>
              <a:buNone/>
            </a:pPr>
            <a:r>
              <a:rPr lang="en-US" sz="1300" b="1" dirty="0">
                <a:solidFill>
                  <a:srgbClr val="1C1C1C"/>
                </a:solidFill>
                <a:latin typeface="Calibri" pitchFamily="34" charset="0"/>
                <a:ea typeface="Calibri" pitchFamily="34" charset="-122"/>
                <a:cs typeface="Calibri" pitchFamily="34" charset="-120"/>
              </a:rPr>
              <a:t>Highest recent return ≠ most suitable fund</a:t>
            </a:r>
            <a:endParaRPr lang="en-US" sz="1300" dirty="0"/>
          </a:p>
        </p:txBody>
      </p:sp>
      <p:sp>
        <p:nvSpPr>
          <p:cNvPr id="36" name="Shape 34"/>
          <p:cNvSpPr/>
          <p:nvPr/>
        </p:nvSpPr>
        <p:spPr>
          <a:xfrm>
            <a:off x="548640" y="5276088"/>
            <a:ext cx="5440680" cy="786384"/>
          </a:xfrm>
          <a:prstGeom prst="roundRect">
            <a:avLst>
              <a:gd name="adj" fmla="val 9302"/>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37" name="Shape 35"/>
          <p:cNvSpPr/>
          <p:nvPr/>
        </p:nvSpPr>
        <p:spPr>
          <a:xfrm>
            <a:off x="685800" y="5468112"/>
            <a:ext cx="402336" cy="402336"/>
          </a:xfrm>
          <a:prstGeom prst="ellipse">
            <a:avLst/>
          </a:prstGeom>
          <a:solidFill>
            <a:srgbClr val="028090"/>
          </a:solidFill>
          <a:ln/>
        </p:spPr>
        <p:txBody>
          <a:bodyPr/>
          <a:lstStyle/>
          <a:p>
            <a:endParaRPr lang="en-IN"/>
          </a:p>
        </p:txBody>
      </p:sp>
      <p:sp>
        <p:nvSpPr>
          <p:cNvPr id="38" name="Text 36"/>
          <p:cNvSpPr txBox="1"/>
          <p:nvPr/>
        </p:nvSpPr>
        <p:spPr>
          <a:xfrm>
            <a:off x="640080" y="5468112"/>
            <a:ext cx="49377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39" name="Text 37"/>
          <p:cNvSpPr txBox="1"/>
          <p:nvPr/>
        </p:nvSpPr>
        <p:spPr>
          <a:xfrm>
            <a:off x="1188720" y="5276088"/>
            <a:ext cx="4663440" cy="786384"/>
          </a:xfrm>
          <a:prstGeom prst="rect">
            <a:avLst/>
          </a:prstGeom>
          <a:noFill/>
          <a:ln/>
        </p:spPr>
        <p:txBody>
          <a:bodyPr wrap="square" lIns="0" tIns="0" rIns="0" bIns="0" rtlCol="0" anchor="ctr"/>
          <a:lstStyle/>
          <a:p>
            <a:pPr marL="0" indent="0">
              <a:lnSpc>
                <a:spcPct val="105000"/>
              </a:lnSpc>
              <a:buNone/>
            </a:pPr>
            <a:r>
              <a:rPr lang="en-US" sz="1300" b="1" dirty="0">
                <a:solidFill>
                  <a:srgbClr val="1C1C1C"/>
                </a:solidFill>
                <a:latin typeface="Calibri" pitchFamily="34" charset="0"/>
                <a:ea typeface="Calibri" pitchFamily="34" charset="-122"/>
                <a:cs typeface="Calibri" pitchFamily="34" charset="-120"/>
              </a:rPr>
              <a:t>A fund can beat 0% but still lag its benchmark</a:t>
            </a:r>
            <a:endParaRPr lang="en-US" sz="1300" dirty="0"/>
          </a:p>
        </p:txBody>
      </p:sp>
      <p:sp>
        <p:nvSpPr>
          <p:cNvPr id="40" name="Shape 38"/>
          <p:cNvSpPr/>
          <p:nvPr/>
        </p:nvSpPr>
        <p:spPr>
          <a:xfrm>
            <a:off x="6172200" y="5276088"/>
            <a:ext cx="5440680" cy="786384"/>
          </a:xfrm>
          <a:prstGeom prst="roundRect">
            <a:avLst>
              <a:gd name="adj" fmla="val 9302"/>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41" name="Shape 39"/>
          <p:cNvSpPr/>
          <p:nvPr/>
        </p:nvSpPr>
        <p:spPr>
          <a:xfrm>
            <a:off x="6309360" y="5468112"/>
            <a:ext cx="402336" cy="402336"/>
          </a:xfrm>
          <a:prstGeom prst="ellipse">
            <a:avLst/>
          </a:prstGeom>
          <a:solidFill>
            <a:srgbClr val="00A896"/>
          </a:solidFill>
          <a:ln/>
        </p:spPr>
        <p:txBody>
          <a:bodyPr/>
          <a:lstStyle/>
          <a:p>
            <a:endParaRPr lang="en-IN"/>
          </a:p>
        </p:txBody>
      </p:sp>
      <p:sp>
        <p:nvSpPr>
          <p:cNvPr id="42" name="Text 40"/>
          <p:cNvSpPr txBox="1"/>
          <p:nvPr/>
        </p:nvSpPr>
        <p:spPr>
          <a:xfrm>
            <a:off x="6263640" y="5468112"/>
            <a:ext cx="49377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3" name="Text 41"/>
          <p:cNvSpPr txBox="1"/>
          <p:nvPr/>
        </p:nvSpPr>
        <p:spPr>
          <a:xfrm>
            <a:off x="6812280" y="5276088"/>
            <a:ext cx="4663440" cy="786384"/>
          </a:xfrm>
          <a:prstGeom prst="rect">
            <a:avLst/>
          </a:prstGeom>
          <a:noFill/>
          <a:ln/>
        </p:spPr>
        <p:txBody>
          <a:bodyPr wrap="square" lIns="0" tIns="0" rIns="0" bIns="0" rtlCol="0" anchor="ctr"/>
          <a:lstStyle/>
          <a:p>
            <a:pPr marL="0" indent="0">
              <a:lnSpc>
                <a:spcPct val="105000"/>
              </a:lnSpc>
              <a:buNone/>
            </a:pPr>
            <a:r>
              <a:rPr lang="en-US" sz="1300" b="1" dirty="0">
                <a:solidFill>
                  <a:srgbClr val="1C1C1C"/>
                </a:solidFill>
                <a:latin typeface="Calibri" pitchFamily="34" charset="0"/>
                <a:ea typeface="Calibri" pitchFamily="34" charset="-122"/>
                <a:cs typeface="Calibri" pitchFamily="34" charset="-120"/>
              </a:rPr>
              <a:t>Review against your goal, not a ranking table</a:t>
            </a:r>
            <a:endParaRPr lang="en-US" sz="1300" dirty="0"/>
          </a:p>
        </p:txBody>
      </p:sp>
      <p:sp>
        <p:nvSpPr>
          <p:cNvPr id="44" name="Text 42"/>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900" dirty="0">
                <a:solidFill>
                  <a:srgbClr val="8A97A0"/>
                </a:solidFill>
                <a:latin typeface="Calibri" pitchFamily="34" charset="0"/>
                <a:ea typeface="Calibri" pitchFamily="34" charset="-122"/>
                <a:cs typeface="Calibri" pitchFamily="34" charset="-120"/>
              </a:rPr>
              <a:t>Mutual Funds: What My Investing Journey Taught Me</a:t>
            </a:r>
            <a:endParaRPr lang="en-US" sz="900" dirty="0"/>
          </a:p>
        </p:txBody>
      </p:sp>
      <p:sp>
        <p:nvSpPr>
          <p:cNvPr id="45" name="Text 43"/>
          <p:cNvSpPr txBox="1"/>
          <p:nvPr/>
        </p:nvSpPr>
        <p:spPr>
          <a:xfrm>
            <a:off x="11000232" y="6473952"/>
            <a:ext cx="731520" cy="274320"/>
          </a:xfrm>
          <a:prstGeom prst="rect">
            <a:avLst/>
          </a:prstGeom>
          <a:noFill/>
          <a:ln/>
        </p:spPr>
        <p:txBody>
          <a:bodyPr wrap="square" lIns="0" tIns="0" rIns="0" bIns="0" rtlCol="0" anchor="ctr"/>
          <a:lstStyle/>
          <a:p>
            <a:pPr marL="0" indent="0" algn="r">
              <a:buNone/>
            </a:pPr>
            <a:r>
              <a:rPr lang="en-US" sz="900" dirty="0">
                <a:solidFill>
                  <a:srgbClr val="8A97A0"/>
                </a:solidFill>
                <a:latin typeface="Calibri" pitchFamily="34" charset="0"/>
                <a:ea typeface="Calibri" pitchFamily="34" charset="-122"/>
                <a:cs typeface="Calibri" pitchFamily="34" charset="-120"/>
              </a:rPr>
              <a:t>23 / 31</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THE DIVERSIFICATION TRAP</a:t>
            </a:r>
            <a:endParaRPr lang="en-US" sz="1300" dirty="0"/>
          </a:p>
        </p:txBody>
      </p:sp>
      <p:sp>
        <p:nvSpPr>
          <p:cNvPr id="3" name="Text 1"/>
          <p:cNvSpPr txBox="1"/>
          <p:nvPr/>
        </p:nvSpPr>
        <p:spPr>
          <a:xfrm>
            <a:off x="548640" y="685800"/>
            <a:ext cx="11064240" cy="822960"/>
          </a:xfrm>
          <a:prstGeom prst="rect">
            <a:avLst/>
          </a:prstGeom>
          <a:noFill/>
          <a:ln/>
        </p:spPr>
        <p:txBody>
          <a:bodyPr wrap="square" lIns="0" tIns="0" rIns="0" bIns="0" rtlCol="0" anchor="ctr"/>
          <a:lstStyle/>
          <a:p>
            <a:pPr marL="0" indent="0">
              <a:buNone/>
            </a:pPr>
            <a:r>
              <a:rPr lang="en-US" sz="3000" b="1" dirty="0">
                <a:solidFill>
                  <a:srgbClr val="0A2A43"/>
                </a:solidFill>
                <a:latin typeface="Cambria" pitchFamily="34" charset="0"/>
                <a:ea typeface="Cambria" pitchFamily="34" charset="-122"/>
                <a:cs typeface="Cambria" pitchFamily="34" charset="-120"/>
              </a:rPr>
              <a:t>Portfolio Overlap: More Funds ≠ More Diversification</a:t>
            </a:r>
            <a:endParaRPr lang="en-US" sz="3000" dirty="0"/>
          </a:p>
        </p:txBody>
      </p:sp>
      <p:sp>
        <p:nvSpPr>
          <p:cNvPr id="4" name="Text 2"/>
          <p:cNvSpPr txBox="1"/>
          <p:nvPr/>
        </p:nvSpPr>
        <p:spPr>
          <a:xfrm>
            <a:off x="548640" y="1737360"/>
            <a:ext cx="10972800" cy="640080"/>
          </a:xfrm>
          <a:prstGeom prst="rect">
            <a:avLst/>
          </a:prstGeom>
          <a:noFill/>
          <a:ln/>
        </p:spPr>
        <p:txBody>
          <a:bodyPr wrap="square" lIns="0" tIns="0" rIns="0" bIns="0" rtlCol="0" anchor="ctr"/>
          <a:lstStyle/>
          <a:p>
            <a:pPr marL="0" indent="0">
              <a:buNone/>
            </a:pPr>
            <a:r>
              <a:rPr lang="en-US" sz="1900" b="1" dirty="0">
                <a:solidFill>
                  <a:srgbClr val="0A2A43"/>
                </a:solidFill>
                <a:latin typeface="Cambria" pitchFamily="34" charset="0"/>
                <a:ea typeface="Cambria" pitchFamily="34" charset="-122"/>
                <a:cs typeface="Cambria" pitchFamily="34" charset="-120"/>
              </a:rPr>
              <a:t>“If I own 3 funds, but all 3 own the same companies — how diversified am I, really?”</a:t>
            </a:r>
            <a:endParaRPr lang="en-US" sz="1900" dirty="0"/>
          </a:p>
        </p:txBody>
      </p:sp>
      <p:sp>
        <p:nvSpPr>
          <p:cNvPr id="5" name="Shape 3"/>
          <p:cNvSpPr/>
          <p:nvPr/>
        </p:nvSpPr>
        <p:spPr>
          <a:xfrm>
            <a:off x="1463040" y="2651760"/>
            <a:ext cx="3291840" cy="1828800"/>
          </a:xfrm>
          <a:prstGeom prst="roundRect">
            <a:avLst>
              <a:gd name="adj" fmla="val 4000"/>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6" name="Text 4"/>
          <p:cNvSpPr txBox="1"/>
          <p:nvPr/>
        </p:nvSpPr>
        <p:spPr>
          <a:xfrm>
            <a:off x="1463040" y="2788920"/>
            <a:ext cx="3291840" cy="365760"/>
          </a:xfrm>
          <a:prstGeom prst="rect">
            <a:avLst/>
          </a:prstGeom>
          <a:noFill/>
          <a:ln/>
        </p:spPr>
        <p:txBody>
          <a:bodyPr wrap="square" lIns="0" tIns="0" rIns="0" bIns="0" rtlCol="0" anchor="ctr"/>
          <a:lstStyle/>
          <a:p>
            <a:pPr marL="0" indent="0" algn="ctr">
              <a:buNone/>
            </a:pPr>
            <a:r>
              <a:rPr lang="en-US" sz="1400" b="1" dirty="0">
                <a:solidFill>
                  <a:srgbClr val="0A2A43"/>
                </a:solidFill>
                <a:latin typeface="Calibri" pitchFamily="34" charset="0"/>
                <a:ea typeface="Calibri" pitchFamily="34" charset="-122"/>
                <a:cs typeface="Calibri" pitchFamily="34" charset="-120"/>
              </a:rPr>
              <a:t>Fund X</a:t>
            </a:r>
            <a:endParaRPr lang="en-US" sz="1400" dirty="0"/>
          </a:p>
        </p:txBody>
      </p:sp>
      <p:sp>
        <p:nvSpPr>
          <p:cNvPr id="7" name="Text 5"/>
          <p:cNvSpPr txBox="1"/>
          <p:nvPr/>
        </p:nvSpPr>
        <p:spPr>
          <a:xfrm>
            <a:off x="1463040" y="3200400"/>
            <a:ext cx="3291840" cy="1188720"/>
          </a:xfrm>
          <a:prstGeom prst="rect">
            <a:avLst/>
          </a:prstGeom>
          <a:noFill/>
          <a:ln/>
        </p:spPr>
        <p:txBody>
          <a:bodyPr wrap="square" lIns="0" tIns="0" rIns="0" bIns="0" rtlCol="0" anchor="ctr"/>
          <a:lstStyle/>
          <a:p>
            <a:pPr marL="0" indent="0" algn="ctr">
              <a:lnSpc>
                <a:spcPct val="120000"/>
              </a:lnSpc>
              <a:buNone/>
            </a:pPr>
            <a:r>
              <a:rPr lang="en-US" sz="1250" dirty="0">
                <a:solidFill>
                  <a:srgbClr val="1C1C1C"/>
                </a:solidFill>
                <a:latin typeface="Calibri" pitchFamily="34" charset="0"/>
                <a:ea typeface="Calibri" pitchFamily="34" charset="-122"/>
                <a:cs typeface="Calibri" pitchFamily="34" charset="-120"/>
              </a:rPr>
              <a:t>HDFC Bank</a:t>
            </a:r>
            <a:endParaRPr lang="en-US" sz="1250" dirty="0"/>
          </a:p>
          <a:p>
            <a:pPr marL="0" indent="0" algn="ctr">
              <a:lnSpc>
                <a:spcPct val="120000"/>
              </a:lnSpc>
              <a:buNone/>
            </a:pPr>
            <a:r>
              <a:rPr lang="en-US" sz="1250" dirty="0">
                <a:solidFill>
                  <a:srgbClr val="1C1C1C"/>
                </a:solidFill>
                <a:latin typeface="Calibri" pitchFamily="34" charset="0"/>
                <a:ea typeface="Calibri" pitchFamily="34" charset="-122"/>
                <a:cs typeface="Calibri" pitchFamily="34" charset="-120"/>
              </a:rPr>
              <a:t>Infosys</a:t>
            </a:r>
            <a:endParaRPr lang="en-US" sz="1250" dirty="0"/>
          </a:p>
          <a:p>
            <a:pPr marL="0" indent="0" algn="ctr">
              <a:lnSpc>
                <a:spcPct val="120000"/>
              </a:lnSpc>
              <a:buNone/>
            </a:pPr>
            <a:r>
              <a:rPr lang="en-US" sz="1250" dirty="0">
                <a:solidFill>
                  <a:srgbClr val="1C1C1C"/>
                </a:solidFill>
                <a:latin typeface="Calibri" pitchFamily="34" charset="0"/>
                <a:ea typeface="Calibri" pitchFamily="34" charset="-122"/>
                <a:cs typeface="Calibri" pitchFamily="34" charset="-120"/>
              </a:rPr>
              <a:t>ICICI Bank</a:t>
            </a:r>
            <a:endParaRPr lang="en-US" sz="1250" dirty="0"/>
          </a:p>
          <a:p>
            <a:pPr marL="0" indent="0" algn="ctr">
              <a:lnSpc>
                <a:spcPct val="120000"/>
              </a:lnSpc>
              <a:buNone/>
            </a:pPr>
            <a:r>
              <a:rPr lang="en-US" sz="1250" dirty="0">
                <a:solidFill>
                  <a:srgbClr val="1C1C1C"/>
                </a:solidFill>
                <a:latin typeface="Calibri" pitchFamily="34" charset="0"/>
                <a:ea typeface="Calibri" pitchFamily="34" charset="-122"/>
                <a:cs typeface="Calibri" pitchFamily="34" charset="-120"/>
              </a:rPr>
              <a:t>Reliance</a:t>
            </a:r>
            <a:endParaRPr lang="en-US" sz="1250" dirty="0"/>
          </a:p>
        </p:txBody>
      </p:sp>
      <p:sp>
        <p:nvSpPr>
          <p:cNvPr id="8" name="Shape 6"/>
          <p:cNvSpPr/>
          <p:nvPr/>
        </p:nvSpPr>
        <p:spPr>
          <a:xfrm>
            <a:off x="5074920" y="2651760"/>
            <a:ext cx="3291840" cy="1828800"/>
          </a:xfrm>
          <a:prstGeom prst="roundRect">
            <a:avLst>
              <a:gd name="adj" fmla="val 4000"/>
            </a:avLst>
          </a:prstGeom>
          <a:solidFill>
            <a:srgbClr val="028090"/>
          </a:solidFill>
          <a:ln/>
          <a:effectLst>
            <a:outerShdw blurRad="76200" dist="25400" dir="5400000" algn="bl" rotWithShape="0">
              <a:srgbClr val="1B1B1B">
                <a:alpha val="12000"/>
              </a:srgbClr>
            </a:outerShdw>
          </a:effectLst>
        </p:spPr>
        <p:txBody>
          <a:bodyPr/>
          <a:lstStyle/>
          <a:p>
            <a:endParaRPr lang="en-IN"/>
          </a:p>
        </p:txBody>
      </p:sp>
      <p:sp>
        <p:nvSpPr>
          <p:cNvPr id="9" name="Text 7"/>
          <p:cNvSpPr txBox="1"/>
          <p:nvPr/>
        </p:nvSpPr>
        <p:spPr>
          <a:xfrm>
            <a:off x="5074920" y="2788920"/>
            <a:ext cx="329184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Fund Y</a:t>
            </a:r>
            <a:endParaRPr lang="en-US" sz="1400" dirty="0"/>
          </a:p>
        </p:txBody>
      </p:sp>
      <p:sp>
        <p:nvSpPr>
          <p:cNvPr id="10" name="Text 8"/>
          <p:cNvSpPr txBox="1"/>
          <p:nvPr/>
        </p:nvSpPr>
        <p:spPr>
          <a:xfrm>
            <a:off x="5074920" y="3200400"/>
            <a:ext cx="3291840" cy="1188720"/>
          </a:xfrm>
          <a:prstGeom prst="rect">
            <a:avLst/>
          </a:prstGeom>
          <a:noFill/>
          <a:ln/>
        </p:spPr>
        <p:txBody>
          <a:bodyPr wrap="square" lIns="0" tIns="0" rIns="0" bIns="0" rtlCol="0" anchor="ctr"/>
          <a:lstStyle/>
          <a:p>
            <a:pPr marL="0" indent="0" algn="ctr">
              <a:lnSpc>
                <a:spcPct val="120000"/>
              </a:lnSpc>
              <a:buNone/>
            </a:pPr>
            <a:r>
              <a:rPr lang="en-US" sz="1250" dirty="0">
                <a:solidFill>
                  <a:srgbClr val="FFFFFF"/>
                </a:solidFill>
                <a:latin typeface="Calibri" pitchFamily="34" charset="0"/>
                <a:ea typeface="Calibri" pitchFamily="34" charset="-122"/>
                <a:cs typeface="Calibri" pitchFamily="34" charset="-120"/>
              </a:rPr>
              <a:t>HDFC Bank</a:t>
            </a:r>
            <a:endParaRPr lang="en-US" sz="1250" dirty="0"/>
          </a:p>
          <a:p>
            <a:pPr marL="0" indent="0" algn="ctr">
              <a:lnSpc>
                <a:spcPct val="120000"/>
              </a:lnSpc>
              <a:buNone/>
            </a:pPr>
            <a:r>
              <a:rPr lang="en-US" sz="1250" dirty="0">
                <a:solidFill>
                  <a:srgbClr val="FFFFFF"/>
                </a:solidFill>
                <a:latin typeface="Calibri" pitchFamily="34" charset="0"/>
                <a:ea typeface="Calibri" pitchFamily="34" charset="-122"/>
                <a:cs typeface="Calibri" pitchFamily="34" charset="-120"/>
              </a:rPr>
              <a:t>Infosys</a:t>
            </a:r>
            <a:endParaRPr lang="en-US" sz="1250" dirty="0"/>
          </a:p>
          <a:p>
            <a:pPr marL="0" indent="0" algn="ctr">
              <a:lnSpc>
                <a:spcPct val="120000"/>
              </a:lnSpc>
              <a:buNone/>
            </a:pPr>
            <a:r>
              <a:rPr lang="en-US" sz="1250" dirty="0">
                <a:solidFill>
                  <a:srgbClr val="FFFFFF"/>
                </a:solidFill>
                <a:latin typeface="Calibri" pitchFamily="34" charset="0"/>
                <a:ea typeface="Calibri" pitchFamily="34" charset="-122"/>
                <a:cs typeface="Calibri" pitchFamily="34" charset="-120"/>
              </a:rPr>
              <a:t>ICICI Bank</a:t>
            </a:r>
            <a:endParaRPr lang="en-US" sz="1250" dirty="0"/>
          </a:p>
          <a:p>
            <a:pPr marL="0" indent="0" algn="ctr">
              <a:lnSpc>
                <a:spcPct val="120000"/>
              </a:lnSpc>
              <a:buNone/>
            </a:pPr>
            <a:r>
              <a:rPr lang="en-US" sz="1250" dirty="0">
                <a:solidFill>
                  <a:srgbClr val="FFFFFF"/>
                </a:solidFill>
                <a:latin typeface="Calibri" pitchFamily="34" charset="0"/>
                <a:ea typeface="Calibri" pitchFamily="34" charset="-122"/>
                <a:cs typeface="Calibri" pitchFamily="34" charset="-120"/>
              </a:rPr>
              <a:t>Reliance</a:t>
            </a:r>
            <a:endParaRPr lang="en-US" sz="1250" dirty="0"/>
          </a:p>
        </p:txBody>
      </p:sp>
      <p:sp>
        <p:nvSpPr>
          <p:cNvPr id="11" name="Shape 9"/>
          <p:cNvSpPr/>
          <p:nvPr/>
        </p:nvSpPr>
        <p:spPr>
          <a:xfrm>
            <a:off x="8686800" y="2651760"/>
            <a:ext cx="3291840" cy="1828800"/>
          </a:xfrm>
          <a:prstGeom prst="roundRect">
            <a:avLst>
              <a:gd name="adj" fmla="val 4000"/>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12" name="Text 10"/>
          <p:cNvSpPr txBox="1"/>
          <p:nvPr/>
        </p:nvSpPr>
        <p:spPr>
          <a:xfrm>
            <a:off x="8686800" y="2788920"/>
            <a:ext cx="3291840" cy="365760"/>
          </a:xfrm>
          <a:prstGeom prst="rect">
            <a:avLst/>
          </a:prstGeom>
          <a:noFill/>
          <a:ln/>
        </p:spPr>
        <p:txBody>
          <a:bodyPr wrap="square" lIns="0" tIns="0" rIns="0" bIns="0" rtlCol="0" anchor="ctr"/>
          <a:lstStyle/>
          <a:p>
            <a:pPr marL="0" indent="0" algn="ctr">
              <a:buNone/>
            </a:pPr>
            <a:r>
              <a:rPr lang="en-US" sz="1400" b="1" dirty="0">
                <a:solidFill>
                  <a:srgbClr val="0A2A43"/>
                </a:solidFill>
                <a:latin typeface="Calibri" pitchFamily="34" charset="0"/>
                <a:ea typeface="Calibri" pitchFamily="34" charset="-122"/>
                <a:cs typeface="Calibri" pitchFamily="34" charset="-120"/>
              </a:rPr>
              <a:t>Fund Z</a:t>
            </a:r>
            <a:endParaRPr lang="en-US" sz="1400" dirty="0"/>
          </a:p>
        </p:txBody>
      </p:sp>
      <p:sp>
        <p:nvSpPr>
          <p:cNvPr id="13" name="Text 11"/>
          <p:cNvSpPr txBox="1"/>
          <p:nvPr/>
        </p:nvSpPr>
        <p:spPr>
          <a:xfrm>
            <a:off x="8686800" y="3200400"/>
            <a:ext cx="3291840" cy="1188720"/>
          </a:xfrm>
          <a:prstGeom prst="rect">
            <a:avLst/>
          </a:prstGeom>
          <a:noFill/>
          <a:ln/>
        </p:spPr>
        <p:txBody>
          <a:bodyPr wrap="square" lIns="0" tIns="0" rIns="0" bIns="0" rtlCol="0" anchor="ctr"/>
          <a:lstStyle/>
          <a:p>
            <a:pPr marL="0" indent="0" algn="ctr">
              <a:lnSpc>
                <a:spcPct val="120000"/>
              </a:lnSpc>
              <a:buNone/>
            </a:pPr>
            <a:r>
              <a:rPr lang="en-US" sz="1250" dirty="0">
                <a:solidFill>
                  <a:srgbClr val="1C1C1C"/>
                </a:solidFill>
                <a:latin typeface="Calibri" pitchFamily="34" charset="0"/>
                <a:ea typeface="Calibri" pitchFamily="34" charset="-122"/>
                <a:cs typeface="Calibri" pitchFamily="34" charset="-120"/>
              </a:rPr>
              <a:t>HDFC Bank</a:t>
            </a:r>
            <a:endParaRPr lang="en-US" sz="1250" dirty="0"/>
          </a:p>
          <a:p>
            <a:pPr marL="0" indent="0" algn="ctr">
              <a:lnSpc>
                <a:spcPct val="120000"/>
              </a:lnSpc>
              <a:buNone/>
            </a:pPr>
            <a:r>
              <a:rPr lang="en-US" sz="1250" dirty="0">
                <a:solidFill>
                  <a:srgbClr val="1C1C1C"/>
                </a:solidFill>
                <a:latin typeface="Calibri" pitchFamily="34" charset="0"/>
                <a:ea typeface="Calibri" pitchFamily="34" charset="-122"/>
                <a:cs typeface="Calibri" pitchFamily="34" charset="-120"/>
              </a:rPr>
              <a:t>Infosys</a:t>
            </a:r>
            <a:endParaRPr lang="en-US" sz="1250" dirty="0"/>
          </a:p>
          <a:p>
            <a:pPr marL="0" indent="0" algn="ctr">
              <a:lnSpc>
                <a:spcPct val="120000"/>
              </a:lnSpc>
              <a:buNone/>
            </a:pPr>
            <a:r>
              <a:rPr lang="en-US" sz="1250" dirty="0">
                <a:solidFill>
                  <a:srgbClr val="1C1C1C"/>
                </a:solidFill>
                <a:latin typeface="Calibri" pitchFamily="34" charset="0"/>
                <a:ea typeface="Calibri" pitchFamily="34" charset="-122"/>
                <a:cs typeface="Calibri" pitchFamily="34" charset="-120"/>
              </a:rPr>
              <a:t>ICICI Bank</a:t>
            </a:r>
            <a:endParaRPr lang="en-US" sz="1250" dirty="0"/>
          </a:p>
          <a:p>
            <a:pPr marL="0" indent="0" algn="ctr">
              <a:lnSpc>
                <a:spcPct val="120000"/>
              </a:lnSpc>
              <a:buNone/>
            </a:pPr>
            <a:r>
              <a:rPr lang="en-US" sz="1250" dirty="0">
                <a:solidFill>
                  <a:srgbClr val="1C1C1C"/>
                </a:solidFill>
                <a:latin typeface="Calibri" pitchFamily="34" charset="0"/>
                <a:ea typeface="Calibri" pitchFamily="34" charset="-122"/>
                <a:cs typeface="Calibri" pitchFamily="34" charset="-120"/>
              </a:rPr>
              <a:t>Reliance</a:t>
            </a:r>
            <a:endParaRPr lang="en-US" sz="1250" dirty="0"/>
          </a:p>
        </p:txBody>
      </p:sp>
      <p:sp>
        <p:nvSpPr>
          <p:cNvPr id="14" name="Text 12"/>
          <p:cNvSpPr txBox="1"/>
          <p:nvPr/>
        </p:nvSpPr>
        <p:spPr>
          <a:xfrm>
            <a:off x="548640" y="4617720"/>
            <a:ext cx="10972800" cy="365760"/>
          </a:xfrm>
          <a:prstGeom prst="rect">
            <a:avLst/>
          </a:prstGeom>
          <a:noFill/>
          <a:ln/>
        </p:spPr>
        <p:txBody>
          <a:bodyPr wrap="square" lIns="0" tIns="0" rIns="0" bIns="0" rtlCol="0" anchor="ctr"/>
          <a:lstStyle/>
          <a:p>
            <a:pPr marL="0" indent="0">
              <a:buNone/>
            </a:pPr>
            <a:r>
              <a:rPr lang="en-US" sz="1200" i="1" dirty="0">
                <a:solidFill>
                  <a:srgbClr val="51606B"/>
                </a:solidFill>
                <a:latin typeface="Calibri" pitchFamily="34" charset="0"/>
                <a:ea typeface="Calibri" pitchFamily="34" charset="-122"/>
                <a:cs typeface="Calibri" pitchFamily="34" charset="-120"/>
              </a:rPr>
              <a:t>(Illustration only — use current holdings from a real fund during a live demo.)</a:t>
            </a:r>
            <a:endParaRPr lang="en-US" sz="1200" dirty="0"/>
          </a:p>
        </p:txBody>
      </p:sp>
      <p:sp>
        <p:nvSpPr>
          <p:cNvPr id="15" name="Shape 13"/>
          <p:cNvSpPr/>
          <p:nvPr/>
        </p:nvSpPr>
        <p:spPr>
          <a:xfrm>
            <a:off x="548640" y="5166360"/>
            <a:ext cx="11064240" cy="1234440"/>
          </a:xfrm>
          <a:prstGeom prst="roundRect">
            <a:avLst>
              <a:gd name="adj" fmla="val 5926"/>
            </a:avLst>
          </a:prstGeom>
          <a:solidFill>
            <a:srgbClr val="0A2A43"/>
          </a:solidFill>
          <a:ln/>
          <a:effectLst>
            <a:outerShdw blurRad="76200" dist="25400" dir="5400000" algn="bl" rotWithShape="0">
              <a:srgbClr val="1B1B1B">
                <a:alpha val="12000"/>
              </a:srgbClr>
            </a:outerShdw>
          </a:effectLst>
        </p:spPr>
        <p:txBody>
          <a:bodyPr/>
          <a:lstStyle/>
          <a:p>
            <a:endParaRPr lang="en-IN"/>
          </a:p>
        </p:txBody>
      </p:sp>
      <p:sp>
        <p:nvSpPr>
          <p:cNvPr id="16" name="Text 14"/>
          <p:cNvSpPr txBox="1"/>
          <p:nvPr/>
        </p:nvSpPr>
        <p:spPr>
          <a:xfrm>
            <a:off x="914400" y="5303520"/>
            <a:ext cx="10332720" cy="914400"/>
          </a:xfrm>
          <a:prstGeom prst="rect">
            <a:avLst/>
          </a:prstGeom>
          <a:noFill/>
          <a:ln/>
        </p:spPr>
        <p:txBody>
          <a:bodyPr wrap="square" lIns="0" tIns="0" rIns="0" bIns="0" rtlCol="0" anchor="ctr"/>
          <a:lstStyle/>
          <a:p>
            <a:pPr marL="0" indent="0">
              <a:lnSpc>
                <a:spcPct val="120000"/>
              </a:lnSpc>
              <a:buNone/>
            </a:pPr>
            <a:r>
              <a:rPr lang="en-US" sz="1600" b="1" dirty="0">
                <a:solidFill>
                  <a:srgbClr val="F4A300"/>
                </a:solidFill>
                <a:latin typeface="Calibri" pitchFamily="34" charset="0"/>
                <a:ea typeface="Calibri" pitchFamily="34" charset="-122"/>
                <a:cs typeface="Calibri" pitchFamily="34" charset="-120"/>
              </a:rPr>
              <a:t>Check fund holdings and overlap before adding another fund simply because it has a different name.</a:t>
            </a:r>
            <a:endParaRPr lang="en-US" sz="1600" dirty="0"/>
          </a:p>
        </p:txBody>
      </p:sp>
      <p:sp>
        <p:nvSpPr>
          <p:cNvPr id="17" name="Text 15"/>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900" dirty="0">
                <a:solidFill>
                  <a:srgbClr val="8A97A0"/>
                </a:solidFill>
                <a:latin typeface="Calibri" pitchFamily="34" charset="0"/>
                <a:ea typeface="Calibri" pitchFamily="34" charset="-122"/>
                <a:cs typeface="Calibri" pitchFamily="34" charset="-120"/>
              </a:rPr>
              <a:t>Mutual Funds: What My Investing Journey Taught Me</a:t>
            </a:r>
            <a:endParaRPr lang="en-US" sz="900" dirty="0"/>
          </a:p>
        </p:txBody>
      </p:sp>
      <p:sp>
        <p:nvSpPr>
          <p:cNvPr id="18" name="Text 16"/>
          <p:cNvSpPr txBox="1"/>
          <p:nvPr/>
        </p:nvSpPr>
        <p:spPr>
          <a:xfrm>
            <a:off x="11000232" y="6473952"/>
            <a:ext cx="731520" cy="274320"/>
          </a:xfrm>
          <a:prstGeom prst="rect">
            <a:avLst/>
          </a:prstGeom>
          <a:noFill/>
          <a:ln/>
        </p:spPr>
        <p:txBody>
          <a:bodyPr wrap="square" lIns="0" tIns="0" rIns="0" bIns="0" rtlCol="0" anchor="ctr"/>
          <a:lstStyle/>
          <a:p>
            <a:pPr marL="0" indent="0" algn="r">
              <a:buNone/>
            </a:pPr>
            <a:r>
              <a:rPr lang="en-US" sz="900" dirty="0">
                <a:solidFill>
                  <a:srgbClr val="8A97A0"/>
                </a:solidFill>
                <a:latin typeface="Calibri" pitchFamily="34" charset="0"/>
                <a:ea typeface="Calibri" pitchFamily="34" charset="-122"/>
                <a:cs typeface="Calibri" pitchFamily="34" charset="-120"/>
              </a:rPr>
              <a:t>24 / 31</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MEASURING PERFORMANCE CORRECTLY</a:t>
            </a:r>
            <a:endParaRPr lang="en-US" sz="1300" dirty="0"/>
          </a:p>
        </p:txBody>
      </p:sp>
      <p:sp>
        <p:nvSpPr>
          <p:cNvPr id="3" name="Text 1"/>
          <p:cNvSpPr txBox="1"/>
          <p:nvPr/>
        </p:nvSpPr>
        <p:spPr>
          <a:xfrm>
            <a:off x="548640" y="685800"/>
            <a:ext cx="11064240" cy="822960"/>
          </a:xfrm>
          <a:prstGeom prst="rect">
            <a:avLst/>
          </a:prstGeom>
          <a:noFill/>
          <a:ln/>
        </p:spPr>
        <p:txBody>
          <a:bodyPr wrap="square" lIns="0" tIns="0" rIns="0" bIns="0" rtlCol="0" anchor="ctr"/>
          <a:lstStyle/>
          <a:p>
            <a:pPr marL="0" indent="0">
              <a:buNone/>
            </a:pPr>
            <a:r>
              <a:rPr lang="en-US" sz="3000" b="1" dirty="0">
                <a:solidFill>
                  <a:srgbClr val="0A2A43"/>
                </a:solidFill>
                <a:latin typeface="Cambria" pitchFamily="34" charset="0"/>
                <a:ea typeface="Cambria" pitchFamily="34" charset="-122"/>
                <a:cs typeface="Cambria" pitchFamily="34" charset="-120"/>
              </a:rPr>
              <a:t>CAGR vs Absolute Return vs XIRR</a:t>
            </a:r>
            <a:endParaRPr lang="en-US" sz="3000" dirty="0"/>
          </a:p>
        </p:txBody>
      </p:sp>
      <p:sp>
        <p:nvSpPr>
          <p:cNvPr id="4" name="Shape 2"/>
          <p:cNvSpPr/>
          <p:nvPr/>
        </p:nvSpPr>
        <p:spPr>
          <a:xfrm>
            <a:off x="548640" y="1737360"/>
            <a:ext cx="3520440" cy="3200400"/>
          </a:xfrm>
          <a:prstGeom prst="roundRect">
            <a:avLst>
              <a:gd name="adj" fmla="val 2286"/>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5" name="Text 3"/>
          <p:cNvSpPr txBox="1"/>
          <p:nvPr/>
        </p:nvSpPr>
        <p:spPr>
          <a:xfrm>
            <a:off x="822960" y="1920240"/>
            <a:ext cx="3017520" cy="457200"/>
          </a:xfrm>
          <a:prstGeom prst="rect">
            <a:avLst/>
          </a:prstGeom>
          <a:noFill/>
          <a:ln/>
        </p:spPr>
        <p:txBody>
          <a:bodyPr wrap="square" lIns="0" tIns="0" rIns="0" bIns="0" rtlCol="0" anchor="ctr"/>
          <a:lstStyle/>
          <a:p>
            <a:pPr marL="0" indent="0">
              <a:buNone/>
            </a:pPr>
            <a:r>
              <a:rPr lang="en-US" sz="1450" b="1" dirty="0">
                <a:solidFill>
                  <a:srgbClr val="028090"/>
                </a:solidFill>
                <a:latin typeface="Calibri" pitchFamily="34" charset="0"/>
                <a:ea typeface="Calibri" pitchFamily="34" charset="-122"/>
                <a:cs typeface="Calibri" pitchFamily="34" charset="-120"/>
              </a:rPr>
              <a:t>Absolute Return</a:t>
            </a:r>
            <a:endParaRPr lang="en-US" sz="1450" dirty="0"/>
          </a:p>
        </p:txBody>
      </p:sp>
      <p:sp>
        <p:nvSpPr>
          <p:cNvPr id="6" name="Text 4"/>
          <p:cNvSpPr txBox="1"/>
          <p:nvPr/>
        </p:nvSpPr>
        <p:spPr>
          <a:xfrm>
            <a:off x="822960" y="2423160"/>
            <a:ext cx="3017520" cy="640080"/>
          </a:xfrm>
          <a:prstGeom prst="rect">
            <a:avLst/>
          </a:prstGeom>
          <a:noFill/>
          <a:ln/>
        </p:spPr>
        <p:txBody>
          <a:bodyPr wrap="square" lIns="0" tIns="0" rIns="0" bIns="0" rtlCol="0" anchor="ctr"/>
          <a:lstStyle/>
          <a:p>
            <a:pPr marL="0" indent="0">
              <a:buNone/>
            </a:pPr>
            <a:r>
              <a:rPr lang="en-US" sz="3200" b="1" dirty="0">
                <a:solidFill>
                  <a:srgbClr val="0A2A43"/>
                </a:solidFill>
                <a:latin typeface="Cambria" pitchFamily="34" charset="0"/>
                <a:ea typeface="Cambria" pitchFamily="34" charset="-122"/>
                <a:cs typeface="Cambria" pitchFamily="34" charset="-120"/>
              </a:rPr>
              <a:t>50%</a:t>
            </a:r>
            <a:endParaRPr lang="en-US" sz="3200" dirty="0"/>
          </a:p>
        </p:txBody>
      </p:sp>
      <p:sp>
        <p:nvSpPr>
          <p:cNvPr id="7" name="Text 5"/>
          <p:cNvSpPr txBox="1"/>
          <p:nvPr/>
        </p:nvSpPr>
        <p:spPr>
          <a:xfrm>
            <a:off x="822960" y="3154680"/>
            <a:ext cx="3017520" cy="1463040"/>
          </a:xfrm>
          <a:prstGeom prst="rect">
            <a:avLst/>
          </a:prstGeom>
          <a:noFill/>
          <a:ln/>
        </p:spPr>
        <p:txBody>
          <a:bodyPr wrap="square" lIns="0" tIns="0" rIns="0" bIns="0" rtlCol="0" anchor="ctr"/>
          <a:lstStyle/>
          <a:p>
            <a:pPr marL="0" indent="0">
              <a:lnSpc>
                <a:spcPct val="120000"/>
              </a:lnSpc>
              <a:buNone/>
            </a:pPr>
            <a:r>
              <a:rPr lang="en-US" sz="1200" dirty="0">
                <a:solidFill>
                  <a:srgbClr val="1C1C1C"/>
                </a:solidFill>
                <a:latin typeface="Calibri" pitchFamily="34" charset="0"/>
                <a:ea typeface="Calibri" pitchFamily="34" charset="-122"/>
                <a:cs typeface="Calibri" pitchFamily="34" charset="-120"/>
              </a:rPr>
              <a:t>₹1 lakh → ₹1.5 lakh over 5 years. Simple total gain — ignores time.</a:t>
            </a:r>
            <a:endParaRPr lang="en-US" sz="1200" dirty="0"/>
          </a:p>
        </p:txBody>
      </p:sp>
      <p:sp>
        <p:nvSpPr>
          <p:cNvPr id="8" name="Shape 6"/>
          <p:cNvSpPr/>
          <p:nvPr/>
        </p:nvSpPr>
        <p:spPr>
          <a:xfrm>
            <a:off x="4343400" y="1737360"/>
            <a:ext cx="3520440" cy="3200400"/>
          </a:xfrm>
          <a:prstGeom prst="roundRect">
            <a:avLst>
              <a:gd name="adj" fmla="val 2286"/>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9" name="Text 7"/>
          <p:cNvSpPr txBox="1"/>
          <p:nvPr/>
        </p:nvSpPr>
        <p:spPr>
          <a:xfrm>
            <a:off x="4617720" y="1920240"/>
            <a:ext cx="3017520" cy="457200"/>
          </a:xfrm>
          <a:prstGeom prst="rect">
            <a:avLst/>
          </a:prstGeom>
          <a:noFill/>
          <a:ln/>
        </p:spPr>
        <p:txBody>
          <a:bodyPr wrap="square" lIns="0" tIns="0" rIns="0" bIns="0" rtlCol="0" anchor="ctr"/>
          <a:lstStyle/>
          <a:p>
            <a:pPr marL="0" indent="0">
              <a:buNone/>
            </a:pPr>
            <a:r>
              <a:rPr lang="en-US" sz="1450" b="1" dirty="0">
                <a:solidFill>
                  <a:srgbClr val="00A896"/>
                </a:solidFill>
                <a:latin typeface="Calibri" pitchFamily="34" charset="0"/>
                <a:ea typeface="Calibri" pitchFamily="34" charset="-122"/>
                <a:cs typeface="Calibri" pitchFamily="34" charset="-120"/>
              </a:rPr>
              <a:t>CAGR</a:t>
            </a:r>
            <a:endParaRPr lang="en-US" sz="1450" dirty="0"/>
          </a:p>
        </p:txBody>
      </p:sp>
      <p:sp>
        <p:nvSpPr>
          <p:cNvPr id="10" name="Text 8"/>
          <p:cNvSpPr txBox="1"/>
          <p:nvPr/>
        </p:nvSpPr>
        <p:spPr>
          <a:xfrm>
            <a:off x="4617720" y="2423160"/>
            <a:ext cx="3017520" cy="640080"/>
          </a:xfrm>
          <a:prstGeom prst="rect">
            <a:avLst/>
          </a:prstGeom>
          <a:noFill/>
          <a:ln/>
        </p:spPr>
        <p:txBody>
          <a:bodyPr wrap="square" lIns="0" tIns="0" rIns="0" bIns="0" rtlCol="0" anchor="ctr"/>
          <a:lstStyle/>
          <a:p>
            <a:pPr marL="0" indent="0">
              <a:buNone/>
            </a:pPr>
            <a:r>
              <a:rPr lang="en-US" sz="3200" b="1" dirty="0">
                <a:solidFill>
                  <a:srgbClr val="0A2A43"/>
                </a:solidFill>
                <a:latin typeface="Cambria" pitchFamily="34" charset="0"/>
                <a:ea typeface="Cambria" pitchFamily="34" charset="-122"/>
                <a:cs typeface="Cambria" pitchFamily="34" charset="-120"/>
              </a:rPr>
              <a:t>≈ 8.45%</a:t>
            </a:r>
            <a:endParaRPr lang="en-US" sz="3200" dirty="0"/>
          </a:p>
        </p:txBody>
      </p:sp>
      <p:sp>
        <p:nvSpPr>
          <p:cNvPr id="11" name="Text 9"/>
          <p:cNvSpPr txBox="1"/>
          <p:nvPr/>
        </p:nvSpPr>
        <p:spPr>
          <a:xfrm>
            <a:off x="4617720" y="3154680"/>
            <a:ext cx="3017520" cy="1645920"/>
          </a:xfrm>
          <a:prstGeom prst="rect">
            <a:avLst/>
          </a:prstGeom>
          <a:noFill/>
          <a:ln/>
        </p:spPr>
        <p:txBody>
          <a:bodyPr wrap="square" lIns="0" tIns="0" rIns="0" bIns="0" rtlCol="0" anchor="ctr"/>
          <a:lstStyle/>
          <a:p>
            <a:pPr marL="0" indent="0">
              <a:lnSpc>
                <a:spcPct val="120000"/>
              </a:lnSpc>
              <a:buNone/>
            </a:pPr>
            <a:r>
              <a:rPr lang="en-US" sz="1200" dirty="0">
                <a:solidFill>
                  <a:srgbClr val="1C1C1C"/>
                </a:solidFill>
                <a:latin typeface="Calibri" pitchFamily="34" charset="0"/>
                <a:ea typeface="Calibri" pitchFamily="34" charset="-122"/>
                <a:cs typeface="Calibri" pitchFamily="34" charset="-120"/>
              </a:rPr>
              <a:t>Same 50% gain, annualised. Lets you fairly compare investments held for different lengths of time.</a:t>
            </a:r>
            <a:endParaRPr lang="en-US" sz="1200" dirty="0"/>
          </a:p>
        </p:txBody>
      </p:sp>
      <p:sp>
        <p:nvSpPr>
          <p:cNvPr id="12" name="Shape 10"/>
          <p:cNvSpPr/>
          <p:nvPr/>
        </p:nvSpPr>
        <p:spPr>
          <a:xfrm>
            <a:off x="8138160" y="1737360"/>
            <a:ext cx="3520440" cy="3200400"/>
          </a:xfrm>
          <a:prstGeom prst="roundRect">
            <a:avLst>
              <a:gd name="adj" fmla="val 2286"/>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13" name="Text 11"/>
          <p:cNvSpPr txBox="1"/>
          <p:nvPr/>
        </p:nvSpPr>
        <p:spPr>
          <a:xfrm>
            <a:off x="8412480" y="1920240"/>
            <a:ext cx="3017520" cy="457200"/>
          </a:xfrm>
          <a:prstGeom prst="rect">
            <a:avLst/>
          </a:prstGeom>
          <a:noFill/>
          <a:ln/>
        </p:spPr>
        <p:txBody>
          <a:bodyPr wrap="square" lIns="0" tIns="0" rIns="0" bIns="0" rtlCol="0" anchor="ctr"/>
          <a:lstStyle/>
          <a:p>
            <a:pPr marL="0" indent="0">
              <a:buNone/>
            </a:pPr>
            <a:r>
              <a:rPr lang="en-US" sz="1450" b="1" dirty="0">
                <a:solidFill>
                  <a:srgbClr val="1C7293"/>
                </a:solidFill>
                <a:latin typeface="Calibri" pitchFamily="34" charset="0"/>
                <a:ea typeface="Calibri" pitchFamily="34" charset="-122"/>
                <a:cs typeface="Calibri" pitchFamily="34" charset="-120"/>
              </a:rPr>
              <a:t>XIRR</a:t>
            </a:r>
            <a:endParaRPr lang="en-US" sz="1450" dirty="0"/>
          </a:p>
        </p:txBody>
      </p:sp>
      <p:sp>
        <p:nvSpPr>
          <p:cNvPr id="14" name="Text 12"/>
          <p:cNvSpPr txBox="1"/>
          <p:nvPr/>
        </p:nvSpPr>
        <p:spPr>
          <a:xfrm>
            <a:off x="8412480" y="2423160"/>
            <a:ext cx="3017520" cy="640080"/>
          </a:xfrm>
          <a:prstGeom prst="rect">
            <a:avLst/>
          </a:prstGeom>
          <a:noFill/>
          <a:ln/>
        </p:spPr>
        <p:txBody>
          <a:bodyPr wrap="square" lIns="0" tIns="0" rIns="0" bIns="0" rtlCol="0" anchor="ctr"/>
          <a:lstStyle/>
          <a:p>
            <a:pPr marL="0" indent="0">
              <a:buNone/>
            </a:pPr>
            <a:r>
              <a:rPr lang="en-US" sz="2400" b="1" dirty="0">
                <a:solidFill>
                  <a:srgbClr val="0A2A43"/>
                </a:solidFill>
                <a:latin typeface="Cambria" pitchFamily="34" charset="0"/>
                <a:ea typeface="Cambria" pitchFamily="34" charset="-122"/>
                <a:cs typeface="Cambria" pitchFamily="34" charset="-120"/>
              </a:rPr>
              <a:t>For SIPs</a:t>
            </a:r>
            <a:endParaRPr lang="en-US" sz="2400" dirty="0"/>
          </a:p>
        </p:txBody>
      </p:sp>
      <p:sp>
        <p:nvSpPr>
          <p:cNvPr id="15" name="Text 13"/>
          <p:cNvSpPr txBox="1"/>
          <p:nvPr/>
        </p:nvSpPr>
        <p:spPr>
          <a:xfrm>
            <a:off x="8412480" y="3154680"/>
            <a:ext cx="3017520" cy="1645920"/>
          </a:xfrm>
          <a:prstGeom prst="rect">
            <a:avLst/>
          </a:prstGeom>
          <a:noFill/>
          <a:ln/>
        </p:spPr>
        <p:txBody>
          <a:bodyPr wrap="square" lIns="0" tIns="0" rIns="0" bIns="0" rtlCol="0" anchor="ctr"/>
          <a:lstStyle/>
          <a:p>
            <a:pPr marL="0" indent="0">
              <a:lnSpc>
                <a:spcPct val="120000"/>
              </a:lnSpc>
              <a:buNone/>
            </a:pPr>
            <a:r>
              <a:rPr lang="en-US" sz="1200" dirty="0">
                <a:solidFill>
                  <a:srgbClr val="1C1C1C"/>
                </a:solidFill>
                <a:latin typeface="Calibri" pitchFamily="34" charset="0"/>
                <a:ea typeface="Calibri" pitchFamily="34" charset="-122"/>
                <a:cs typeface="Calibri" pitchFamily="34" charset="-120"/>
              </a:rPr>
              <a:t>More appropriate than CAGR when cash flows (like SIP instalments) happen on different dates.</a:t>
            </a:r>
            <a:endParaRPr lang="en-US" sz="1200" dirty="0"/>
          </a:p>
        </p:txBody>
      </p:sp>
      <p:sp>
        <p:nvSpPr>
          <p:cNvPr id="16" name="Shape 14"/>
          <p:cNvSpPr/>
          <p:nvPr/>
        </p:nvSpPr>
        <p:spPr>
          <a:xfrm>
            <a:off x="548640" y="5212080"/>
            <a:ext cx="11064240" cy="1051560"/>
          </a:xfrm>
          <a:prstGeom prst="roundRect">
            <a:avLst>
              <a:gd name="adj" fmla="val 6957"/>
            </a:avLst>
          </a:prstGeom>
          <a:solidFill>
            <a:srgbClr val="0A2A43"/>
          </a:solidFill>
          <a:ln/>
          <a:effectLst>
            <a:outerShdw blurRad="76200" dist="25400" dir="5400000" algn="bl" rotWithShape="0">
              <a:srgbClr val="1B1B1B">
                <a:alpha val="12000"/>
              </a:srgbClr>
            </a:outerShdw>
          </a:effectLst>
        </p:spPr>
        <p:txBody>
          <a:bodyPr/>
          <a:lstStyle/>
          <a:p>
            <a:endParaRPr lang="en-IN"/>
          </a:p>
        </p:txBody>
      </p:sp>
      <p:sp>
        <p:nvSpPr>
          <p:cNvPr id="17" name="Text 15"/>
          <p:cNvSpPr txBox="1"/>
          <p:nvPr/>
        </p:nvSpPr>
        <p:spPr>
          <a:xfrm>
            <a:off x="914400" y="5349240"/>
            <a:ext cx="10332720" cy="777240"/>
          </a:xfrm>
          <a:prstGeom prst="rect">
            <a:avLst/>
          </a:prstGeom>
          <a:noFill/>
          <a:ln/>
        </p:spPr>
        <p:txBody>
          <a:bodyPr wrap="square" lIns="0" tIns="0" rIns="0" bIns="0" rtlCol="0" anchor="ctr"/>
          <a:lstStyle/>
          <a:p>
            <a:pPr marL="0" indent="0">
              <a:buNone/>
            </a:pPr>
            <a:r>
              <a:rPr lang="en-US" sz="1450" b="1" i="1" dirty="0">
                <a:solidFill>
                  <a:srgbClr val="F4A300"/>
                </a:solidFill>
                <a:latin typeface="Calibri" pitchFamily="34" charset="0"/>
                <a:ea typeface="Calibri" pitchFamily="34" charset="-122"/>
                <a:cs typeface="Calibri" pitchFamily="34" charset="-120"/>
              </a:rPr>
              <a:t>Never compare a 1-year absolute return directly with a 5-year CAGR — you’re not measuring the same thing.</a:t>
            </a:r>
            <a:endParaRPr lang="en-US" sz="1450" dirty="0"/>
          </a:p>
        </p:txBody>
      </p:sp>
      <p:sp>
        <p:nvSpPr>
          <p:cNvPr id="18" name="Text 16"/>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900" dirty="0">
                <a:solidFill>
                  <a:srgbClr val="8A97A0"/>
                </a:solidFill>
                <a:latin typeface="Calibri" pitchFamily="34" charset="0"/>
                <a:ea typeface="Calibri" pitchFamily="34" charset="-122"/>
                <a:cs typeface="Calibri" pitchFamily="34" charset="-120"/>
              </a:rPr>
              <a:t>Mutual Funds: What My Investing Journey Taught Me</a:t>
            </a:r>
            <a:endParaRPr lang="en-US" sz="900" dirty="0"/>
          </a:p>
        </p:txBody>
      </p:sp>
      <p:sp>
        <p:nvSpPr>
          <p:cNvPr id="19" name="Text 17"/>
          <p:cNvSpPr txBox="1"/>
          <p:nvPr/>
        </p:nvSpPr>
        <p:spPr>
          <a:xfrm>
            <a:off x="11000232" y="6473952"/>
            <a:ext cx="731520" cy="274320"/>
          </a:xfrm>
          <a:prstGeom prst="rect">
            <a:avLst/>
          </a:prstGeom>
          <a:noFill/>
          <a:ln/>
        </p:spPr>
        <p:txBody>
          <a:bodyPr wrap="square" lIns="0" tIns="0" rIns="0" bIns="0" rtlCol="0" anchor="ctr"/>
          <a:lstStyle/>
          <a:p>
            <a:pPr marL="0" indent="0" algn="r">
              <a:buNone/>
            </a:pPr>
            <a:r>
              <a:rPr lang="en-US" sz="900" dirty="0">
                <a:solidFill>
                  <a:srgbClr val="8A97A0"/>
                </a:solidFill>
                <a:latin typeface="Calibri" pitchFamily="34" charset="0"/>
                <a:ea typeface="Calibri" pitchFamily="34" charset="-122"/>
                <a:cs typeface="Calibri" pitchFamily="34" charset="-120"/>
              </a:rPr>
              <a:t>25 / 31</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LIVE-DEMO &amp; RESEARCH TOOLKIT</a:t>
            </a:r>
            <a:endParaRPr lang="en-US" sz="1300" dirty="0"/>
          </a:p>
        </p:txBody>
      </p:sp>
      <p:sp>
        <p:nvSpPr>
          <p:cNvPr id="3" name="Text 1"/>
          <p:cNvSpPr txBox="1"/>
          <p:nvPr/>
        </p:nvSpPr>
        <p:spPr>
          <a:xfrm>
            <a:off x="548640" y="685800"/>
            <a:ext cx="11064240" cy="822960"/>
          </a:xfrm>
          <a:prstGeom prst="rect">
            <a:avLst/>
          </a:prstGeom>
          <a:noFill/>
          <a:ln/>
        </p:spPr>
        <p:txBody>
          <a:bodyPr wrap="square" lIns="0" tIns="0" rIns="0" bIns="0" rtlCol="0" anchor="ctr"/>
          <a:lstStyle/>
          <a:p>
            <a:pPr marL="0" indent="0">
              <a:buNone/>
            </a:pPr>
            <a:r>
              <a:rPr lang="en-US" sz="3000" b="1" dirty="0">
                <a:solidFill>
                  <a:srgbClr val="0A2A43"/>
                </a:solidFill>
                <a:latin typeface="Cambria" pitchFamily="34" charset="0"/>
                <a:ea typeface="Cambria" pitchFamily="34" charset="-122"/>
                <a:cs typeface="Cambria" pitchFamily="34" charset="-120"/>
              </a:rPr>
              <a:t>Websites &amp; Tools to Analyze Any Fund</a:t>
            </a:r>
            <a:endParaRPr lang="en-US" sz="3000" dirty="0"/>
          </a:p>
        </p:txBody>
      </p:sp>
      <p:sp>
        <p:nvSpPr>
          <p:cNvPr id="4" name="Shape 2"/>
          <p:cNvSpPr/>
          <p:nvPr/>
        </p:nvSpPr>
        <p:spPr>
          <a:xfrm>
            <a:off x="548640" y="1737360"/>
            <a:ext cx="3566160" cy="1417320"/>
          </a:xfrm>
          <a:prstGeom prst="roundRect">
            <a:avLst>
              <a:gd name="adj" fmla="val 5161"/>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5" name="Shape 3"/>
          <p:cNvSpPr/>
          <p:nvPr/>
        </p:nvSpPr>
        <p:spPr>
          <a:xfrm>
            <a:off x="685800" y="1874520"/>
            <a:ext cx="411480" cy="411480"/>
          </a:xfrm>
          <a:prstGeom prst="roundRect">
            <a:avLst>
              <a:gd name="adj" fmla="val 17778"/>
            </a:avLst>
          </a:prstGeom>
          <a:solidFill>
            <a:srgbClr val="028090"/>
          </a:solidFill>
          <a:ln/>
        </p:spPr>
        <p:txBody>
          <a:bodyPr/>
          <a:lstStyle/>
          <a:p>
            <a:endParaRPr lang="en-IN"/>
          </a:p>
        </p:txBody>
      </p:sp>
      <p:sp>
        <p:nvSpPr>
          <p:cNvPr id="6" name="Text 4"/>
          <p:cNvSpPr txBox="1"/>
          <p:nvPr/>
        </p:nvSpPr>
        <p:spPr>
          <a:xfrm>
            <a:off x="685800" y="2377440"/>
            <a:ext cx="3291840" cy="365760"/>
          </a:xfrm>
          <a:prstGeom prst="rect">
            <a:avLst/>
          </a:prstGeom>
          <a:noFill/>
          <a:ln/>
        </p:spPr>
        <p:txBody>
          <a:bodyPr wrap="square" lIns="0" tIns="0" rIns="0" bIns="0" rtlCol="0" anchor="ctr"/>
          <a:lstStyle/>
          <a:p>
            <a:pPr marL="0" indent="0">
              <a:buNone/>
            </a:pPr>
            <a:r>
              <a:rPr lang="en-US" sz="1300" b="1" dirty="0">
                <a:solidFill>
                  <a:srgbClr val="0A2A43"/>
                </a:solidFill>
                <a:latin typeface="Calibri" pitchFamily="34" charset="0"/>
                <a:ea typeface="Calibri" pitchFamily="34" charset="-122"/>
                <a:cs typeface="Calibri" pitchFamily="34" charset="-120"/>
              </a:rPr>
              <a:t>AMFI Investor Centre</a:t>
            </a:r>
            <a:endParaRPr lang="en-US" sz="1300" dirty="0"/>
          </a:p>
        </p:txBody>
      </p:sp>
      <p:sp>
        <p:nvSpPr>
          <p:cNvPr id="7" name="Text 5"/>
          <p:cNvSpPr txBox="1"/>
          <p:nvPr/>
        </p:nvSpPr>
        <p:spPr>
          <a:xfrm>
            <a:off x="685800" y="2697480"/>
            <a:ext cx="3291840" cy="411480"/>
          </a:xfrm>
          <a:prstGeom prst="rect">
            <a:avLst/>
          </a:prstGeom>
          <a:noFill/>
          <a:ln/>
        </p:spPr>
        <p:txBody>
          <a:bodyPr wrap="square" lIns="0" tIns="0" rIns="0" bIns="0" rtlCol="0" anchor="ctr"/>
          <a:lstStyle/>
          <a:p>
            <a:pPr marL="0" indent="0">
              <a:lnSpc>
                <a:spcPct val="110000"/>
              </a:lnSpc>
              <a:buNone/>
            </a:pPr>
            <a:r>
              <a:rPr lang="en-US" sz="1050" dirty="0">
                <a:solidFill>
                  <a:srgbClr val="51606B"/>
                </a:solidFill>
                <a:latin typeface="Calibri" pitchFamily="34" charset="0"/>
                <a:ea typeface="Calibri" pitchFamily="34" charset="-122"/>
                <a:cs typeface="Calibri" pitchFamily="34" charset="-120"/>
              </a:rPr>
              <a:t>Official industry investor education, NAV &amp; investor-service info</a:t>
            </a:r>
            <a:endParaRPr lang="en-US" sz="1050" dirty="0"/>
          </a:p>
        </p:txBody>
      </p:sp>
      <p:sp>
        <p:nvSpPr>
          <p:cNvPr id="8" name="Shape 6"/>
          <p:cNvSpPr/>
          <p:nvPr/>
        </p:nvSpPr>
        <p:spPr>
          <a:xfrm>
            <a:off x="4297680" y="1737360"/>
            <a:ext cx="3566160" cy="1417320"/>
          </a:xfrm>
          <a:prstGeom prst="roundRect">
            <a:avLst>
              <a:gd name="adj" fmla="val 5161"/>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9" name="Shape 7"/>
          <p:cNvSpPr/>
          <p:nvPr/>
        </p:nvSpPr>
        <p:spPr>
          <a:xfrm>
            <a:off x="4434840" y="1874520"/>
            <a:ext cx="411480" cy="411480"/>
          </a:xfrm>
          <a:prstGeom prst="roundRect">
            <a:avLst>
              <a:gd name="adj" fmla="val 17778"/>
            </a:avLst>
          </a:prstGeom>
          <a:solidFill>
            <a:srgbClr val="00A896"/>
          </a:solidFill>
          <a:ln/>
        </p:spPr>
        <p:txBody>
          <a:bodyPr/>
          <a:lstStyle/>
          <a:p>
            <a:endParaRPr lang="en-IN"/>
          </a:p>
        </p:txBody>
      </p:sp>
      <p:sp>
        <p:nvSpPr>
          <p:cNvPr id="10" name="Text 8"/>
          <p:cNvSpPr txBox="1"/>
          <p:nvPr/>
        </p:nvSpPr>
        <p:spPr>
          <a:xfrm>
            <a:off x="4434840" y="2377440"/>
            <a:ext cx="3291840" cy="365760"/>
          </a:xfrm>
          <a:prstGeom prst="rect">
            <a:avLst/>
          </a:prstGeom>
          <a:noFill/>
          <a:ln/>
        </p:spPr>
        <p:txBody>
          <a:bodyPr wrap="square" lIns="0" tIns="0" rIns="0" bIns="0" rtlCol="0" anchor="ctr"/>
          <a:lstStyle/>
          <a:p>
            <a:pPr marL="0" indent="0">
              <a:buNone/>
            </a:pPr>
            <a:r>
              <a:rPr lang="en-US" sz="1300" b="1" dirty="0">
                <a:solidFill>
                  <a:srgbClr val="0A2A43"/>
                </a:solidFill>
                <a:latin typeface="Calibri" pitchFamily="34" charset="0"/>
                <a:ea typeface="Calibri" pitchFamily="34" charset="-122"/>
                <a:cs typeface="Calibri" pitchFamily="34" charset="-120"/>
              </a:rPr>
              <a:t>SEBI Investor</a:t>
            </a:r>
            <a:endParaRPr lang="en-US" sz="1300" dirty="0"/>
          </a:p>
        </p:txBody>
      </p:sp>
      <p:sp>
        <p:nvSpPr>
          <p:cNvPr id="11" name="Text 9"/>
          <p:cNvSpPr txBox="1"/>
          <p:nvPr/>
        </p:nvSpPr>
        <p:spPr>
          <a:xfrm>
            <a:off x="4434840" y="2697480"/>
            <a:ext cx="3291840" cy="411480"/>
          </a:xfrm>
          <a:prstGeom prst="rect">
            <a:avLst/>
          </a:prstGeom>
          <a:noFill/>
          <a:ln/>
        </p:spPr>
        <p:txBody>
          <a:bodyPr wrap="square" lIns="0" tIns="0" rIns="0" bIns="0" rtlCol="0" anchor="ctr"/>
          <a:lstStyle/>
          <a:p>
            <a:pPr marL="0" indent="0">
              <a:lnSpc>
                <a:spcPct val="110000"/>
              </a:lnSpc>
              <a:buNone/>
            </a:pPr>
            <a:r>
              <a:rPr lang="en-US" sz="1050" dirty="0">
                <a:solidFill>
                  <a:srgbClr val="51606B"/>
                </a:solidFill>
                <a:latin typeface="Calibri" pitchFamily="34" charset="0"/>
                <a:ea typeface="Calibri" pitchFamily="34" charset="-122"/>
                <a:cs typeface="Calibri" pitchFamily="34" charset="-120"/>
              </a:rPr>
              <a:t>Regulator’s investor education, risk &amp; product information</a:t>
            </a:r>
            <a:endParaRPr lang="en-US" sz="1050" dirty="0"/>
          </a:p>
        </p:txBody>
      </p:sp>
      <p:sp>
        <p:nvSpPr>
          <p:cNvPr id="12" name="Shape 10"/>
          <p:cNvSpPr/>
          <p:nvPr/>
        </p:nvSpPr>
        <p:spPr>
          <a:xfrm>
            <a:off x="8046720" y="1737360"/>
            <a:ext cx="3566160" cy="1417320"/>
          </a:xfrm>
          <a:prstGeom prst="roundRect">
            <a:avLst>
              <a:gd name="adj" fmla="val 5161"/>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13" name="Shape 11"/>
          <p:cNvSpPr/>
          <p:nvPr/>
        </p:nvSpPr>
        <p:spPr>
          <a:xfrm>
            <a:off x="8183880" y="1874520"/>
            <a:ext cx="411480" cy="411480"/>
          </a:xfrm>
          <a:prstGeom prst="roundRect">
            <a:avLst>
              <a:gd name="adj" fmla="val 17778"/>
            </a:avLst>
          </a:prstGeom>
          <a:solidFill>
            <a:srgbClr val="6D2E46"/>
          </a:solidFill>
          <a:ln/>
        </p:spPr>
        <p:txBody>
          <a:bodyPr/>
          <a:lstStyle/>
          <a:p>
            <a:endParaRPr lang="en-IN"/>
          </a:p>
        </p:txBody>
      </p:sp>
      <p:sp>
        <p:nvSpPr>
          <p:cNvPr id="14" name="Text 12"/>
          <p:cNvSpPr txBox="1"/>
          <p:nvPr/>
        </p:nvSpPr>
        <p:spPr>
          <a:xfrm>
            <a:off x="8183880" y="2377440"/>
            <a:ext cx="3291840" cy="365760"/>
          </a:xfrm>
          <a:prstGeom prst="rect">
            <a:avLst/>
          </a:prstGeom>
          <a:noFill/>
          <a:ln/>
        </p:spPr>
        <p:txBody>
          <a:bodyPr wrap="square" lIns="0" tIns="0" rIns="0" bIns="0" rtlCol="0" anchor="ctr"/>
          <a:lstStyle/>
          <a:p>
            <a:pPr marL="0" indent="0">
              <a:buNone/>
            </a:pPr>
            <a:r>
              <a:rPr lang="en-US" sz="1300" b="1" dirty="0">
                <a:solidFill>
                  <a:srgbClr val="0A2A43"/>
                </a:solidFill>
                <a:latin typeface="Calibri" pitchFamily="34" charset="0"/>
                <a:ea typeface="Calibri" pitchFamily="34" charset="-122"/>
                <a:cs typeface="Calibri" pitchFamily="34" charset="-120"/>
              </a:rPr>
              <a:t>Morningstar India</a:t>
            </a:r>
            <a:endParaRPr lang="en-US" sz="1300" dirty="0"/>
          </a:p>
        </p:txBody>
      </p:sp>
      <p:sp>
        <p:nvSpPr>
          <p:cNvPr id="15" name="Text 13"/>
          <p:cNvSpPr txBox="1"/>
          <p:nvPr/>
        </p:nvSpPr>
        <p:spPr>
          <a:xfrm>
            <a:off x="8183880" y="2697480"/>
            <a:ext cx="3291840" cy="411480"/>
          </a:xfrm>
          <a:prstGeom prst="rect">
            <a:avLst/>
          </a:prstGeom>
          <a:noFill/>
          <a:ln/>
        </p:spPr>
        <p:txBody>
          <a:bodyPr wrap="square" lIns="0" tIns="0" rIns="0" bIns="0" rtlCol="0" anchor="ctr"/>
          <a:lstStyle/>
          <a:p>
            <a:pPr marL="0" indent="0">
              <a:lnSpc>
                <a:spcPct val="110000"/>
              </a:lnSpc>
              <a:buNone/>
            </a:pPr>
            <a:r>
              <a:rPr lang="en-US" sz="1050" dirty="0">
                <a:solidFill>
                  <a:srgbClr val="51606B"/>
                </a:solidFill>
                <a:latin typeface="Calibri" pitchFamily="34" charset="0"/>
                <a:ea typeface="Calibri" pitchFamily="34" charset="-122"/>
                <a:cs typeface="Calibri" pitchFamily="34" charset="-120"/>
              </a:rPr>
              <a:t>Fund performance, portfolio, risk measures &amp; comparisons</a:t>
            </a:r>
            <a:endParaRPr lang="en-US" sz="1050" dirty="0"/>
          </a:p>
        </p:txBody>
      </p:sp>
      <p:sp>
        <p:nvSpPr>
          <p:cNvPr id="16" name="Shape 14"/>
          <p:cNvSpPr/>
          <p:nvPr/>
        </p:nvSpPr>
        <p:spPr>
          <a:xfrm>
            <a:off x="548640" y="3337560"/>
            <a:ext cx="3566160" cy="1417320"/>
          </a:xfrm>
          <a:prstGeom prst="roundRect">
            <a:avLst>
              <a:gd name="adj" fmla="val 5161"/>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17" name="Shape 15"/>
          <p:cNvSpPr/>
          <p:nvPr/>
        </p:nvSpPr>
        <p:spPr>
          <a:xfrm>
            <a:off x="685800" y="3474720"/>
            <a:ext cx="411480" cy="411480"/>
          </a:xfrm>
          <a:prstGeom prst="roundRect">
            <a:avLst>
              <a:gd name="adj" fmla="val 17778"/>
            </a:avLst>
          </a:prstGeom>
          <a:solidFill>
            <a:srgbClr val="1C7293"/>
          </a:solidFill>
          <a:ln/>
        </p:spPr>
        <p:txBody>
          <a:bodyPr/>
          <a:lstStyle/>
          <a:p>
            <a:endParaRPr lang="en-IN"/>
          </a:p>
        </p:txBody>
      </p:sp>
      <p:sp>
        <p:nvSpPr>
          <p:cNvPr id="18" name="Text 16"/>
          <p:cNvSpPr txBox="1"/>
          <p:nvPr/>
        </p:nvSpPr>
        <p:spPr>
          <a:xfrm>
            <a:off x="685800" y="3977640"/>
            <a:ext cx="3291840" cy="365760"/>
          </a:xfrm>
          <a:prstGeom prst="rect">
            <a:avLst/>
          </a:prstGeom>
          <a:noFill/>
          <a:ln/>
        </p:spPr>
        <p:txBody>
          <a:bodyPr wrap="square" lIns="0" tIns="0" rIns="0" bIns="0" rtlCol="0" anchor="ctr"/>
          <a:lstStyle/>
          <a:p>
            <a:pPr marL="0" indent="0">
              <a:buNone/>
            </a:pPr>
            <a:r>
              <a:rPr lang="en-US" sz="1300" b="1" dirty="0">
                <a:solidFill>
                  <a:srgbClr val="0A2A43"/>
                </a:solidFill>
                <a:latin typeface="Calibri" pitchFamily="34" charset="0"/>
                <a:ea typeface="Calibri" pitchFamily="34" charset="-122"/>
                <a:cs typeface="Calibri" pitchFamily="34" charset="-120"/>
              </a:rPr>
              <a:t>Value Research</a:t>
            </a:r>
            <a:endParaRPr lang="en-US" sz="1300" dirty="0"/>
          </a:p>
        </p:txBody>
      </p:sp>
      <p:sp>
        <p:nvSpPr>
          <p:cNvPr id="19" name="Text 17"/>
          <p:cNvSpPr txBox="1"/>
          <p:nvPr/>
        </p:nvSpPr>
        <p:spPr>
          <a:xfrm>
            <a:off x="685800" y="4297680"/>
            <a:ext cx="3291840" cy="411480"/>
          </a:xfrm>
          <a:prstGeom prst="rect">
            <a:avLst/>
          </a:prstGeom>
          <a:noFill/>
          <a:ln/>
        </p:spPr>
        <p:txBody>
          <a:bodyPr wrap="square" lIns="0" tIns="0" rIns="0" bIns="0" rtlCol="0" anchor="ctr"/>
          <a:lstStyle/>
          <a:p>
            <a:pPr marL="0" indent="0">
              <a:lnSpc>
                <a:spcPct val="110000"/>
              </a:lnSpc>
              <a:buNone/>
            </a:pPr>
            <a:r>
              <a:rPr lang="en-US" sz="1050" dirty="0">
                <a:solidFill>
                  <a:srgbClr val="51606B"/>
                </a:solidFill>
                <a:latin typeface="Calibri" pitchFamily="34" charset="0"/>
                <a:ea typeface="Calibri" pitchFamily="34" charset="-122"/>
                <a:cs typeface="Calibri" pitchFamily="34" charset="-120"/>
              </a:rPr>
              <a:t>Independent research &amp; portfolio-analysis; ratings = one input, not gospel</a:t>
            </a:r>
            <a:endParaRPr lang="en-US" sz="1050" dirty="0"/>
          </a:p>
        </p:txBody>
      </p:sp>
      <p:sp>
        <p:nvSpPr>
          <p:cNvPr id="20" name="Shape 18"/>
          <p:cNvSpPr/>
          <p:nvPr/>
        </p:nvSpPr>
        <p:spPr>
          <a:xfrm>
            <a:off x="4297680" y="3337560"/>
            <a:ext cx="3566160" cy="1417320"/>
          </a:xfrm>
          <a:prstGeom prst="roundRect">
            <a:avLst>
              <a:gd name="adj" fmla="val 5161"/>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21" name="Shape 19"/>
          <p:cNvSpPr/>
          <p:nvPr/>
        </p:nvSpPr>
        <p:spPr>
          <a:xfrm>
            <a:off x="4434840" y="3474720"/>
            <a:ext cx="411480" cy="411480"/>
          </a:xfrm>
          <a:prstGeom prst="roundRect">
            <a:avLst>
              <a:gd name="adj" fmla="val 17778"/>
            </a:avLst>
          </a:prstGeom>
          <a:solidFill>
            <a:srgbClr val="028090"/>
          </a:solidFill>
          <a:ln/>
        </p:spPr>
        <p:txBody>
          <a:bodyPr/>
          <a:lstStyle/>
          <a:p>
            <a:endParaRPr lang="en-IN"/>
          </a:p>
        </p:txBody>
      </p:sp>
      <p:sp>
        <p:nvSpPr>
          <p:cNvPr id="22" name="Text 20"/>
          <p:cNvSpPr txBox="1"/>
          <p:nvPr/>
        </p:nvSpPr>
        <p:spPr>
          <a:xfrm>
            <a:off x="4434840" y="3977640"/>
            <a:ext cx="3291840" cy="365760"/>
          </a:xfrm>
          <a:prstGeom prst="rect">
            <a:avLst/>
          </a:prstGeom>
          <a:noFill/>
          <a:ln/>
        </p:spPr>
        <p:txBody>
          <a:bodyPr wrap="square" lIns="0" tIns="0" rIns="0" bIns="0" rtlCol="0" anchor="ctr"/>
          <a:lstStyle/>
          <a:p>
            <a:pPr marL="0" indent="0">
              <a:buNone/>
            </a:pPr>
            <a:r>
              <a:rPr lang="en-US" sz="1300" b="1" dirty="0">
                <a:solidFill>
                  <a:srgbClr val="0A2A43"/>
                </a:solidFill>
                <a:latin typeface="Calibri" pitchFamily="34" charset="0"/>
                <a:ea typeface="Calibri" pitchFamily="34" charset="-122"/>
                <a:cs typeface="Calibri" pitchFamily="34" charset="-120"/>
              </a:rPr>
              <a:t>MFCentral</a:t>
            </a:r>
            <a:endParaRPr lang="en-US" sz="1300" dirty="0"/>
          </a:p>
        </p:txBody>
      </p:sp>
      <p:sp>
        <p:nvSpPr>
          <p:cNvPr id="23" name="Text 21"/>
          <p:cNvSpPr txBox="1"/>
          <p:nvPr/>
        </p:nvSpPr>
        <p:spPr>
          <a:xfrm>
            <a:off x="4434840" y="4297680"/>
            <a:ext cx="3291840" cy="411480"/>
          </a:xfrm>
          <a:prstGeom prst="rect">
            <a:avLst/>
          </a:prstGeom>
          <a:noFill/>
          <a:ln/>
        </p:spPr>
        <p:txBody>
          <a:bodyPr wrap="square" lIns="0" tIns="0" rIns="0" bIns="0" rtlCol="0" anchor="ctr"/>
          <a:lstStyle/>
          <a:p>
            <a:pPr marL="0" indent="0">
              <a:lnSpc>
                <a:spcPct val="110000"/>
              </a:lnSpc>
              <a:buNone/>
            </a:pPr>
            <a:r>
              <a:rPr lang="en-US" sz="1050" dirty="0">
                <a:solidFill>
                  <a:srgbClr val="51606B"/>
                </a:solidFill>
                <a:latin typeface="Calibri" pitchFamily="34" charset="0"/>
                <a:ea typeface="Calibri" pitchFamily="34" charset="-122"/>
                <a:cs typeface="Calibri" pitchFamily="34" charset="-120"/>
              </a:rPr>
              <a:t>Unified MF service/transaction platform (CAMS + KFintech)</a:t>
            </a:r>
            <a:endParaRPr lang="en-US" sz="1050" dirty="0"/>
          </a:p>
        </p:txBody>
      </p:sp>
      <p:sp>
        <p:nvSpPr>
          <p:cNvPr id="24" name="Shape 22"/>
          <p:cNvSpPr/>
          <p:nvPr/>
        </p:nvSpPr>
        <p:spPr>
          <a:xfrm>
            <a:off x="8046720" y="3337560"/>
            <a:ext cx="3566160" cy="1417320"/>
          </a:xfrm>
          <a:prstGeom prst="roundRect">
            <a:avLst>
              <a:gd name="adj" fmla="val 5161"/>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25" name="Shape 23"/>
          <p:cNvSpPr/>
          <p:nvPr/>
        </p:nvSpPr>
        <p:spPr>
          <a:xfrm>
            <a:off x="8183880" y="3474720"/>
            <a:ext cx="411480" cy="411480"/>
          </a:xfrm>
          <a:prstGeom prst="roundRect">
            <a:avLst>
              <a:gd name="adj" fmla="val 17778"/>
            </a:avLst>
          </a:prstGeom>
          <a:solidFill>
            <a:srgbClr val="00A896"/>
          </a:solidFill>
          <a:ln/>
        </p:spPr>
        <p:txBody>
          <a:bodyPr/>
          <a:lstStyle/>
          <a:p>
            <a:endParaRPr lang="en-IN"/>
          </a:p>
        </p:txBody>
      </p:sp>
      <p:sp>
        <p:nvSpPr>
          <p:cNvPr id="26" name="Text 24"/>
          <p:cNvSpPr txBox="1"/>
          <p:nvPr/>
        </p:nvSpPr>
        <p:spPr>
          <a:xfrm>
            <a:off x="8183880" y="3977640"/>
            <a:ext cx="3291840" cy="365760"/>
          </a:xfrm>
          <a:prstGeom prst="rect">
            <a:avLst/>
          </a:prstGeom>
          <a:noFill/>
          <a:ln/>
        </p:spPr>
        <p:txBody>
          <a:bodyPr wrap="square" lIns="0" tIns="0" rIns="0" bIns="0" rtlCol="0" anchor="ctr"/>
          <a:lstStyle/>
          <a:p>
            <a:pPr marL="0" indent="0">
              <a:buNone/>
            </a:pPr>
            <a:r>
              <a:rPr lang="en-US" sz="1300" b="1" dirty="0">
                <a:solidFill>
                  <a:srgbClr val="0A2A43"/>
                </a:solidFill>
                <a:latin typeface="Calibri" pitchFamily="34" charset="0"/>
                <a:ea typeface="Calibri" pitchFamily="34" charset="-122"/>
                <a:cs typeface="Calibri" pitchFamily="34" charset="-120"/>
              </a:rPr>
              <a:t>AMC website / app</a:t>
            </a:r>
            <a:endParaRPr lang="en-US" sz="1300" dirty="0"/>
          </a:p>
        </p:txBody>
      </p:sp>
      <p:sp>
        <p:nvSpPr>
          <p:cNvPr id="27" name="Text 25"/>
          <p:cNvSpPr txBox="1"/>
          <p:nvPr/>
        </p:nvSpPr>
        <p:spPr>
          <a:xfrm>
            <a:off x="8183880" y="4297680"/>
            <a:ext cx="3291840" cy="411480"/>
          </a:xfrm>
          <a:prstGeom prst="rect">
            <a:avLst/>
          </a:prstGeom>
          <a:noFill/>
          <a:ln/>
        </p:spPr>
        <p:txBody>
          <a:bodyPr wrap="square" lIns="0" tIns="0" rIns="0" bIns="0" rtlCol="0" anchor="ctr"/>
          <a:lstStyle/>
          <a:p>
            <a:pPr marL="0" indent="0">
              <a:lnSpc>
                <a:spcPct val="110000"/>
              </a:lnSpc>
              <a:buNone/>
            </a:pPr>
            <a:r>
              <a:rPr lang="en-US" sz="1050" dirty="0">
                <a:solidFill>
                  <a:srgbClr val="51606B"/>
                </a:solidFill>
                <a:latin typeface="Calibri" pitchFamily="34" charset="0"/>
                <a:ea typeface="Calibri" pitchFamily="34" charset="-122"/>
                <a:cs typeface="Calibri" pitchFamily="34" charset="-120"/>
              </a:rPr>
              <a:t>Best place to verify current factsheet, SID/KIM, portfolio &amp; TER</a:t>
            </a:r>
            <a:endParaRPr lang="en-US" sz="1050" dirty="0"/>
          </a:p>
        </p:txBody>
      </p:sp>
      <p:sp>
        <p:nvSpPr>
          <p:cNvPr id="28" name="Text 26"/>
          <p:cNvSpPr txBox="1"/>
          <p:nvPr/>
        </p:nvSpPr>
        <p:spPr>
          <a:xfrm>
            <a:off x="548640" y="5623560"/>
            <a:ext cx="11064240" cy="914400"/>
          </a:xfrm>
          <a:prstGeom prst="rect">
            <a:avLst/>
          </a:prstGeom>
          <a:noFill/>
          <a:ln/>
        </p:spPr>
        <p:txBody>
          <a:bodyPr wrap="square" lIns="0" tIns="0" rIns="0" bIns="0" rtlCol="0" anchor="ctr"/>
          <a:lstStyle/>
          <a:p>
            <a:pPr marL="0" indent="0">
              <a:lnSpc>
                <a:spcPct val="120000"/>
              </a:lnSpc>
              <a:buNone/>
            </a:pPr>
            <a:r>
              <a:rPr lang="en-US" sz="1150" i="1" dirty="0">
                <a:solidFill>
                  <a:srgbClr val="51606B"/>
                </a:solidFill>
                <a:latin typeface="Calibri" pitchFamily="34" charset="0"/>
                <a:ea typeface="Calibri" pitchFamily="34" charset="-122"/>
                <a:cs typeface="Calibri" pitchFamily="34" charset="-120"/>
              </a:rPr>
              <a:t>Live demo plan: scheme objective → category → benchmark → expense ratio → top holdings → sector/market-cap mix → performance → drawdown. Then compare 2–3 funds from the same category. Use current, dated data — not a recommendation.</a:t>
            </a:r>
            <a:endParaRPr lang="en-US" sz="1150" dirty="0"/>
          </a:p>
        </p:txBody>
      </p:sp>
      <p:sp>
        <p:nvSpPr>
          <p:cNvPr id="29" name="Text 27"/>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900" dirty="0">
                <a:solidFill>
                  <a:srgbClr val="8A97A0"/>
                </a:solidFill>
                <a:latin typeface="Calibri" pitchFamily="34" charset="0"/>
                <a:ea typeface="Calibri" pitchFamily="34" charset="-122"/>
                <a:cs typeface="Calibri" pitchFamily="34" charset="-120"/>
              </a:rPr>
              <a:t>Mutual Funds: What My Investing Journey Taught Me</a:t>
            </a:r>
            <a:endParaRPr lang="en-US" sz="900" dirty="0"/>
          </a:p>
        </p:txBody>
      </p:sp>
      <p:sp>
        <p:nvSpPr>
          <p:cNvPr id="30" name="Text 28"/>
          <p:cNvSpPr txBox="1"/>
          <p:nvPr/>
        </p:nvSpPr>
        <p:spPr>
          <a:xfrm>
            <a:off x="11000232" y="6473952"/>
            <a:ext cx="731520" cy="274320"/>
          </a:xfrm>
          <a:prstGeom prst="rect">
            <a:avLst/>
          </a:prstGeom>
          <a:noFill/>
          <a:ln/>
        </p:spPr>
        <p:txBody>
          <a:bodyPr wrap="square" lIns="0" tIns="0" rIns="0" bIns="0" rtlCol="0" anchor="ctr"/>
          <a:lstStyle/>
          <a:p>
            <a:pPr marL="0" indent="0" algn="r">
              <a:buNone/>
            </a:pPr>
            <a:r>
              <a:rPr lang="en-US" sz="900" dirty="0">
                <a:solidFill>
                  <a:srgbClr val="8A97A0"/>
                </a:solidFill>
                <a:latin typeface="Calibri" pitchFamily="34" charset="0"/>
                <a:ea typeface="Calibri" pitchFamily="34" charset="-122"/>
                <a:cs typeface="Calibri" pitchFamily="34" charset="-120"/>
              </a:rPr>
              <a:t>26 / 31</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A REPEATABLE HABIT</a:t>
            </a:r>
            <a:endParaRPr lang="en-US" sz="1300" dirty="0"/>
          </a:p>
        </p:txBody>
      </p:sp>
      <p:sp>
        <p:nvSpPr>
          <p:cNvPr id="3" name="Text 1"/>
          <p:cNvSpPr txBox="1"/>
          <p:nvPr/>
        </p:nvSpPr>
        <p:spPr>
          <a:xfrm>
            <a:off x="548640" y="685800"/>
            <a:ext cx="11064240" cy="822960"/>
          </a:xfrm>
          <a:prstGeom prst="rect">
            <a:avLst/>
          </a:prstGeom>
          <a:noFill/>
          <a:ln/>
        </p:spPr>
        <p:txBody>
          <a:bodyPr wrap="square" lIns="0" tIns="0" rIns="0" bIns="0" rtlCol="0" anchor="ctr"/>
          <a:lstStyle/>
          <a:p>
            <a:pPr marL="0" indent="0">
              <a:buNone/>
            </a:pPr>
            <a:r>
              <a:rPr lang="en-US" sz="3000" b="1" dirty="0">
                <a:solidFill>
                  <a:srgbClr val="0A2A43"/>
                </a:solidFill>
                <a:latin typeface="Cambria" pitchFamily="34" charset="0"/>
                <a:ea typeface="Cambria" pitchFamily="34" charset="-122"/>
                <a:cs typeface="Cambria" pitchFamily="34" charset="-120"/>
              </a:rPr>
              <a:t>How I Analyze My Portfolio in 10 Minutes</a:t>
            </a:r>
            <a:endParaRPr lang="en-US" sz="3000" dirty="0"/>
          </a:p>
        </p:txBody>
      </p:sp>
      <p:sp>
        <p:nvSpPr>
          <p:cNvPr id="4" name="Shape 2"/>
          <p:cNvSpPr/>
          <p:nvPr/>
        </p:nvSpPr>
        <p:spPr>
          <a:xfrm>
            <a:off x="548640" y="1691640"/>
            <a:ext cx="2103120" cy="1234440"/>
          </a:xfrm>
          <a:prstGeom prst="roundRect">
            <a:avLst>
              <a:gd name="adj" fmla="val 5926"/>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5" name="Shape 3"/>
          <p:cNvSpPr/>
          <p:nvPr/>
        </p:nvSpPr>
        <p:spPr>
          <a:xfrm>
            <a:off x="1399032" y="1810512"/>
            <a:ext cx="402336" cy="402336"/>
          </a:xfrm>
          <a:prstGeom prst="ellipse">
            <a:avLst/>
          </a:prstGeom>
          <a:solidFill>
            <a:srgbClr val="028090"/>
          </a:solidFill>
          <a:ln/>
        </p:spPr>
        <p:txBody>
          <a:bodyPr/>
          <a:lstStyle/>
          <a:p>
            <a:endParaRPr lang="en-IN"/>
          </a:p>
        </p:txBody>
      </p:sp>
      <p:sp>
        <p:nvSpPr>
          <p:cNvPr id="6" name="Text 4"/>
          <p:cNvSpPr txBox="1"/>
          <p:nvPr/>
        </p:nvSpPr>
        <p:spPr>
          <a:xfrm>
            <a:off x="1353312" y="1810512"/>
            <a:ext cx="49377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640080" y="2286000"/>
            <a:ext cx="1920240" cy="594360"/>
          </a:xfrm>
          <a:prstGeom prst="rect">
            <a:avLst/>
          </a:prstGeom>
          <a:noFill/>
          <a:ln/>
        </p:spPr>
        <p:txBody>
          <a:bodyPr wrap="square" lIns="0" tIns="0" rIns="0" bIns="0" rtlCol="0" anchor="ctr"/>
          <a:lstStyle/>
          <a:p>
            <a:pPr marL="0" indent="0" algn="ctr">
              <a:lnSpc>
                <a:spcPct val="105000"/>
              </a:lnSpc>
              <a:buNone/>
            </a:pPr>
            <a:r>
              <a:rPr lang="en-US" sz="1050" b="1" dirty="0">
                <a:solidFill>
                  <a:srgbClr val="1C1C1C"/>
                </a:solidFill>
                <a:latin typeface="Calibri" pitchFamily="34" charset="0"/>
                <a:ea typeface="Calibri" pitchFamily="34" charset="-122"/>
                <a:cs typeface="Calibri" pitchFamily="34" charset="-120"/>
              </a:rPr>
              <a:t>List every fund &amp; its category</a:t>
            </a:r>
            <a:endParaRPr lang="en-US" sz="1050" dirty="0"/>
          </a:p>
        </p:txBody>
      </p:sp>
      <p:sp>
        <p:nvSpPr>
          <p:cNvPr id="8" name="Shape 6"/>
          <p:cNvSpPr/>
          <p:nvPr/>
        </p:nvSpPr>
        <p:spPr>
          <a:xfrm>
            <a:off x="2761488" y="1691640"/>
            <a:ext cx="2103120" cy="1234440"/>
          </a:xfrm>
          <a:prstGeom prst="roundRect">
            <a:avLst>
              <a:gd name="adj" fmla="val 5926"/>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9" name="Shape 7"/>
          <p:cNvSpPr/>
          <p:nvPr/>
        </p:nvSpPr>
        <p:spPr>
          <a:xfrm>
            <a:off x="3611880" y="1810512"/>
            <a:ext cx="402336" cy="402336"/>
          </a:xfrm>
          <a:prstGeom prst="ellipse">
            <a:avLst/>
          </a:prstGeom>
          <a:solidFill>
            <a:srgbClr val="00A896"/>
          </a:solidFill>
          <a:ln/>
        </p:spPr>
        <p:txBody>
          <a:bodyPr/>
          <a:lstStyle/>
          <a:p>
            <a:endParaRPr lang="en-IN"/>
          </a:p>
        </p:txBody>
      </p:sp>
      <p:sp>
        <p:nvSpPr>
          <p:cNvPr id="10" name="Text 8"/>
          <p:cNvSpPr txBox="1"/>
          <p:nvPr/>
        </p:nvSpPr>
        <p:spPr>
          <a:xfrm>
            <a:off x="3566160" y="1810512"/>
            <a:ext cx="49377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2852928" y="2286000"/>
            <a:ext cx="1920240" cy="594360"/>
          </a:xfrm>
          <a:prstGeom prst="rect">
            <a:avLst/>
          </a:prstGeom>
          <a:noFill/>
          <a:ln/>
        </p:spPr>
        <p:txBody>
          <a:bodyPr wrap="square" lIns="0" tIns="0" rIns="0" bIns="0" rtlCol="0" anchor="ctr"/>
          <a:lstStyle/>
          <a:p>
            <a:pPr marL="0" indent="0" algn="ctr">
              <a:lnSpc>
                <a:spcPct val="105000"/>
              </a:lnSpc>
              <a:buNone/>
            </a:pPr>
            <a:r>
              <a:rPr lang="en-US" sz="1050" b="1" dirty="0">
                <a:solidFill>
                  <a:srgbClr val="1C1C1C"/>
                </a:solidFill>
                <a:latin typeface="Calibri" pitchFamily="34" charset="0"/>
                <a:ea typeface="Calibri" pitchFamily="34" charset="-122"/>
                <a:cs typeface="Calibri" pitchFamily="34" charset="-120"/>
              </a:rPr>
              <a:t>Group funds by category</a:t>
            </a:r>
            <a:endParaRPr lang="en-US" sz="1050" dirty="0"/>
          </a:p>
        </p:txBody>
      </p:sp>
      <p:sp>
        <p:nvSpPr>
          <p:cNvPr id="12" name="Shape 10"/>
          <p:cNvSpPr/>
          <p:nvPr/>
        </p:nvSpPr>
        <p:spPr>
          <a:xfrm>
            <a:off x="4974336" y="1691640"/>
            <a:ext cx="2103120" cy="1234440"/>
          </a:xfrm>
          <a:prstGeom prst="roundRect">
            <a:avLst>
              <a:gd name="adj" fmla="val 5926"/>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13" name="Shape 11"/>
          <p:cNvSpPr/>
          <p:nvPr/>
        </p:nvSpPr>
        <p:spPr>
          <a:xfrm>
            <a:off x="5824728" y="1810512"/>
            <a:ext cx="402336" cy="402336"/>
          </a:xfrm>
          <a:prstGeom prst="ellipse">
            <a:avLst/>
          </a:prstGeom>
          <a:solidFill>
            <a:srgbClr val="028090"/>
          </a:solidFill>
          <a:ln/>
        </p:spPr>
        <p:txBody>
          <a:bodyPr/>
          <a:lstStyle/>
          <a:p>
            <a:endParaRPr lang="en-IN"/>
          </a:p>
        </p:txBody>
      </p:sp>
      <p:sp>
        <p:nvSpPr>
          <p:cNvPr id="14" name="Text 12"/>
          <p:cNvSpPr txBox="1"/>
          <p:nvPr/>
        </p:nvSpPr>
        <p:spPr>
          <a:xfrm>
            <a:off x="5779008" y="1810512"/>
            <a:ext cx="49377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txBox="1"/>
          <p:nvPr/>
        </p:nvSpPr>
        <p:spPr>
          <a:xfrm>
            <a:off x="5065776" y="2286000"/>
            <a:ext cx="1920240" cy="594360"/>
          </a:xfrm>
          <a:prstGeom prst="rect">
            <a:avLst/>
          </a:prstGeom>
          <a:noFill/>
          <a:ln/>
        </p:spPr>
        <p:txBody>
          <a:bodyPr wrap="square" lIns="0" tIns="0" rIns="0" bIns="0" rtlCol="0" anchor="ctr"/>
          <a:lstStyle/>
          <a:p>
            <a:pPr marL="0" indent="0" algn="ctr">
              <a:lnSpc>
                <a:spcPct val="105000"/>
              </a:lnSpc>
              <a:buNone/>
            </a:pPr>
            <a:r>
              <a:rPr lang="en-US" sz="1050" b="1" dirty="0">
                <a:solidFill>
                  <a:srgbClr val="1C1C1C"/>
                </a:solidFill>
                <a:latin typeface="Calibri" pitchFamily="34" charset="0"/>
                <a:ea typeface="Calibri" pitchFamily="34" charset="-122"/>
                <a:cs typeface="Calibri" pitchFamily="34" charset="-120"/>
              </a:rPr>
              <a:t>Check equity/debt/other split</a:t>
            </a:r>
            <a:endParaRPr lang="en-US" sz="1050" dirty="0"/>
          </a:p>
        </p:txBody>
      </p:sp>
      <p:sp>
        <p:nvSpPr>
          <p:cNvPr id="16" name="Shape 14"/>
          <p:cNvSpPr/>
          <p:nvPr/>
        </p:nvSpPr>
        <p:spPr>
          <a:xfrm>
            <a:off x="7187184" y="1691640"/>
            <a:ext cx="2103120" cy="1234440"/>
          </a:xfrm>
          <a:prstGeom prst="roundRect">
            <a:avLst>
              <a:gd name="adj" fmla="val 5926"/>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17" name="Shape 15"/>
          <p:cNvSpPr/>
          <p:nvPr/>
        </p:nvSpPr>
        <p:spPr>
          <a:xfrm>
            <a:off x="8037576" y="1810512"/>
            <a:ext cx="402336" cy="402336"/>
          </a:xfrm>
          <a:prstGeom prst="ellipse">
            <a:avLst/>
          </a:prstGeom>
          <a:solidFill>
            <a:srgbClr val="00A896"/>
          </a:solidFill>
          <a:ln/>
        </p:spPr>
        <p:txBody>
          <a:bodyPr/>
          <a:lstStyle/>
          <a:p>
            <a:endParaRPr lang="en-IN"/>
          </a:p>
        </p:txBody>
      </p:sp>
      <p:sp>
        <p:nvSpPr>
          <p:cNvPr id="18" name="Text 16"/>
          <p:cNvSpPr txBox="1"/>
          <p:nvPr/>
        </p:nvSpPr>
        <p:spPr>
          <a:xfrm>
            <a:off x="7991856" y="1810512"/>
            <a:ext cx="49377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txBox="1"/>
          <p:nvPr/>
        </p:nvSpPr>
        <p:spPr>
          <a:xfrm>
            <a:off x="7278624" y="2286000"/>
            <a:ext cx="1920240" cy="594360"/>
          </a:xfrm>
          <a:prstGeom prst="rect">
            <a:avLst/>
          </a:prstGeom>
          <a:noFill/>
          <a:ln/>
        </p:spPr>
        <p:txBody>
          <a:bodyPr wrap="square" lIns="0" tIns="0" rIns="0" bIns="0" rtlCol="0" anchor="ctr"/>
          <a:lstStyle/>
          <a:p>
            <a:pPr marL="0" indent="0" algn="ctr">
              <a:lnSpc>
                <a:spcPct val="105000"/>
              </a:lnSpc>
              <a:buNone/>
            </a:pPr>
            <a:r>
              <a:rPr lang="en-US" sz="1050" b="1" dirty="0">
                <a:solidFill>
                  <a:srgbClr val="1C1C1C"/>
                </a:solidFill>
                <a:latin typeface="Calibri" pitchFamily="34" charset="0"/>
                <a:ea typeface="Calibri" pitchFamily="34" charset="-122"/>
                <a:cs typeface="Calibri" pitchFamily="34" charset="-120"/>
              </a:rPr>
              <a:t>Check market-cap exposure</a:t>
            </a:r>
            <a:endParaRPr lang="en-US" sz="1050" dirty="0"/>
          </a:p>
        </p:txBody>
      </p:sp>
      <p:sp>
        <p:nvSpPr>
          <p:cNvPr id="20" name="Shape 18"/>
          <p:cNvSpPr/>
          <p:nvPr/>
        </p:nvSpPr>
        <p:spPr>
          <a:xfrm>
            <a:off x="9400032" y="1691640"/>
            <a:ext cx="2103120" cy="1234440"/>
          </a:xfrm>
          <a:prstGeom prst="roundRect">
            <a:avLst>
              <a:gd name="adj" fmla="val 5926"/>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21" name="Shape 19"/>
          <p:cNvSpPr/>
          <p:nvPr/>
        </p:nvSpPr>
        <p:spPr>
          <a:xfrm>
            <a:off x="10250424" y="1810512"/>
            <a:ext cx="402336" cy="402336"/>
          </a:xfrm>
          <a:prstGeom prst="ellipse">
            <a:avLst/>
          </a:prstGeom>
          <a:solidFill>
            <a:srgbClr val="028090"/>
          </a:solidFill>
          <a:ln/>
        </p:spPr>
        <p:txBody>
          <a:bodyPr/>
          <a:lstStyle/>
          <a:p>
            <a:endParaRPr lang="en-IN"/>
          </a:p>
        </p:txBody>
      </p:sp>
      <p:sp>
        <p:nvSpPr>
          <p:cNvPr id="22" name="Text 20"/>
          <p:cNvSpPr txBox="1"/>
          <p:nvPr/>
        </p:nvSpPr>
        <p:spPr>
          <a:xfrm>
            <a:off x="10204704" y="1810512"/>
            <a:ext cx="49377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21"/>
          <p:cNvSpPr txBox="1"/>
          <p:nvPr/>
        </p:nvSpPr>
        <p:spPr>
          <a:xfrm>
            <a:off x="9491472" y="2286000"/>
            <a:ext cx="1920240" cy="594360"/>
          </a:xfrm>
          <a:prstGeom prst="rect">
            <a:avLst/>
          </a:prstGeom>
          <a:noFill/>
          <a:ln/>
        </p:spPr>
        <p:txBody>
          <a:bodyPr wrap="square" lIns="0" tIns="0" rIns="0" bIns="0" rtlCol="0" anchor="ctr"/>
          <a:lstStyle/>
          <a:p>
            <a:pPr marL="0" indent="0" algn="ctr">
              <a:lnSpc>
                <a:spcPct val="105000"/>
              </a:lnSpc>
              <a:buNone/>
            </a:pPr>
            <a:r>
              <a:rPr lang="en-US" sz="1050" b="1" dirty="0">
                <a:solidFill>
                  <a:srgbClr val="1C1C1C"/>
                </a:solidFill>
                <a:latin typeface="Calibri" pitchFamily="34" charset="0"/>
                <a:ea typeface="Calibri" pitchFamily="34" charset="-122"/>
                <a:cs typeface="Calibri" pitchFamily="34" charset="-120"/>
              </a:rPr>
              <a:t>Check sector concentration</a:t>
            </a:r>
            <a:endParaRPr lang="en-US" sz="1050" dirty="0"/>
          </a:p>
        </p:txBody>
      </p:sp>
      <p:sp>
        <p:nvSpPr>
          <p:cNvPr id="24" name="Shape 22"/>
          <p:cNvSpPr/>
          <p:nvPr/>
        </p:nvSpPr>
        <p:spPr>
          <a:xfrm>
            <a:off x="548640" y="3063240"/>
            <a:ext cx="2103120" cy="1234440"/>
          </a:xfrm>
          <a:prstGeom prst="roundRect">
            <a:avLst>
              <a:gd name="adj" fmla="val 5926"/>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25" name="Shape 23"/>
          <p:cNvSpPr/>
          <p:nvPr/>
        </p:nvSpPr>
        <p:spPr>
          <a:xfrm>
            <a:off x="1399032" y="3182112"/>
            <a:ext cx="402336" cy="402336"/>
          </a:xfrm>
          <a:prstGeom prst="ellipse">
            <a:avLst/>
          </a:prstGeom>
          <a:solidFill>
            <a:srgbClr val="00A896"/>
          </a:solidFill>
          <a:ln/>
        </p:spPr>
        <p:txBody>
          <a:bodyPr/>
          <a:lstStyle/>
          <a:p>
            <a:endParaRPr lang="en-IN"/>
          </a:p>
        </p:txBody>
      </p:sp>
      <p:sp>
        <p:nvSpPr>
          <p:cNvPr id="26" name="Text 24"/>
          <p:cNvSpPr txBox="1"/>
          <p:nvPr/>
        </p:nvSpPr>
        <p:spPr>
          <a:xfrm>
            <a:off x="1353312" y="3182112"/>
            <a:ext cx="49377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7" name="Text 25"/>
          <p:cNvSpPr txBox="1"/>
          <p:nvPr/>
        </p:nvSpPr>
        <p:spPr>
          <a:xfrm>
            <a:off x="640080" y="3657600"/>
            <a:ext cx="1920240" cy="594360"/>
          </a:xfrm>
          <a:prstGeom prst="rect">
            <a:avLst/>
          </a:prstGeom>
          <a:noFill/>
          <a:ln/>
        </p:spPr>
        <p:txBody>
          <a:bodyPr wrap="square" lIns="0" tIns="0" rIns="0" bIns="0" rtlCol="0" anchor="ctr"/>
          <a:lstStyle/>
          <a:p>
            <a:pPr marL="0" indent="0" algn="ctr">
              <a:lnSpc>
                <a:spcPct val="105000"/>
              </a:lnSpc>
              <a:buNone/>
            </a:pPr>
            <a:r>
              <a:rPr lang="en-US" sz="1050" b="1" dirty="0">
                <a:solidFill>
                  <a:srgbClr val="1C1C1C"/>
                </a:solidFill>
                <a:latin typeface="Calibri" pitchFamily="34" charset="0"/>
                <a:ea typeface="Calibri" pitchFamily="34" charset="-122"/>
                <a:cs typeface="Calibri" pitchFamily="34" charset="-120"/>
              </a:rPr>
              <a:t>Check top holdings</a:t>
            </a:r>
            <a:endParaRPr lang="en-US" sz="1050" dirty="0"/>
          </a:p>
        </p:txBody>
      </p:sp>
      <p:sp>
        <p:nvSpPr>
          <p:cNvPr id="28" name="Shape 26"/>
          <p:cNvSpPr/>
          <p:nvPr/>
        </p:nvSpPr>
        <p:spPr>
          <a:xfrm>
            <a:off x="2761488" y="3063240"/>
            <a:ext cx="2103120" cy="1234440"/>
          </a:xfrm>
          <a:prstGeom prst="roundRect">
            <a:avLst>
              <a:gd name="adj" fmla="val 5926"/>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29" name="Shape 27"/>
          <p:cNvSpPr/>
          <p:nvPr/>
        </p:nvSpPr>
        <p:spPr>
          <a:xfrm>
            <a:off x="3611880" y="3182112"/>
            <a:ext cx="402336" cy="402336"/>
          </a:xfrm>
          <a:prstGeom prst="ellipse">
            <a:avLst/>
          </a:prstGeom>
          <a:solidFill>
            <a:srgbClr val="028090"/>
          </a:solidFill>
          <a:ln/>
        </p:spPr>
        <p:txBody>
          <a:bodyPr/>
          <a:lstStyle/>
          <a:p>
            <a:endParaRPr lang="en-IN"/>
          </a:p>
        </p:txBody>
      </p:sp>
      <p:sp>
        <p:nvSpPr>
          <p:cNvPr id="30" name="Text 28"/>
          <p:cNvSpPr txBox="1"/>
          <p:nvPr/>
        </p:nvSpPr>
        <p:spPr>
          <a:xfrm>
            <a:off x="3566160" y="3182112"/>
            <a:ext cx="49377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1" name="Text 29"/>
          <p:cNvSpPr txBox="1"/>
          <p:nvPr/>
        </p:nvSpPr>
        <p:spPr>
          <a:xfrm>
            <a:off x="2852928" y="3657600"/>
            <a:ext cx="1920240" cy="594360"/>
          </a:xfrm>
          <a:prstGeom prst="rect">
            <a:avLst/>
          </a:prstGeom>
          <a:noFill/>
          <a:ln/>
        </p:spPr>
        <p:txBody>
          <a:bodyPr wrap="square" lIns="0" tIns="0" rIns="0" bIns="0" rtlCol="0" anchor="ctr"/>
          <a:lstStyle/>
          <a:p>
            <a:pPr marL="0" indent="0" algn="ctr">
              <a:lnSpc>
                <a:spcPct val="105000"/>
              </a:lnSpc>
              <a:buNone/>
            </a:pPr>
            <a:r>
              <a:rPr lang="en-US" sz="1050" b="1" dirty="0">
                <a:solidFill>
                  <a:srgbClr val="1C1C1C"/>
                </a:solidFill>
                <a:latin typeface="Calibri" pitchFamily="34" charset="0"/>
                <a:ea typeface="Calibri" pitchFamily="34" charset="-122"/>
                <a:cs typeface="Calibri" pitchFamily="34" charset="-120"/>
              </a:rPr>
              <a:t>Check overlap between funds</a:t>
            </a:r>
            <a:endParaRPr lang="en-US" sz="1050" dirty="0"/>
          </a:p>
        </p:txBody>
      </p:sp>
      <p:sp>
        <p:nvSpPr>
          <p:cNvPr id="32" name="Shape 30"/>
          <p:cNvSpPr/>
          <p:nvPr/>
        </p:nvSpPr>
        <p:spPr>
          <a:xfrm>
            <a:off x="4974336" y="3063240"/>
            <a:ext cx="2103120" cy="1234440"/>
          </a:xfrm>
          <a:prstGeom prst="roundRect">
            <a:avLst>
              <a:gd name="adj" fmla="val 5926"/>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33" name="Shape 31"/>
          <p:cNvSpPr/>
          <p:nvPr/>
        </p:nvSpPr>
        <p:spPr>
          <a:xfrm>
            <a:off x="5824728" y="3182112"/>
            <a:ext cx="402336" cy="402336"/>
          </a:xfrm>
          <a:prstGeom prst="ellipse">
            <a:avLst/>
          </a:prstGeom>
          <a:solidFill>
            <a:srgbClr val="00A896"/>
          </a:solidFill>
          <a:ln/>
        </p:spPr>
        <p:txBody>
          <a:bodyPr/>
          <a:lstStyle/>
          <a:p>
            <a:endParaRPr lang="en-IN"/>
          </a:p>
        </p:txBody>
      </p:sp>
      <p:sp>
        <p:nvSpPr>
          <p:cNvPr id="34" name="Text 32"/>
          <p:cNvSpPr txBox="1"/>
          <p:nvPr/>
        </p:nvSpPr>
        <p:spPr>
          <a:xfrm>
            <a:off x="5779008" y="3182112"/>
            <a:ext cx="49377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35" name="Text 33"/>
          <p:cNvSpPr txBox="1"/>
          <p:nvPr/>
        </p:nvSpPr>
        <p:spPr>
          <a:xfrm>
            <a:off x="5065776" y="3657600"/>
            <a:ext cx="1920240" cy="594360"/>
          </a:xfrm>
          <a:prstGeom prst="rect">
            <a:avLst/>
          </a:prstGeom>
          <a:noFill/>
          <a:ln/>
        </p:spPr>
        <p:txBody>
          <a:bodyPr wrap="square" lIns="0" tIns="0" rIns="0" bIns="0" rtlCol="0" anchor="ctr"/>
          <a:lstStyle/>
          <a:p>
            <a:pPr marL="0" indent="0" algn="ctr">
              <a:lnSpc>
                <a:spcPct val="105000"/>
              </a:lnSpc>
              <a:buNone/>
            </a:pPr>
            <a:r>
              <a:rPr lang="en-US" sz="1050" b="1" dirty="0">
                <a:solidFill>
                  <a:srgbClr val="1C1C1C"/>
                </a:solidFill>
                <a:latin typeface="Calibri" pitchFamily="34" charset="0"/>
                <a:ea typeface="Calibri" pitchFamily="34" charset="-122"/>
                <a:cs typeface="Calibri" pitchFamily="34" charset="-120"/>
              </a:rPr>
              <a:t>Check expense ratios</a:t>
            </a:r>
            <a:endParaRPr lang="en-US" sz="1050" dirty="0"/>
          </a:p>
        </p:txBody>
      </p:sp>
      <p:sp>
        <p:nvSpPr>
          <p:cNvPr id="36" name="Shape 34"/>
          <p:cNvSpPr/>
          <p:nvPr/>
        </p:nvSpPr>
        <p:spPr>
          <a:xfrm>
            <a:off x="7187184" y="3063240"/>
            <a:ext cx="2103120" cy="1234440"/>
          </a:xfrm>
          <a:prstGeom prst="roundRect">
            <a:avLst>
              <a:gd name="adj" fmla="val 5926"/>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37" name="Shape 35"/>
          <p:cNvSpPr/>
          <p:nvPr/>
        </p:nvSpPr>
        <p:spPr>
          <a:xfrm>
            <a:off x="8037576" y="3182112"/>
            <a:ext cx="402336" cy="402336"/>
          </a:xfrm>
          <a:prstGeom prst="ellipse">
            <a:avLst/>
          </a:prstGeom>
          <a:solidFill>
            <a:srgbClr val="028090"/>
          </a:solidFill>
          <a:ln/>
        </p:spPr>
        <p:txBody>
          <a:bodyPr/>
          <a:lstStyle/>
          <a:p>
            <a:endParaRPr lang="en-IN"/>
          </a:p>
        </p:txBody>
      </p:sp>
      <p:sp>
        <p:nvSpPr>
          <p:cNvPr id="38" name="Text 36"/>
          <p:cNvSpPr txBox="1"/>
          <p:nvPr/>
        </p:nvSpPr>
        <p:spPr>
          <a:xfrm>
            <a:off x="7991856" y="3182112"/>
            <a:ext cx="49377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39" name="Text 37"/>
          <p:cNvSpPr txBox="1"/>
          <p:nvPr/>
        </p:nvSpPr>
        <p:spPr>
          <a:xfrm>
            <a:off x="7278624" y="3657600"/>
            <a:ext cx="1920240" cy="594360"/>
          </a:xfrm>
          <a:prstGeom prst="rect">
            <a:avLst/>
          </a:prstGeom>
          <a:noFill/>
          <a:ln/>
        </p:spPr>
        <p:txBody>
          <a:bodyPr wrap="square" lIns="0" tIns="0" rIns="0" bIns="0" rtlCol="0" anchor="ctr"/>
          <a:lstStyle/>
          <a:p>
            <a:pPr marL="0" indent="0" algn="ctr">
              <a:lnSpc>
                <a:spcPct val="105000"/>
              </a:lnSpc>
              <a:buNone/>
            </a:pPr>
            <a:r>
              <a:rPr lang="en-US" sz="1050" b="1" dirty="0">
                <a:solidFill>
                  <a:srgbClr val="1C1C1C"/>
                </a:solidFill>
                <a:latin typeface="Calibri" pitchFamily="34" charset="0"/>
                <a:ea typeface="Calibri" pitchFamily="34" charset="-122"/>
                <a:cs typeface="Calibri" pitchFamily="34" charset="-120"/>
              </a:rPr>
              <a:t>Compare vs benchmark/category</a:t>
            </a:r>
            <a:endParaRPr lang="en-US" sz="1050" dirty="0"/>
          </a:p>
        </p:txBody>
      </p:sp>
      <p:sp>
        <p:nvSpPr>
          <p:cNvPr id="40" name="Shape 38"/>
          <p:cNvSpPr/>
          <p:nvPr/>
        </p:nvSpPr>
        <p:spPr>
          <a:xfrm>
            <a:off x="9400032" y="3063240"/>
            <a:ext cx="2103120" cy="1234440"/>
          </a:xfrm>
          <a:prstGeom prst="roundRect">
            <a:avLst>
              <a:gd name="adj" fmla="val 5926"/>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41" name="Shape 39"/>
          <p:cNvSpPr/>
          <p:nvPr/>
        </p:nvSpPr>
        <p:spPr>
          <a:xfrm>
            <a:off x="10250424" y="3182112"/>
            <a:ext cx="402336" cy="402336"/>
          </a:xfrm>
          <a:prstGeom prst="ellipse">
            <a:avLst/>
          </a:prstGeom>
          <a:solidFill>
            <a:srgbClr val="00A896"/>
          </a:solidFill>
          <a:ln/>
        </p:spPr>
        <p:txBody>
          <a:bodyPr/>
          <a:lstStyle/>
          <a:p>
            <a:endParaRPr lang="en-IN"/>
          </a:p>
        </p:txBody>
      </p:sp>
      <p:sp>
        <p:nvSpPr>
          <p:cNvPr id="42" name="Text 40"/>
          <p:cNvSpPr txBox="1"/>
          <p:nvPr/>
        </p:nvSpPr>
        <p:spPr>
          <a:xfrm>
            <a:off x="10204704" y="3182112"/>
            <a:ext cx="49377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3" name="Text 41"/>
          <p:cNvSpPr txBox="1"/>
          <p:nvPr/>
        </p:nvSpPr>
        <p:spPr>
          <a:xfrm>
            <a:off x="9491472" y="3657600"/>
            <a:ext cx="1920240" cy="594360"/>
          </a:xfrm>
          <a:prstGeom prst="rect">
            <a:avLst/>
          </a:prstGeom>
          <a:noFill/>
          <a:ln/>
        </p:spPr>
        <p:txBody>
          <a:bodyPr wrap="square" lIns="0" tIns="0" rIns="0" bIns="0" rtlCol="0" anchor="ctr"/>
          <a:lstStyle/>
          <a:p>
            <a:pPr marL="0" indent="0" algn="ctr">
              <a:lnSpc>
                <a:spcPct val="105000"/>
              </a:lnSpc>
              <a:buNone/>
            </a:pPr>
            <a:r>
              <a:rPr lang="en-US" sz="1050" b="1" dirty="0">
                <a:solidFill>
                  <a:srgbClr val="1C1C1C"/>
                </a:solidFill>
                <a:latin typeface="Calibri" pitchFamily="34" charset="0"/>
                <a:ea typeface="Calibri" pitchFamily="34" charset="-122"/>
                <a:cs typeface="Calibri" pitchFamily="34" charset="-120"/>
              </a:rPr>
              <a:t>Ask: does each fund still have a job?</a:t>
            </a:r>
            <a:endParaRPr lang="en-US" sz="1050" dirty="0"/>
          </a:p>
        </p:txBody>
      </p:sp>
      <p:sp>
        <p:nvSpPr>
          <p:cNvPr id="44" name="Shape 42"/>
          <p:cNvSpPr/>
          <p:nvPr/>
        </p:nvSpPr>
        <p:spPr>
          <a:xfrm>
            <a:off x="548640" y="4526280"/>
            <a:ext cx="11064240" cy="914400"/>
          </a:xfrm>
          <a:prstGeom prst="roundRect">
            <a:avLst>
              <a:gd name="adj" fmla="val 8000"/>
            </a:avLst>
          </a:prstGeom>
          <a:solidFill>
            <a:srgbClr val="0A2A43"/>
          </a:solidFill>
          <a:ln/>
          <a:effectLst>
            <a:outerShdw blurRad="76200" dist="25400" dir="5400000" algn="bl" rotWithShape="0">
              <a:srgbClr val="1B1B1B">
                <a:alpha val="12000"/>
              </a:srgbClr>
            </a:outerShdw>
          </a:effectLst>
        </p:spPr>
        <p:txBody>
          <a:bodyPr/>
          <a:lstStyle/>
          <a:p>
            <a:endParaRPr lang="en-IN"/>
          </a:p>
        </p:txBody>
      </p:sp>
      <p:sp>
        <p:nvSpPr>
          <p:cNvPr id="45" name="Text 43"/>
          <p:cNvSpPr txBox="1"/>
          <p:nvPr/>
        </p:nvSpPr>
        <p:spPr>
          <a:xfrm>
            <a:off x="822960" y="4617720"/>
            <a:ext cx="10515600" cy="731520"/>
          </a:xfrm>
          <a:prstGeom prst="rect">
            <a:avLst/>
          </a:prstGeom>
          <a:noFill/>
          <a:ln/>
        </p:spPr>
        <p:txBody>
          <a:bodyPr wrap="square" lIns="0" tIns="0" rIns="0" bIns="0" rtlCol="0" anchor="ctr"/>
          <a:lstStyle/>
          <a:p>
            <a:pPr marL="0" indent="0">
              <a:lnSpc>
                <a:spcPct val="115000"/>
              </a:lnSpc>
              <a:buNone/>
            </a:pPr>
            <a:r>
              <a:rPr lang="en-US" sz="1200" i="1" dirty="0">
                <a:solidFill>
                  <a:srgbClr val="6FE7DD"/>
                </a:solidFill>
                <a:latin typeface="Calibri" pitchFamily="34" charset="0"/>
                <a:ea typeface="Calibri" pitchFamily="34" charset="-122"/>
                <a:cs typeface="Calibri" pitchFamily="34" charset="-120"/>
              </a:rPr>
              <a:t>Simple tracker columns: Fund | Category | Goal | SIP | Current Value | Allocation % | Benchmark | Expense Ratio | Top 5 Holdings | Sector Concentration | Review Date</a:t>
            </a:r>
            <a:endParaRPr lang="en-US" sz="1200" dirty="0"/>
          </a:p>
        </p:txBody>
      </p:sp>
      <p:sp>
        <p:nvSpPr>
          <p:cNvPr id="46" name="Text 44"/>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900" dirty="0">
                <a:solidFill>
                  <a:srgbClr val="8A97A0"/>
                </a:solidFill>
                <a:latin typeface="Calibri" pitchFamily="34" charset="0"/>
                <a:ea typeface="Calibri" pitchFamily="34" charset="-122"/>
                <a:cs typeface="Calibri" pitchFamily="34" charset="-120"/>
              </a:rPr>
              <a:t>Mutual Funds: What My Investing Journey Taught Me</a:t>
            </a:r>
            <a:endParaRPr lang="en-US" sz="900" dirty="0"/>
          </a:p>
        </p:txBody>
      </p:sp>
      <p:sp>
        <p:nvSpPr>
          <p:cNvPr id="47" name="Text 45"/>
          <p:cNvSpPr txBox="1"/>
          <p:nvPr/>
        </p:nvSpPr>
        <p:spPr>
          <a:xfrm>
            <a:off x="11000232" y="6473952"/>
            <a:ext cx="731520" cy="274320"/>
          </a:xfrm>
          <a:prstGeom prst="rect">
            <a:avLst/>
          </a:prstGeom>
          <a:noFill/>
          <a:ln/>
        </p:spPr>
        <p:txBody>
          <a:bodyPr wrap="square" lIns="0" tIns="0" rIns="0" bIns="0" rtlCol="0" anchor="ctr"/>
          <a:lstStyle/>
          <a:p>
            <a:pPr marL="0" indent="0" algn="r">
              <a:buNone/>
            </a:pPr>
            <a:r>
              <a:rPr lang="en-US" sz="900" dirty="0">
                <a:solidFill>
                  <a:srgbClr val="8A97A0"/>
                </a:solidFill>
                <a:latin typeface="Calibri" pitchFamily="34" charset="0"/>
                <a:ea typeface="Calibri" pitchFamily="34" charset="-122"/>
                <a:cs typeface="Calibri" pitchFamily="34" charset="-120"/>
              </a:rPr>
              <a:t>27 / 31</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ANALYSIS NEEDS A TRIGGER</a:t>
            </a:r>
            <a:endParaRPr lang="en-US" sz="1300" dirty="0"/>
          </a:p>
        </p:txBody>
      </p:sp>
      <p:sp>
        <p:nvSpPr>
          <p:cNvPr id="3" name="Text 1"/>
          <p:cNvSpPr txBox="1"/>
          <p:nvPr/>
        </p:nvSpPr>
        <p:spPr>
          <a:xfrm>
            <a:off x="548640" y="685800"/>
            <a:ext cx="11064240" cy="822960"/>
          </a:xfrm>
          <a:prstGeom prst="rect">
            <a:avLst/>
          </a:prstGeom>
          <a:noFill/>
          <a:ln/>
        </p:spPr>
        <p:txBody>
          <a:bodyPr wrap="square" lIns="0" tIns="0" rIns="0" bIns="0" rtlCol="0" anchor="ctr"/>
          <a:lstStyle/>
          <a:p>
            <a:pPr marL="0" indent="0">
              <a:buNone/>
            </a:pPr>
            <a:r>
              <a:rPr lang="en-US" sz="3000" b="1" dirty="0">
                <a:solidFill>
                  <a:srgbClr val="0A2A43"/>
                </a:solidFill>
                <a:latin typeface="Cambria" pitchFamily="34" charset="0"/>
                <a:ea typeface="Cambria" pitchFamily="34" charset="-122"/>
                <a:cs typeface="Cambria" pitchFamily="34" charset="-120"/>
              </a:rPr>
              <a:t>When to Actually Rebalance (Not Just Analyze)</a:t>
            </a:r>
            <a:endParaRPr lang="en-US" sz="3000" dirty="0"/>
          </a:p>
        </p:txBody>
      </p:sp>
      <p:sp>
        <p:nvSpPr>
          <p:cNvPr id="4" name="Text 2"/>
          <p:cNvSpPr txBox="1"/>
          <p:nvPr/>
        </p:nvSpPr>
        <p:spPr>
          <a:xfrm>
            <a:off x="548640" y="1691640"/>
            <a:ext cx="10972800" cy="502920"/>
          </a:xfrm>
          <a:prstGeom prst="rect">
            <a:avLst/>
          </a:prstGeom>
          <a:noFill/>
          <a:ln/>
        </p:spPr>
        <p:txBody>
          <a:bodyPr wrap="square" lIns="0" tIns="0" rIns="0" bIns="0" rtlCol="0" anchor="ctr"/>
          <a:lstStyle/>
          <a:p>
            <a:pPr marL="0" indent="0">
              <a:lnSpc>
                <a:spcPct val="115000"/>
              </a:lnSpc>
              <a:buNone/>
            </a:pPr>
            <a:r>
              <a:rPr lang="en-US" sz="1350" i="1" dirty="0">
                <a:solidFill>
                  <a:srgbClr val="51606B"/>
                </a:solidFill>
                <a:latin typeface="Calibri" pitchFamily="34" charset="0"/>
                <a:ea typeface="Calibri" pitchFamily="34" charset="-122"/>
                <a:cs typeface="Calibri" pitchFamily="34" charset="-120"/>
              </a:rPr>
              <a:t>Knowing how to review your portfolio isn’t the same as knowing when to act on it. Pick one rule and stick to it — don’t rebalance on every market wobble.</a:t>
            </a:r>
            <a:endParaRPr lang="en-US" sz="1350" dirty="0"/>
          </a:p>
        </p:txBody>
      </p:sp>
      <p:sp>
        <p:nvSpPr>
          <p:cNvPr id="5" name="Shape 3"/>
          <p:cNvSpPr/>
          <p:nvPr/>
        </p:nvSpPr>
        <p:spPr>
          <a:xfrm>
            <a:off x="548640" y="2331720"/>
            <a:ext cx="5349240" cy="1828800"/>
          </a:xfrm>
          <a:prstGeom prst="roundRect">
            <a:avLst>
              <a:gd name="adj" fmla="val 4000"/>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6" name="Text 4"/>
          <p:cNvSpPr txBox="1"/>
          <p:nvPr/>
        </p:nvSpPr>
        <p:spPr>
          <a:xfrm>
            <a:off x="868680" y="2468880"/>
            <a:ext cx="4572000" cy="365760"/>
          </a:xfrm>
          <a:prstGeom prst="rect">
            <a:avLst/>
          </a:prstGeom>
          <a:noFill/>
          <a:ln/>
        </p:spPr>
        <p:txBody>
          <a:bodyPr wrap="square" lIns="0" tIns="0" rIns="0" bIns="0" rtlCol="0" anchor="ctr"/>
          <a:lstStyle/>
          <a:p>
            <a:pPr marL="0" indent="0">
              <a:buNone/>
            </a:pPr>
            <a:r>
              <a:rPr lang="en-US" sz="1600" b="1" dirty="0">
                <a:solidFill>
                  <a:srgbClr val="028090"/>
                </a:solidFill>
                <a:latin typeface="Cambria" pitchFamily="34" charset="0"/>
                <a:ea typeface="Cambria" pitchFamily="34" charset="-122"/>
                <a:cs typeface="Cambria" pitchFamily="34" charset="-120"/>
              </a:rPr>
              <a:t>Calendar-Based</a:t>
            </a:r>
            <a:endParaRPr lang="en-US" sz="1600" dirty="0"/>
          </a:p>
        </p:txBody>
      </p:sp>
      <p:sp>
        <p:nvSpPr>
          <p:cNvPr id="7" name="Text 5"/>
          <p:cNvSpPr txBox="1"/>
          <p:nvPr/>
        </p:nvSpPr>
        <p:spPr>
          <a:xfrm>
            <a:off x="868680" y="2926080"/>
            <a:ext cx="4754880" cy="1097280"/>
          </a:xfrm>
          <a:prstGeom prst="rect">
            <a:avLst/>
          </a:prstGeom>
          <a:noFill/>
          <a:ln/>
        </p:spPr>
        <p:txBody>
          <a:bodyPr wrap="square" lIns="0" tIns="0" rIns="0" bIns="0" rtlCol="0" anchor="ctr"/>
          <a:lstStyle/>
          <a:p>
            <a:pPr marL="0" indent="0">
              <a:lnSpc>
                <a:spcPct val="120000"/>
              </a:lnSpc>
              <a:buNone/>
            </a:pPr>
            <a:r>
              <a:rPr lang="en-US" sz="1250" dirty="0">
                <a:solidFill>
                  <a:srgbClr val="1C1C1C"/>
                </a:solidFill>
                <a:latin typeface="Calibri" pitchFamily="34" charset="0"/>
                <a:ea typeface="Calibri" pitchFamily="34" charset="-122"/>
                <a:cs typeface="Calibri" pitchFamily="34" charset="-120"/>
              </a:rPr>
              <a:t>Review and rebalance on a fixed schedule — e.g. every April, or every birthday. Simple, low-effort, keeps emotion out of it.</a:t>
            </a:r>
            <a:endParaRPr lang="en-US" sz="1250" dirty="0"/>
          </a:p>
        </p:txBody>
      </p:sp>
      <p:sp>
        <p:nvSpPr>
          <p:cNvPr id="8" name="Shape 6"/>
          <p:cNvSpPr/>
          <p:nvPr/>
        </p:nvSpPr>
        <p:spPr>
          <a:xfrm>
            <a:off x="6126480" y="2331720"/>
            <a:ext cx="5532120" cy="1828800"/>
          </a:xfrm>
          <a:prstGeom prst="roundRect">
            <a:avLst>
              <a:gd name="adj" fmla="val 4000"/>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9" name="Text 7"/>
          <p:cNvSpPr txBox="1"/>
          <p:nvPr/>
        </p:nvSpPr>
        <p:spPr>
          <a:xfrm>
            <a:off x="6446520" y="2468880"/>
            <a:ext cx="4572000" cy="365760"/>
          </a:xfrm>
          <a:prstGeom prst="rect">
            <a:avLst/>
          </a:prstGeom>
          <a:noFill/>
          <a:ln/>
        </p:spPr>
        <p:txBody>
          <a:bodyPr wrap="square" lIns="0" tIns="0" rIns="0" bIns="0" rtlCol="0" anchor="ctr"/>
          <a:lstStyle/>
          <a:p>
            <a:pPr marL="0" indent="0">
              <a:buNone/>
            </a:pPr>
            <a:r>
              <a:rPr lang="en-US" sz="1600" b="1" dirty="0">
                <a:solidFill>
                  <a:srgbClr val="00A896"/>
                </a:solidFill>
                <a:latin typeface="Cambria" pitchFamily="34" charset="0"/>
                <a:ea typeface="Cambria" pitchFamily="34" charset="-122"/>
                <a:cs typeface="Cambria" pitchFamily="34" charset="-120"/>
              </a:rPr>
              <a:t>Threshold-Based</a:t>
            </a:r>
            <a:endParaRPr lang="en-US" sz="1600" dirty="0"/>
          </a:p>
        </p:txBody>
      </p:sp>
      <p:sp>
        <p:nvSpPr>
          <p:cNvPr id="10" name="Text 8"/>
          <p:cNvSpPr txBox="1"/>
          <p:nvPr/>
        </p:nvSpPr>
        <p:spPr>
          <a:xfrm>
            <a:off x="6446520" y="2926080"/>
            <a:ext cx="4937760" cy="1097280"/>
          </a:xfrm>
          <a:prstGeom prst="rect">
            <a:avLst/>
          </a:prstGeom>
          <a:noFill/>
          <a:ln/>
        </p:spPr>
        <p:txBody>
          <a:bodyPr wrap="square" lIns="0" tIns="0" rIns="0" bIns="0" rtlCol="0" anchor="ctr"/>
          <a:lstStyle/>
          <a:p>
            <a:pPr marL="0" indent="0">
              <a:lnSpc>
                <a:spcPct val="120000"/>
              </a:lnSpc>
              <a:buNone/>
            </a:pPr>
            <a:r>
              <a:rPr lang="en-US" sz="1250" dirty="0">
                <a:solidFill>
                  <a:srgbClr val="1C1C1C"/>
                </a:solidFill>
                <a:latin typeface="Calibri" pitchFamily="34" charset="0"/>
                <a:ea typeface="Calibri" pitchFamily="34" charset="-122"/>
                <a:cs typeface="Calibri" pitchFamily="34" charset="-120"/>
              </a:rPr>
              <a:t>Rebalance only when an asset class drifts more than ~5% from its target allocation. Reacts to actual market moves, not the calendar.</a:t>
            </a:r>
            <a:endParaRPr lang="en-US" sz="1250" dirty="0"/>
          </a:p>
        </p:txBody>
      </p:sp>
      <p:sp>
        <p:nvSpPr>
          <p:cNvPr id="11" name="Shape 9"/>
          <p:cNvSpPr/>
          <p:nvPr/>
        </p:nvSpPr>
        <p:spPr>
          <a:xfrm>
            <a:off x="548640" y="4343400"/>
            <a:ext cx="11109960" cy="1051560"/>
          </a:xfrm>
          <a:prstGeom prst="roundRect">
            <a:avLst>
              <a:gd name="adj" fmla="val 6957"/>
            </a:avLst>
          </a:prstGeom>
          <a:solidFill>
            <a:srgbClr val="0A2A43"/>
          </a:solidFill>
          <a:ln/>
          <a:effectLst>
            <a:outerShdw blurRad="76200" dist="25400" dir="5400000" algn="bl" rotWithShape="0">
              <a:srgbClr val="1B1B1B">
                <a:alpha val="12000"/>
              </a:srgbClr>
            </a:outerShdw>
          </a:effectLst>
        </p:spPr>
        <p:txBody>
          <a:bodyPr/>
          <a:lstStyle/>
          <a:p>
            <a:endParaRPr lang="en-IN"/>
          </a:p>
        </p:txBody>
      </p:sp>
      <p:sp>
        <p:nvSpPr>
          <p:cNvPr id="12" name="Text 10"/>
          <p:cNvSpPr txBox="1"/>
          <p:nvPr/>
        </p:nvSpPr>
        <p:spPr>
          <a:xfrm>
            <a:off x="868680" y="4480560"/>
            <a:ext cx="10515600" cy="777240"/>
          </a:xfrm>
          <a:prstGeom prst="rect">
            <a:avLst/>
          </a:prstGeom>
          <a:noFill/>
          <a:ln/>
        </p:spPr>
        <p:txBody>
          <a:bodyPr wrap="square" lIns="0" tIns="0" rIns="0" bIns="0" rtlCol="0" anchor="ctr"/>
          <a:lstStyle/>
          <a:p>
            <a:pPr marL="0" indent="0">
              <a:lnSpc>
                <a:spcPct val="120000"/>
              </a:lnSpc>
              <a:buNone/>
            </a:pPr>
            <a:r>
              <a:rPr lang="en-US" sz="1400" b="1" dirty="0">
                <a:solidFill>
                  <a:srgbClr val="F4A300"/>
                </a:solidFill>
                <a:latin typeface="Calibri" pitchFamily="34" charset="0"/>
                <a:ea typeface="Calibri" pitchFamily="34" charset="-122"/>
                <a:cs typeface="Calibri" pitchFamily="34" charset="-120"/>
              </a:rPr>
              <a:t>Example: target is 70% equity / 30% debt. A strong equity rally drifts you to 78% / 22% → trim equity, add debt, back to 70/30.</a:t>
            </a:r>
            <a:endParaRPr lang="en-US" sz="1400" dirty="0"/>
          </a:p>
        </p:txBody>
      </p:sp>
      <p:sp>
        <p:nvSpPr>
          <p:cNvPr id="13" name="Shape 11"/>
          <p:cNvSpPr/>
          <p:nvPr/>
        </p:nvSpPr>
        <p:spPr>
          <a:xfrm>
            <a:off x="548640" y="5577840"/>
            <a:ext cx="11109960" cy="731520"/>
          </a:xfrm>
          <a:prstGeom prst="roundRect">
            <a:avLst>
              <a:gd name="adj" fmla="val 10000"/>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14" name="Text 12"/>
          <p:cNvSpPr txBox="1"/>
          <p:nvPr/>
        </p:nvSpPr>
        <p:spPr>
          <a:xfrm>
            <a:off x="868680" y="5577840"/>
            <a:ext cx="10515600" cy="731520"/>
          </a:xfrm>
          <a:prstGeom prst="rect">
            <a:avLst/>
          </a:prstGeom>
          <a:noFill/>
          <a:ln/>
        </p:spPr>
        <p:txBody>
          <a:bodyPr wrap="square" lIns="0" tIns="0" rIns="0" bIns="0" rtlCol="0" anchor="ctr"/>
          <a:lstStyle/>
          <a:p>
            <a:pPr marL="0" indent="0">
              <a:lnSpc>
                <a:spcPct val="115000"/>
              </a:lnSpc>
              <a:buNone/>
            </a:pPr>
            <a:r>
              <a:rPr lang="en-US" sz="1250" b="1" i="1" dirty="0">
                <a:solidFill>
                  <a:srgbClr val="0A2A43"/>
                </a:solidFill>
                <a:latin typeface="Calibri" pitchFamily="34" charset="0"/>
                <a:ea typeface="Calibri" pitchFamily="34" charset="-122"/>
                <a:cs typeface="Calibri" pitchFamily="34" charset="-120"/>
              </a:rPr>
              <a:t>Reminder: checking portfolio values daily and reacting emotionally is already on the common-mistakes list — rebalancing needs a rule, not a mood.</a:t>
            </a:r>
            <a:endParaRPr lang="en-US" sz="1250" dirty="0"/>
          </a:p>
        </p:txBody>
      </p:sp>
      <p:sp>
        <p:nvSpPr>
          <p:cNvPr id="15" name="Text 13"/>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900" dirty="0">
                <a:solidFill>
                  <a:srgbClr val="8A97A0"/>
                </a:solidFill>
                <a:latin typeface="Calibri" pitchFamily="34" charset="0"/>
                <a:ea typeface="Calibri" pitchFamily="34" charset="-122"/>
                <a:cs typeface="Calibri" pitchFamily="34" charset="-120"/>
              </a:rPr>
              <a:t>Mutual Funds: What My Investing Journey Taught Me</a:t>
            </a:r>
            <a:endParaRPr lang="en-US" sz="900" dirty="0"/>
          </a:p>
        </p:txBody>
      </p:sp>
      <p:sp>
        <p:nvSpPr>
          <p:cNvPr id="16" name="Text 14"/>
          <p:cNvSpPr txBox="1"/>
          <p:nvPr/>
        </p:nvSpPr>
        <p:spPr>
          <a:xfrm>
            <a:off x="11000232" y="6473952"/>
            <a:ext cx="731520" cy="274320"/>
          </a:xfrm>
          <a:prstGeom prst="rect">
            <a:avLst/>
          </a:prstGeom>
          <a:noFill/>
          <a:ln/>
        </p:spPr>
        <p:txBody>
          <a:bodyPr wrap="square" lIns="0" tIns="0" rIns="0" bIns="0" rtlCol="0" anchor="ctr"/>
          <a:lstStyle/>
          <a:p>
            <a:pPr marL="0" indent="0" algn="r">
              <a:buNone/>
            </a:pPr>
            <a:r>
              <a:rPr lang="en-US" sz="900" dirty="0">
                <a:solidFill>
                  <a:srgbClr val="8A97A0"/>
                </a:solidFill>
                <a:latin typeface="Calibri" pitchFamily="34" charset="0"/>
                <a:ea typeface="Calibri" pitchFamily="34" charset="-122"/>
                <a:cs typeface="Calibri" pitchFamily="34" charset="-120"/>
              </a:rPr>
              <a:t>28 / 31</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LEARN FROM OTHERS</a:t>
            </a:r>
            <a:endParaRPr lang="en-US" sz="1300" dirty="0"/>
          </a:p>
        </p:txBody>
      </p:sp>
      <p:sp>
        <p:nvSpPr>
          <p:cNvPr id="3" name="Text 1"/>
          <p:cNvSpPr txBox="1"/>
          <p:nvPr/>
        </p:nvSpPr>
        <p:spPr>
          <a:xfrm>
            <a:off x="548640" y="685800"/>
            <a:ext cx="11064240" cy="822960"/>
          </a:xfrm>
          <a:prstGeom prst="rect">
            <a:avLst/>
          </a:prstGeom>
          <a:noFill/>
          <a:ln/>
        </p:spPr>
        <p:txBody>
          <a:bodyPr wrap="square" lIns="0" tIns="0" rIns="0" bIns="0" rtlCol="0" anchor="ctr"/>
          <a:lstStyle/>
          <a:p>
            <a:pPr marL="0" indent="0">
              <a:buNone/>
            </a:pPr>
            <a:r>
              <a:rPr lang="en-US" sz="3000" b="1" dirty="0">
                <a:solidFill>
                  <a:srgbClr val="0A2A43"/>
                </a:solidFill>
                <a:latin typeface="Cambria" pitchFamily="34" charset="0"/>
                <a:ea typeface="Cambria" pitchFamily="34" charset="-122"/>
                <a:cs typeface="Cambria" pitchFamily="34" charset="-120"/>
              </a:rPr>
              <a:t>Common Mistakes Investors Make</a:t>
            </a:r>
            <a:endParaRPr lang="en-US" sz="3000" dirty="0"/>
          </a:p>
        </p:txBody>
      </p:sp>
      <p:sp>
        <p:nvSpPr>
          <p:cNvPr id="4" name="Shape 2"/>
          <p:cNvSpPr/>
          <p:nvPr/>
        </p:nvSpPr>
        <p:spPr>
          <a:xfrm>
            <a:off x="548640" y="1691640"/>
            <a:ext cx="5394960" cy="713232"/>
          </a:xfrm>
          <a:prstGeom prst="roundRect">
            <a:avLst>
              <a:gd name="adj" fmla="val 10256"/>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5" name="Shape 3"/>
          <p:cNvSpPr/>
          <p:nvPr/>
        </p:nvSpPr>
        <p:spPr>
          <a:xfrm>
            <a:off x="694944" y="1883664"/>
            <a:ext cx="329184" cy="329184"/>
          </a:xfrm>
          <a:prstGeom prst="ellipse">
            <a:avLst/>
          </a:prstGeom>
          <a:solidFill>
            <a:srgbClr val="C0392B"/>
          </a:solidFill>
          <a:ln/>
        </p:spPr>
        <p:txBody>
          <a:bodyPr/>
          <a:lstStyle/>
          <a:p>
            <a:endParaRPr lang="en-IN"/>
          </a:p>
        </p:txBody>
      </p:sp>
      <p:sp>
        <p:nvSpPr>
          <p:cNvPr id="6" name="Text 4"/>
          <p:cNvSpPr txBox="1"/>
          <p:nvPr/>
        </p:nvSpPr>
        <p:spPr>
          <a:xfrm>
            <a:off x="649224" y="1883664"/>
            <a:ext cx="42062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7" name="Text 5"/>
          <p:cNvSpPr txBox="1"/>
          <p:nvPr/>
        </p:nvSpPr>
        <p:spPr>
          <a:xfrm>
            <a:off x="1170432" y="1691640"/>
            <a:ext cx="4617720" cy="713232"/>
          </a:xfrm>
          <a:prstGeom prst="rect">
            <a:avLst/>
          </a:prstGeom>
          <a:noFill/>
          <a:ln/>
        </p:spPr>
        <p:txBody>
          <a:bodyPr wrap="square" lIns="0" tIns="0" rIns="0" bIns="0" rtlCol="0" anchor="ctr"/>
          <a:lstStyle/>
          <a:p>
            <a:pPr marL="0" indent="0">
              <a:lnSpc>
                <a:spcPct val="105000"/>
              </a:lnSpc>
              <a:buNone/>
            </a:pPr>
            <a:r>
              <a:rPr lang="en-US" sz="1250" dirty="0">
                <a:solidFill>
                  <a:srgbClr val="1C1C1C"/>
                </a:solidFill>
                <a:latin typeface="Calibri" pitchFamily="34" charset="0"/>
                <a:ea typeface="Calibri" pitchFamily="34" charset="-122"/>
                <a:cs typeface="Calibri" pitchFamily="34" charset="-120"/>
              </a:rPr>
              <a:t>Choosing a fund because it topped a 1-year return table</a:t>
            </a:r>
            <a:endParaRPr lang="en-US" sz="1250" dirty="0"/>
          </a:p>
        </p:txBody>
      </p:sp>
      <p:sp>
        <p:nvSpPr>
          <p:cNvPr id="8" name="Shape 6"/>
          <p:cNvSpPr/>
          <p:nvPr/>
        </p:nvSpPr>
        <p:spPr>
          <a:xfrm>
            <a:off x="6217920" y="1691640"/>
            <a:ext cx="5394960" cy="713232"/>
          </a:xfrm>
          <a:prstGeom prst="roundRect">
            <a:avLst>
              <a:gd name="adj" fmla="val 10256"/>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9" name="Shape 7"/>
          <p:cNvSpPr/>
          <p:nvPr/>
        </p:nvSpPr>
        <p:spPr>
          <a:xfrm>
            <a:off x="6364224" y="1883664"/>
            <a:ext cx="329184" cy="329184"/>
          </a:xfrm>
          <a:prstGeom prst="ellipse">
            <a:avLst/>
          </a:prstGeom>
          <a:solidFill>
            <a:srgbClr val="C0392B"/>
          </a:solidFill>
          <a:ln/>
        </p:spPr>
        <p:txBody>
          <a:bodyPr/>
          <a:lstStyle/>
          <a:p>
            <a:endParaRPr lang="en-IN"/>
          </a:p>
        </p:txBody>
      </p:sp>
      <p:sp>
        <p:nvSpPr>
          <p:cNvPr id="10" name="Text 8"/>
          <p:cNvSpPr txBox="1"/>
          <p:nvPr/>
        </p:nvSpPr>
        <p:spPr>
          <a:xfrm>
            <a:off x="6318504" y="1883664"/>
            <a:ext cx="42062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1" name="Text 9"/>
          <p:cNvSpPr txBox="1"/>
          <p:nvPr/>
        </p:nvSpPr>
        <p:spPr>
          <a:xfrm>
            <a:off x="6839712" y="1691640"/>
            <a:ext cx="4617720" cy="713232"/>
          </a:xfrm>
          <a:prstGeom prst="rect">
            <a:avLst/>
          </a:prstGeom>
          <a:noFill/>
          <a:ln/>
        </p:spPr>
        <p:txBody>
          <a:bodyPr wrap="square" lIns="0" tIns="0" rIns="0" bIns="0" rtlCol="0" anchor="ctr"/>
          <a:lstStyle/>
          <a:p>
            <a:pPr marL="0" indent="0">
              <a:lnSpc>
                <a:spcPct val="105000"/>
              </a:lnSpc>
              <a:buNone/>
            </a:pPr>
            <a:r>
              <a:rPr lang="en-US" sz="1250" dirty="0">
                <a:solidFill>
                  <a:srgbClr val="1C1C1C"/>
                </a:solidFill>
                <a:latin typeface="Calibri" pitchFamily="34" charset="0"/>
                <a:ea typeface="Calibri" pitchFamily="34" charset="-122"/>
                <a:cs typeface="Calibri" pitchFamily="34" charset="-120"/>
              </a:rPr>
              <a:t>Buying because a friend or influencer mentioned it</a:t>
            </a:r>
            <a:endParaRPr lang="en-US" sz="1250" dirty="0"/>
          </a:p>
        </p:txBody>
      </p:sp>
      <p:sp>
        <p:nvSpPr>
          <p:cNvPr id="12" name="Shape 10"/>
          <p:cNvSpPr/>
          <p:nvPr/>
        </p:nvSpPr>
        <p:spPr>
          <a:xfrm>
            <a:off x="548640" y="2532888"/>
            <a:ext cx="5394960" cy="713232"/>
          </a:xfrm>
          <a:prstGeom prst="roundRect">
            <a:avLst>
              <a:gd name="adj" fmla="val 10256"/>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13" name="Shape 11"/>
          <p:cNvSpPr/>
          <p:nvPr/>
        </p:nvSpPr>
        <p:spPr>
          <a:xfrm>
            <a:off x="694944" y="2724912"/>
            <a:ext cx="329184" cy="329184"/>
          </a:xfrm>
          <a:prstGeom prst="ellipse">
            <a:avLst/>
          </a:prstGeom>
          <a:solidFill>
            <a:srgbClr val="C0392B"/>
          </a:solidFill>
          <a:ln/>
        </p:spPr>
        <p:txBody>
          <a:bodyPr/>
          <a:lstStyle/>
          <a:p>
            <a:endParaRPr lang="en-IN"/>
          </a:p>
        </p:txBody>
      </p:sp>
      <p:sp>
        <p:nvSpPr>
          <p:cNvPr id="14" name="Text 12"/>
          <p:cNvSpPr txBox="1"/>
          <p:nvPr/>
        </p:nvSpPr>
        <p:spPr>
          <a:xfrm>
            <a:off x="649224" y="2724912"/>
            <a:ext cx="42062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5" name="Text 13"/>
          <p:cNvSpPr txBox="1"/>
          <p:nvPr/>
        </p:nvSpPr>
        <p:spPr>
          <a:xfrm>
            <a:off x="1170432" y="2532888"/>
            <a:ext cx="4617720" cy="713232"/>
          </a:xfrm>
          <a:prstGeom prst="rect">
            <a:avLst/>
          </a:prstGeom>
          <a:noFill/>
          <a:ln/>
        </p:spPr>
        <p:txBody>
          <a:bodyPr wrap="square" lIns="0" tIns="0" rIns="0" bIns="0" rtlCol="0" anchor="ctr"/>
          <a:lstStyle/>
          <a:p>
            <a:pPr marL="0" indent="0">
              <a:lnSpc>
                <a:spcPct val="105000"/>
              </a:lnSpc>
              <a:buNone/>
            </a:pPr>
            <a:r>
              <a:rPr lang="en-US" sz="1250" dirty="0">
                <a:solidFill>
                  <a:srgbClr val="1C1C1C"/>
                </a:solidFill>
                <a:latin typeface="Calibri" pitchFamily="34" charset="0"/>
                <a:ea typeface="Calibri" pitchFamily="34" charset="-122"/>
                <a:cs typeface="Calibri" pitchFamily="34" charset="-120"/>
              </a:rPr>
              <a:t>Buying several funds in the same category without a reason</a:t>
            </a:r>
            <a:endParaRPr lang="en-US" sz="1250" dirty="0"/>
          </a:p>
        </p:txBody>
      </p:sp>
      <p:sp>
        <p:nvSpPr>
          <p:cNvPr id="16" name="Shape 14"/>
          <p:cNvSpPr/>
          <p:nvPr/>
        </p:nvSpPr>
        <p:spPr>
          <a:xfrm>
            <a:off x="6217920" y="2532888"/>
            <a:ext cx="5394960" cy="713232"/>
          </a:xfrm>
          <a:prstGeom prst="roundRect">
            <a:avLst>
              <a:gd name="adj" fmla="val 10256"/>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17" name="Shape 15"/>
          <p:cNvSpPr/>
          <p:nvPr/>
        </p:nvSpPr>
        <p:spPr>
          <a:xfrm>
            <a:off x="6364224" y="2724912"/>
            <a:ext cx="329184" cy="329184"/>
          </a:xfrm>
          <a:prstGeom prst="ellipse">
            <a:avLst/>
          </a:prstGeom>
          <a:solidFill>
            <a:srgbClr val="C0392B"/>
          </a:solidFill>
          <a:ln/>
        </p:spPr>
        <p:txBody>
          <a:bodyPr/>
          <a:lstStyle/>
          <a:p>
            <a:endParaRPr lang="en-IN"/>
          </a:p>
        </p:txBody>
      </p:sp>
      <p:sp>
        <p:nvSpPr>
          <p:cNvPr id="18" name="Text 16"/>
          <p:cNvSpPr txBox="1"/>
          <p:nvPr/>
        </p:nvSpPr>
        <p:spPr>
          <a:xfrm>
            <a:off x="6318504" y="2724912"/>
            <a:ext cx="42062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9" name="Text 17"/>
          <p:cNvSpPr txBox="1"/>
          <p:nvPr/>
        </p:nvSpPr>
        <p:spPr>
          <a:xfrm>
            <a:off x="6839712" y="2532888"/>
            <a:ext cx="4617720" cy="713232"/>
          </a:xfrm>
          <a:prstGeom prst="rect">
            <a:avLst/>
          </a:prstGeom>
          <a:noFill/>
          <a:ln/>
        </p:spPr>
        <p:txBody>
          <a:bodyPr wrap="square" lIns="0" tIns="0" rIns="0" bIns="0" rtlCol="0" anchor="ctr"/>
          <a:lstStyle/>
          <a:p>
            <a:pPr marL="0" indent="0">
              <a:lnSpc>
                <a:spcPct val="105000"/>
              </a:lnSpc>
              <a:buNone/>
            </a:pPr>
            <a:r>
              <a:rPr lang="en-US" sz="1250" dirty="0">
                <a:solidFill>
                  <a:srgbClr val="1C1C1C"/>
                </a:solidFill>
                <a:latin typeface="Calibri" pitchFamily="34" charset="0"/>
                <a:ea typeface="Calibri" pitchFamily="34" charset="-122"/>
                <a:cs typeface="Calibri" pitchFamily="34" charset="-120"/>
              </a:rPr>
              <a:t>Ignoring overlapping holdings</a:t>
            </a:r>
            <a:endParaRPr lang="en-US" sz="1250" dirty="0"/>
          </a:p>
        </p:txBody>
      </p:sp>
      <p:sp>
        <p:nvSpPr>
          <p:cNvPr id="20" name="Shape 18"/>
          <p:cNvSpPr/>
          <p:nvPr/>
        </p:nvSpPr>
        <p:spPr>
          <a:xfrm>
            <a:off x="548640" y="3374136"/>
            <a:ext cx="5394960" cy="713232"/>
          </a:xfrm>
          <a:prstGeom prst="roundRect">
            <a:avLst>
              <a:gd name="adj" fmla="val 10256"/>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21" name="Shape 19"/>
          <p:cNvSpPr/>
          <p:nvPr/>
        </p:nvSpPr>
        <p:spPr>
          <a:xfrm>
            <a:off x="694944" y="3566160"/>
            <a:ext cx="329184" cy="329184"/>
          </a:xfrm>
          <a:prstGeom prst="ellipse">
            <a:avLst/>
          </a:prstGeom>
          <a:solidFill>
            <a:srgbClr val="C0392B"/>
          </a:solidFill>
          <a:ln/>
        </p:spPr>
        <p:txBody>
          <a:bodyPr/>
          <a:lstStyle/>
          <a:p>
            <a:endParaRPr lang="en-IN"/>
          </a:p>
        </p:txBody>
      </p:sp>
      <p:sp>
        <p:nvSpPr>
          <p:cNvPr id="22" name="Text 20"/>
          <p:cNvSpPr txBox="1"/>
          <p:nvPr/>
        </p:nvSpPr>
        <p:spPr>
          <a:xfrm>
            <a:off x="649224" y="3566160"/>
            <a:ext cx="42062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3" name="Text 21"/>
          <p:cNvSpPr txBox="1"/>
          <p:nvPr/>
        </p:nvSpPr>
        <p:spPr>
          <a:xfrm>
            <a:off x="1170432" y="3374136"/>
            <a:ext cx="4617720" cy="713232"/>
          </a:xfrm>
          <a:prstGeom prst="rect">
            <a:avLst/>
          </a:prstGeom>
          <a:noFill/>
          <a:ln/>
        </p:spPr>
        <p:txBody>
          <a:bodyPr wrap="square" lIns="0" tIns="0" rIns="0" bIns="0" rtlCol="0" anchor="ctr"/>
          <a:lstStyle/>
          <a:p>
            <a:pPr marL="0" indent="0">
              <a:lnSpc>
                <a:spcPct val="105000"/>
              </a:lnSpc>
              <a:buNone/>
            </a:pPr>
            <a:r>
              <a:rPr lang="en-US" sz="1250" dirty="0">
                <a:solidFill>
                  <a:srgbClr val="1C1C1C"/>
                </a:solidFill>
                <a:latin typeface="Calibri" pitchFamily="34" charset="0"/>
                <a:ea typeface="Calibri" pitchFamily="34" charset="-122"/>
                <a:cs typeface="Calibri" pitchFamily="34" charset="-120"/>
              </a:rPr>
              <a:t>Ignoring expense ratio and exit load</a:t>
            </a:r>
            <a:endParaRPr lang="en-US" sz="1250" dirty="0"/>
          </a:p>
        </p:txBody>
      </p:sp>
      <p:sp>
        <p:nvSpPr>
          <p:cNvPr id="24" name="Shape 22"/>
          <p:cNvSpPr/>
          <p:nvPr/>
        </p:nvSpPr>
        <p:spPr>
          <a:xfrm>
            <a:off x="6217920" y="3374136"/>
            <a:ext cx="5394960" cy="713232"/>
          </a:xfrm>
          <a:prstGeom prst="roundRect">
            <a:avLst>
              <a:gd name="adj" fmla="val 10256"/>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25" name="Shape 23"/>
          <p:cNvSpPr/>
          <p:nvPr/>
        </p:nvSpPr>
        <p:spPr>
          <a:xfrm>
            <a:off x="6364224" y="3566160"/>
            <a:ext cx="329184" cy="329184"/>
          </a:xfrm>
          <a:prstGeom prst="ellipse">
            <a:avLst/>
          </a:prstGeom>
          <a:solidFill>
            <a:srgbClr val="C0392B"/>
          </a:solidFill>
          <a:ln/>
        </p:spPr>
        <p:txBody>
          <a:bodyPr/>
          <a:lstStyle/>
          <a:p>
            <a:endParaRPr lang="en-IN"/>
          </a:p>
        </p:txBody>
      </p:sp>
      <p:sp>
        <p:nvSpPr>
          <p:cNvPr id="26" name="Text 24"/>
          <p:cNvSpPr txBox="1"/>
          <p:nvPr/>
        </p:nvSpPr>
        <p:spPr>
          <a:xfrm>
            <a:off x="6318504" y="3566160"/>
            <a:ext cx="42062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7" name="Text 25"/>
          <p:cNvSpPr txBox="1"/>
          <p:nvPr/>
        </p:nvSpPr>
        <p:spPr>
          <a:xfrm>
            <a:off x="6839712" y="3374136"/>
            <a:ext cx="4617720" cy="713232"/>
          </a:xfrm>
          <a:prstGeom prst="rect">
            <a:avLst/>
          </a:prstGeom>
          <a:noFill/>
          <a:ln/>
        </p:spPr>
        <p:txBody>
          <a:bodyPr wrap="square" lIns="0" tIns="0" rIns="0" bIns="0" rtlCol="0" anchor="ctr"/>
          <a:lstStyle/>
          <a:p>
            <a:pPr marL="0" indent="0">
              <a:lnSpc>
                <a:spcPct val="105000"/>
              </a:lnSpc>
              <a:buNone/>
            </a:pPr>
            <a:r>
              <a:rPr lang="en-US" sz="1250" dirty="0">
                <a:solidFill>
                  <a:srgbClr val="1C1C1C"/>
                </a:solidFill>
                <a:latin typeface="Calibri" pitchFamily="34" charset="0"/>
                <a:ea typeface="Calibri" pitchFamily="34" charset="-122"/>
                <a:cs typeface="Calibri" pitchFamily="34" charset="-120"/>
              </a:rPr>
              <a:t>Treating SIP as a guarantee</a:t>
            </a:r>
            <a:endParaRPr lang="en-US" sz="1250" dirty="0"/>
          </a:p>
        </p:txBody>
      </p:sp>
      <p:sp>
        <p:nvSpPr>
          <p:cNvPr id="28" name="Shape 26"/>
          <p:cNvSpPr/>
          <p:nvPr/>
        </p:nvSpPr>
        <p:spPr>
          <a:xfrm>
            <a:off x="548640" y="4215384"/>
            <a:ext cx="5394960" cy="713232"/>
          </a:xfrm>
          <a:prstGeom prst="roundRect">
            <a:avLst>
              <a:gd name="adj" fmla="val 10256"/>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29" name="Shape 27"/>
          <p:cNvSpPr/>
          <p:nvPr/>
        </p:nvSpPr>
        <p:spPr>
          <a:xfrm>
            <a:off x="694944" y="4407408"/>
            <a:ext cx="329184" cy="329184"/>
          </a:xfrm>
          <a:prstGeom prst="ellipse">
            <a:avLst/>
          </a:prstGeom>
          <a:solidFill>
            <a:srgbClr val="C0392B"/>
          </a:solidFill>
          <a:ln/>
        </p:spPr>
        <p:txBody>
          <a:bodyPr/>
          <a:lstStyle/>
          <a:p>
            <a:endParaRPr lang="en-IN"/>
          </a:p>
        </p:txBody>
      </p:sp>
      <p:sp>
        <p:nvSpPr>
          <p:cNvPr id="30" name="Text 28"/>
          <p:cNvSpPr txBox="1"/>
          <p:nvPr/>
        </p:nvSpPr>
        <p:spPr>
          <a:xfrm>
            <a:off x="649224" y="4407408"/>
            <a:ext cx="42062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1" name="Text 29"/>
          <p:cNvSpPr txBox="1"/>
          <p:nvPr/>
        </p:nvSpPr>
        <p:spPr>
          <a:xfrm>
            <a:off x="1170432" y="4215384"/>
            <a:ext cx="4617720" cy="713232"/>
          </a:xfrm>
          <a:prstGeom prst="rect">
            <a:avLst/>
          </a:prstGeom>
          <a:noFill/>
          <a:ln/>
        </p:spPr>
        <p:txBody>
          <a:bodyPr wrap="square" lIns="0" tIns="0" rIns="0" bIns="0" rtlCol="0" anchor="ctr"/>
          <a:lstStyle/>
          <a:p>
            <a:pPr marL="0" indent="0">
              <a:lnSpc>
                <a:spcPct val="105000"/>
              </a:lnSpc>
              <a:buNone/>
            </a:pPr>
            <a:r>
              <a:rPr lang="en-US" sz="1250" dirty="0">
                <a:solidFill>
                  <a:srgbClr val="1C1C1C"/>
                </a:solidFill>
                <a:latin typeface="Calibri" pitchFamily="34" charset="0"/>
                <a:ea typeface="Calibri" pitchFamily="34" charset="-122"/>
                <a:cs typeface="Calibri" pitchFamily="34" charset="-120"/>
              </a:rPr>
              <a:t>Stopping a long-term plan just because markets corrected</a:t>
            </a:r>
            <a:endParaRPr lang="en-US" sz="1250" dirty="0"/>
          </a:p>
        </p:txBody>
      </p:sp>
      <p:sp>
        <p:nvSpPr>
          <p:cNvPr id="32" name="Shape 30"/>
          <p:cNvSpPr/>
          <p:nvPr/>
        </p:nvSpPr>
        <p:spPr>
          <a:xfrm>
            <a:off x="6217920" y="4215384"/>
            <a:ext cx="5394960" cy="713232"/>
          </a:xfrm>
          <a:prstGeom prst="roundRect">
            <a:avLst>
              <a:gd name="adj" fmla="val 10256"/>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33" name="Shape 31"/>
          <p:cNvSpPr/>
          <p:nvPr/>
        </p:nvSpPr>
        <p:spPr>
          <a:xfrm>
            <a:off x="6364224" y="4407408"/>
            <a:ext cx="329184" cy="329184"/>
          </a:xfrm>
          <a:prstGeom prst="ellipse">
            <a:avLst/>
          </a:prstGeom>
          <a:solidFill>
            <a:srgbClr val="C0392B"/>
          </a:solidFill>
          <a:ln/>
        </p:spPr>
        <p:txBody>
          <a:bodyPr/>
          <a:lstStyle/>
          <a:p>
            <a:endParaRPr lang="en-IN"/>
          </a:p>
        </p:txBody>
      </p:sp>
      <p:sp>
        <p:nvSpPr>
          <p:cNvPr id="34" name="Text 32"/>
          <p:cNvSpPr txBox="1"/>
          <p:nvPr/>
        </p:nvSpPr>
        <p:spPr>
          <a:xfrm>
            <a:off x="6318504" y="4407408"/>
            <a:ext cx="42062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5" name="Text 33"/>
          <p:cNvSpPr txBox="1"/>
          <p:nvPr/>
        </p:nvSpPr>
        <p:spPr>
          <a:xfrm>
            <a:off x="6839712" y="4215384"/>
            <a:ext cx="4617720" cy="713232"/>
          </a:xfrm>
          <a:prstGeom prst="rect">
            <a:avLst/>
          </a:prstGeom>
          <a:noFill/>
          <a:ln/>
        </p:spPr>
        <p:txBody>
          <a:bodyPr wrap="square" lIns="0" tIns="0" rIns="0" bIns="0" rtlCol="0" anchor="ctr"/>
          <a:lstStyle/>
          <a:p>
            <a:pPr marL="0" indent="0">
              <a:lnSpc>
                <a:spcPct val="105000"/>
              </a:lnSpc>
              <a:buNone/>
            </a:pPr>
            <a:r>
              <a:rPr lang="en-US" sz="1250" dirty="0">
                <a:solidFill>
                  <a:srgbClr val="1C1C1C"/>
                </a:solidFill>
                <a:latin typeface="Calibri" pitchFamily="34" charset="0"/>
                <a:ea typeface="Calibri" pitchFamily="34" charset="-122"/>
                <a:cs typeface="Calibri" pitchFamily="34" charset="-120"/>
              </a:rPr>
              <a:t>Using equity funds for near-term money needs</a:t>
            </a:r>
            <a:endParaRPr lang="en-US" sz="1250" dirty="0"/>
          </a:p>
        </p:txBody>
      </p:sp>
      <p:sp>
        <p:nvSpPr>
          <p:cNvPr id="36" name="Shape 34"/>
          <p:cNvSpPr/>
          <p:nvPr/>
        </p:nvSpPr>
        <p:spPr>
          <a:xfrm>
            <a:off x="548640" y="5056632"/>
            <a:ext cx="5394960" cy="713232"/>
          </a:xfrm>
          <a:prstGeom prst="roundRect">
            <a:avLst>
              <a:gd name="adj" fmla="val 10256"/>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37" name="Shape 35"/>
          <p:cNvSpPr/>
          <p:nvPr/>
        </p:nvSpPr>
        <p:spPr>
          <a:xfrm>
            <a:off x="694944" y="5248656"/>
            <a:ext cx="329184" cy="329184"/>
          </a:xfrm>
          <a:prstGeom prst="ellipse">
            <a:avLst/>
          </a:prstGeom>
          <a:solidFill>
            <a:srgbClr val="C0392B"/>
          </a:solidFill>
          <a:ln/>
        </p:spPr>
        <p:txBody>
          <a:bodyPr/>
          <a:lstStyle/>
          <a:p>
            <a:endParaRPr lang="en-IN"/>
          </a:p>
        </p:txBody>
      </p:sp>
      <p:sp>
        <p:nvSpPr>
          <p:cNvPr id="38" name="Text 36"/>
          <p:cNvSpPr txBox="1"/>
          <p:nvPr/>
        </p:nvSpPr>
        <p:spPr>
          <a:xfrm>
            <a:off x="649224" y="5248656"/>
            <a:ext cx="42062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9" name="Text 37"/>
          <p:cNvSpPr txBox="1"/>
          <p:nvPr/>
        </p:nvSpPr>
        <p:spPr>
          <a:xfrm>
            <a:off x="1170432" y="5056632"/>
            <a:ext cx="4617720" cy="713232"/>
          </a:xfrm>
          <a:prstGeom prst="rect">
            <a:avLst/>
          </a:prstGeom>
          <a:noFill/>
          <a:ln/>
        </p:spPr>
        <p:txBody>
          <a:bodyPr wrap="square" lIns="0" tIns="0" rIns="0" bIns="0" rtlCol="0" anchor="ctr"/>
          <a:lstStyle/>
          <a:p>
            <a:pPr marL="0" indent="0">
              <a:lnSpc>
                <a:spcPct val="105000"/>
              </a:lnSpc>
              <a:buNone/>
            </a:pPr>
            <a:r>
              <a:rPr lang="en-US" sz="1250" dirty="0">
                <a:solidFill>
                  <a:srgbClr val="1C1C1C"/>
                </a:solidFill>
                <a:latin typeface="Calibri" pitchFamily="34" charset="0"/>
                <a:ea typeface="Calibri" pitchFamily="34" charset="-122"/>
                <a:cs typeface="Calibri" pitchFamily="34" charset="-120"/>
              </a:rPr>
              <a:t>Checking portfolio values daily and reacting emotionally</a:t>
            </a:r>
            <a:endParaRPr lang="en-US" sz="1250" dirty="0"/>
          </a:p>
        </p:txBody>
      </p:sp>
      <p:sp>
        <p:nvSpPr>
          <p:cNvPr id="40" name="Shape 38"/>
          <p:cNvSpPr/>
          <p:nvPr/>
        </p:nvSpPr>
        <p:spPr>
          <a:xfrm>
            <a:off x="6217920" y="5056632"/>
            <a:ext cx="5394960" cy="713232"/>
          </a:xfrm>
          <a:prstGeom prst="roundRect">
            <a:avLst>
              <a:gd name="adj" fmla="val 10256"/>
            </a:avLst>
          </a:prstGeom>
          <a:solidFill>
            <a:srgbClr val="F3F7F8"/>
          </a:solidFill>
          <a:ln/>
          <a:effectLst>
            <a:outerShdw blurRad="76200" dist="25400" dir="5400000" algn="bl" rotWithShape="0">
              <a:srgbClr val="1B1B1B">
                <a:alpha val="12000"/>
              </a:srgbClr>
            </a:outerShdw>
          </a:effectLst>
        </p:spPr>
        <p:txBody>
          <a:bodyPr/>
          <a:lstStyle/>
          <a:p>
            <a:endParaRPr lang="en-IN"/>
          </a:p>
        </p:txBody>
      </p:sp>
      <p:sp>
        <p:nvSpPr>
          <p:cNvPr id="41" name="Shape 39"/>
          <p:cNvSpPr/>
          <p:nvPr/>
        </p:nvSpPr>
        <p:spPr>
          <a:xfrm>
            <a:off x="6364224" y="5248656"/>
            <a:ext cx="329184" cy="329184"/>
          </a:xfrm>
          <a:prstGeom prst="ellipse">
            <a:avLst/>
          </a:prstGeom>
          <a:solidFill>
            <a:srgbClr val="C0392B"/>
          </a:solidFill>
          <a:ln/>
        </p:spPr>
        <p:txBody>
          <a:bodyPr/>
          <a:lstStyle/>
          <a:p>
            <a:endParaRPr lang="en-IN"/>
          </a:p>
        </p:txBody>
      </p:sp>
      <p:sp>
        <p:nvSpPr>
          <p:cNvPr id="42" name="Text 40"/>
          <p:cNvSpPr txBox="1"/>
          <p:nvPr/>
        </p:nvSpPr>
        <p:spPr>
          <a:xfrm>
            <a:off x="6318504" y="5248656"/>
            <a:ext cx="42062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3" name="Text 41"/>
          <p:cNvSpPr txBox="1"/>
          <p:nvPr/>
        </p:nvSpPr>
        <p:spPr>
          <a:xfrm>
            <a:off x="6839712" y="5056632"/>
            <a:ext cx="4617720" cy="713232"/>
          </a:xfrm>
          <a:prstGeom prst="rect">
            <a:avLst/>
          </a:prstGeom>
          <a:noFill/>
          <a:ln/>
        </p:spPr>
        <p:txBody>
          <a:bodyPr wrap="square" lIns="0" tIns="0" rIns="0" bIns="0" rtlCol="0" anchor="ctr"/>
          <a:lstStyle/>
          <a:p>
            <a:pPr marL="0" indent="0">
              <a:lnSpc>
                <a:spcPct val="105000"/>
              </a:lnSpc>
              <a:buNone/>
            </a:pPr>
            <a:r>
              <a:rPr lang="en-US" sz="1250" dirty="0">
                <a:solidFill>
                  <a:srgbClr val="1C1C1C"/>
                </a:solidFill>
                <a:latin typeface="Calibri" pitchFamily="34" charset="0"/>
                <a:ea typeface="Calibri" pitchFamily="34" charset="-122"/>
                <a:cs typeface="Calibri" pitchFamily="34" charset="-120"/>
              </a:rPr>
              <a:t>Never reviewing the portfolio after goals change</a:t>
            </a:r>
            <a:endParaRPr lang="en-US" sz="1250" dirty="0"/>
          </a:p>
        </p:txBody>
      </p:sp>
      <p:sp>
        <p:nvSpPr>
          <p:cNvPr id="44" name="Text 42"/>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900" dirty="0">
                <a:solidFill>
                  <a:srgbClr val="8A97A0"/>
                </a:solidFill>
                <a:latin typeface="Calibri" pitchFamily="34" charset="0"/>
                <a:ea typeface="Calibri" pitchFamily="34" charset="-122"/>
                <a:cs typeface="Calibri" pitchFamily="34" charset="-120"/>
              </a:rPr>
              <a:t>Mutual Funds: What My Investing Journey Taught Me</a:t>
            </a:r>
            <a:endParaRPr lang="en-US" sz="900" dirty="0"/>
          </a:p>
        </p:txBody>
      </p:sp>
      <p:sp>
        <p:nvSpPr>
          <p:cNvPr id="45" name="Text 43"/>
          <p:cNvSpPr txBox="1"/>
          <p:nvPr/>
        </p:nvSpPr>
        <p:spPr>
          <a:xfrm>
            <a:off x="11000232" y="6473952"/>
            <a:ext cx="731520" cy="274320"/>
          </a:xfrm>
          <a:prstGeom prst="rect">
            <a:avLst/>
          </a:prstGeom>
          <a:noFill/>
          <a:ln/>
        </p:spPr>
        <p:txBody>
          <a:bodyPr wrap="square" lIns="0" tIns="0" rIns="0" bIns="0" rtlCol="0" anchor="ctr"/>
          <a:lstStyle/>
          <a:p>
            <a:pPr marL="0" indent="0" algn="r">
              <a:buNone/>
            </a:pPr>
            <a:r>
              <a:rPr lang="en-US" sz="900" dirty="0">
                <a:solidFill>
                  <a:srgbClr val="8A97A0"/>
                </a:solidFill>
                <a:latin typeface="Calibri" pitchFamily="34" charset="0"/>
                <a:ea typeface="Calibri" pitchFamily="34" charset="-122"/>
                <a:cs typeface="Calibri" pitchFamily="34" charset="-120"/>
              </a:rPr>
              <a:t>29 / 31</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2A43"/>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300" b="1" kern="0" spc="200" dirty="0">
                <a:solidFill>
                  <a:srgbClr val="6FE7DD"/>
                </a:solidFill>
                <a:latin typeface="Calibri" pitchFamily="34" charset="0"/>
                <a:ea typeface="Calibri" pitchFamily="34" charset="-122"/>
                <a:cs typeface="Calibri" pitchFamily="34" charset="-120"/>
              </a:rPr>
              <a:t>CLOSING THOUGHT</a:t>
            </a:r>
            <a:endParaRPr lang="en-US" sz="1300" dirty="0"/>
          </a:p>
        </p:txBody>
      </p:sp>
      <p:sp>
        <p:nvSpPr>
          <p:cNvPr id="3" name="Text 1"/>
          <p:cNvSpPr txBox="1"/>
          <p:nvPr/>
        </p:nvSpPr>
        <p:spPr>
          <a:xfrm>
            <a:off x="548640" y="685800"/>
            <a:ext cx="11064240" cy="82296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Before You Invest Your Next ₹10,000…</a:t>
            </a:r>
            <a:endParaRPr lang="en-US" sz="3000" dirty="0"/>
          </a:p>
        </p:txBody>
      </p:sp>
      <p:sp>
        <p:nvSpPr>
          <p:cNvPr id="4" name="Shape 2"/>
          <p:cNvSpPr/>
          <p:nvPr/>
        </p:nvSpPr>
        <p:spPr>
          <a:xfrm>
            <a:off x="548640" y="1691640"/>
            <a:ext cx="2651760" cy="1051560"/>
          </a:xfrm>
          <a:prstGeom prst="roundRect">
            <a:avLst>
              <a:gd name="adj" fmla="val 6957"/>
            </a:avLst>
          </a:prstGeom>
          <a:solidFill>
            <a:srgbClr val="0F3A57"/>
          </a:solidFill>
          <a:ln/>
          <a:effectLst>
            <a:outerShdw blurRad="76200" dist="25400" dir="5400000" algn="bl" rotWithShape="0">
              <a:srgbClr val="1B1B1B">
                <a:alpha val="12000"/>
              </a:srgbClr>
            </a:outerShdw>
          </a:effectLst>
        </p:spPr>
        <p:txBody>
          <a:bodyPr/>
          <a:lstStyle/>
          <a:p>
            <a:endParaRPr lang="en-IN"/>
          </a:p>
        </p:txBody>
      </p:sp>
      <p:sp>
        <p:nvSpPr>
          <p:cNvPr id="5" name="Text 3"/>
          <p:cNvSpPr txBox="1"/>
          <p:nvPr/>
        </p:nvSpPr>
        <p:spPr>
          <a:xfrm>
            <a:off x="685800" y="1801368"/>
            <a:ext cx="548640" cy="45720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6" name="Text 4"/>
          <p:cNvSpPr txBox="1"/>
          <p:nvPr/>
        </p:nvSpPr>
        <p:spPr>
          <a:xfrm>
            <a:off x="685800" y="2194560"/>
            <a:ext cx="2377440" cy="502920"/>
          </a:xfrm>
          <a:prstGeom prst="rect">
            <a:avLst/>
          </a:prstGeom>
          <a:noFill/>
          <a:ln/>
        </p:spPr>
        <p:txBody>
          <a:bodyPr wrap="square" lIns="0" tIns="0" rIns="0" bIns="0" rtlCol="0" anchor="ctr"/>
          <a:lstStyle/>
          <a:p>
            <a:pPr marL="0" indent="0">
              <a:lnSpc>
                <a:spcPct val="105000"/>
              </a:lnSpc>
              <a:buNone/>
            </a:pPr>
            <a:r>
              <a:rPr lang="en-US" sz="1150" b="1" dirty="0">
                <a:solidFill>
                  <a:srgbClr val="FFFFFF"/>
                </a:solidFill>
                <a:latin typeface="Calibri" pitchFamily="34" charset="0"/>
                <a:ea typeface="Calibri" pitchFamily="34" charset="-122"/>
                <a:cs typeface="Calibri" pitchFamily="34" charset="-120"/>
              </a:rPr>
              <a:t>What is the goal?</a:t>
            </a:r>
            <a:endParaRPr lang="en-US" sz="1150" dirty="0"/>
          </a:p>
        </p:txBody>
      </p:sp>
      <p:sp>
        <p:nvSpPr>
          <p:cNvPr id="7" name="Shape 5"/>
          <p:cNvSpPr/>
          <p:nvPr/>
        </p:nvSpPr>
        <p:spPr>
          <a:xfrm>
            <a:off x="3337560" y="1691640"/>
            <a:ext cx="2651760" cy="1051560"/>
          </a:xfrm>
          <a:prstGeom prst="roundRect">
            <a:avLst>
              <a:gd name="adj" fmla="val 6957"/>
            </a:avLst>
          </a:prstGeom>
          <a:solidFill>
            <a:srgbClr val="0F3A57"/>
          </a:solidFill>
          <a:ln/>
          <a:effectLst>
            <a:outerShdw blurRad="76200" dist="25400" dir="5400000" algn="bl" rotWithShape="0">
              <a:srgbClr val="1B1B1B">
                <a:alpha val="12000"/>
              </a:srgbClr>
            </a:outerShdw>
          </a:effectLst>
        </p:spPr>
        <p:txBody>
          <a:bodyPr/>
          <a:lstStyle/>
          <a:p>
            <a:endParaRPr lang="en-IN"/>
          </a:p>
        </p:txBody>
      </p:sp>
      <p:sp>
        <p:nvSpPr>
          <p:cNvPr id="8" name="Text 6"/>
          <p:cNvSpPr txBox="1"/>
          <p:nvPr/>
        </p:nvSpPr>
        <p:spPr>
          <a:xfrm>
            <a:off x="3474720" y="1801368"/>
            <a:ext cx="548640" cy="45720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9" name="Text 7"/>
          <p:cNvSpPr txBox="1"/>
          <p:nvPr/>
        </p:nvSpPr>
        <p:spPr>
          <a:xfrm>
            <a:off x="3474720" y="2194560"/>
            <a:ext cx="2377440" cy="502920"/>
          </a:xfrm>
          <a:prstGeom prst="rect">
            <a:avLst/>
          </a:prstGeom>
          <a:noFill/>
          <a:ln/>
        </p:spPr>
        <p:txBody>
          <a:bodyPr wrap="square" lIns="0" tIns="0" rIns="0" bIns="0" rtlCol="0" anchor="ctr"/>
          <a:lstStyle/>
          <a:p>
            <a:pPr marL="0" indent="0">
              <a:lnSpc>
                <a:spcPct val="105000"/>
              </a:lnSpc>
              <a:buNone/>
            </a:pPr>
            <a:r>
              <a:rPr lang="en-US" sz="1150" b="1" dirty="0">
                <a:solidFill>
                  <a:srgbClr val="FFFFFF"/>
                </a:solidFill>
                <a:latin typeface="Calibri" pitchFamily="34" charset="0"/>
                <a:ea typeface="Calibri" pitchFamily="34" charset="-122"/>
                <a:cs typeface="Calibri" pitchFamily="34" charset="-120"/>
              </a:rPr>
              <a:t>How long can I stay invested?</a:t>
            </a:r>
            <a:endParaRPr lang="en-US" sz="1150" dirty="0"/>
          </a:p>
        </p:txBody>
      </p:sp>
      <p:sp>
        <p:nvSpPr>
          <p:cNvPr id="10" name="Shape 8"/>
          <p:cNvSpPr/>
          <p:nvPr/>
        </p:nvSpPr>
        <p:spPr>
          <a:xfrm>
            <a:off x="6126480" y="1691640"/>
            <a:ext cx="2651760" cy="1051560"/>
          </a:xfrm>
          <a:prstGeom prst="roundRect">
            <a:avLst>
              <a:gd name="adj" fmla="val 6957"/>
            </a:avLst>
          </a:prstGeom>
          <a:solidFill>
            <a:srgbClr val="0F3A57"/>
          </a:solidFill>
          <a:ln/>
          <a:effectLst>
            <a:outerShdw blurRad="76200" dist="25400" dir="5400000" algn="bl" rotWithShape="0">
              <a:srgbClr val="1B1B1B">
                <a:alpha val="12000"/>
              </a:srgbClr>
            </a:outerShdw>
          </a:effectLst>
        </p:spPr>
        <p:txBody>
          <a:bodyPr/>
          <a:lstStyle/>
          <a:p>
            <a:endParaRPr lang="en-IN"/>
          </a:p>
        </p:txBody>
      </p:sp>
      <p:sp>
        <p:nvSpPr>
          <p:cNvPr id="11" name="Text 9"/>
          <p:cNvSpPr txBox="1"/>
          <p:nvPr/>
        </p:nvSpPr>
        <p:spPr>
          <a:xfrm>
            <a:off x="6263640" y="1801368"/>
            <a:ext cx="548640" cy="45720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12" name="Text 10"/>
          <p:cNvSpPr txBox="1"/>
          <p:nvPr/>
        </p:nvSpPr>
        <p:spPr>
          <a:xfrm>
            <a:off x="6263640" y="2194560"/>
            <a:ext cx="2377440" cy="502920"/>
          </a:xfrm>
          <a:prstGeom prst="rect">
            <a:avLst/>
          </a:prstGeom>
          <a:noFill/>
          <a:ln/>
        </p:spPr>
        <p:txBody>
          <a:bodyPr wrap="square" lIns="0" tIns="0" rIns="0" bIns="0" rtlCol="0" anchor="ctr"/>
          <a:lstStyle/>
          <a:p>
            <a:pPr marL="0" indent="0">
              <a:lnSpc>
                <a:spcPct val="105000"/>
              </a:lnSpc>
              <a:buNone/>
            </a:pPr>
            <a:r>
              <a:rPr lang="en-US" sz="1150" b="1" dirty="0">
                <a:solidFill>
                  <a:srgbClr val="FFFFFF"/>
                </a:solidFill>
                <a:latin typeface="Calibri" pitchFamily="34" charset="0"/>
                <a:ea typeface="Calibri" pitchFamily="34" charset="-122"/>
                <a:cs typeface="Calibri" pitchFamily="34" charset="-120"/>
              </a:rPr>
              <a:t>What exactly am I buying?</a:t>
            </a:r>
            <a:endParaRPr lang="en-US" sz="1150" dirty="0"/>
          </a:p>
        </p:txBody>
      </p:sp>
      <p:sp>
        <p:nvSpPr>
          <p:cNvPr id="13" name="Shape 11"/>
          <p:cNvSpPr/>
          <p:nvPr/>
        </p:nvSpPr>
        <p:spPr>
          <a:xfrm>
            <a:off x="8915400" y="1691640"/>
            <a:ext cx="2651760" cy="1051560"/>
          </a:xfrm>
          <a:prstGeom prst="roundRect">
            <a:avLst>
              <a:gd name="adj" fmla="val 6957"/>
            </a:avLst>
          </a:prstGeom>
          <a:solidFill>
            <a:srgbClr val="0F3A57"/>
          </a:solidFill>
          <a:ln/>
          <a:effectLst>
            <a:outerShdw blurRad="76200" dist="25400" dir="5400000" algn="bl" rotWithShape="0">
              <a:srgbClr val="1B1B1B">
                <a:alpha val="12000"/>
              </a:srgbClr>
            </a:outerShdw>
          </a:effectLst>
        </p:spPr>
        <p:txBody>
          <a:bodyPr/>
          <a:lstStyle/>
          <a:p>
            <a:endParaRPr lang="en-IN"/>
          </a:p>
        </p:txBody>
      </p:sp>
      <p:sp>
        <p:nvSpPr>
          <p:cNvPr id="14" name="Text 12"/>
          <p:cNvSpPr txBox="1"/>
          <p:nvPr/>
        </p:nvSpPr>
        <p:spPr>
          <a:xfrm>
            <a:off x="9052560" y="1801368"/>
            <a:ext cx="548640" cy="45720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15" name="Text 13"/>
          <p:cNvSpPr txBox="1"/>
          <p:nvPr/>
        </p:nvSpPr>
        <p:spPr>
          <a:xfrm>
            <a:off x="9052560" y="2194560"/>
            <a:ext cx="2377440" cy="502920"/>
          </a:xfrm>
          <a:prstGeom prst="rect">
            <a:avLst/>
          </a:prstGeom>
          <a:noFill/>
          <a:ln/>
        </p:spPr>
        <p:txBody>
          <a:bodyPr wrap="square" lIns="0" tIns="0" rIns="0" bIns="0" rtlCol="0" anchor="ctr"/>
          <a:lstStyle/>
          <a:p>
            <a:pPr marL="0" indent="0">
              <a:lnSpc>
                <a:spcPct val="105000"/>
              </a:lnSpc>
              <a:buNone/>
            </a:pPr>
            <a:r>
              <a:rPr lang="en-US" sz="1150" b="1" dirty="0">
                <a:solidFill>
                  <a:srgbClr val="FFFFFF"/>
                </a:solidFill>
                <a:latin typeface="Calibri" pitchFamily="34" charset="0"/>
                <a:ea typeface="Calibri" pitchFamily="34" charset="-122"/>
                <a:cs typeface="Calibri" pitchFamily="34" charset="-120"/>
              </a:rPr>
              <a:t>What risks am I taking?</a:t>
            </a:r>
            <a:endParaRPr lang="en-US" sz="1150" dirty="0"/>
          </a:p>
        </p:txBody>
      </p:sp>
      <p:sp>
        <p:nvSpPr>
          <p:cNvPr id="16" name="Shape 14"/>
          <p:cNvSpPr/>
          <p:nvPr/>
        </p:nvSpPr>
        <p:spPr>
          <a:xfrm>
            <a:off x="548640" y="2880360"/>
            <a:ext cx="2651760" cy="1051560"/>
          </a:xfrm>
          <a:prstGeom prst="roundRect">
            <a:avLst>
              <a:gd name="adj" fmla="val 6957"/>
            </a:avLst>
          </a:prstGeom>
          <a:solidFill>
            <a:srgbClr val="0F3A57"/>
          </a:solidFill>
          <a:ln/>
          <a:effectLst>
            <a:outerShdw blurRad="76200" dist="25400" dir="5400000" algn="bl" rotWithShape="0">
              <a:srgbClr val="1B1B1B">
                <a:alpha val="12000"/>
              </a:srgbClr>
            </a:outerShdw>
          </a:effectLst>
        </p:spPr>
        <p:txBody>
          <a:bodyPr/>
          <a:lstStyle/>
          <a:p>
            <a:endParaRPr lang="en-IN"/>
          </a:p>
        </p:txBody>
      </p:sp>
      <p:sp>
        <p:nvSpPr>
          <p:cNvPr id="17" name="Text 15"/>
          <p:cNvSpPr txBox="1"/>
          <p:nvPr/>
        </p:nvSpPr>
        <p:spPr>
          <a:xfrm>
            <a:off x="685800" y="2990088"/>
            <a:ext cx="548640" cy="45720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18" name="Text 16"/>
          <p:cNvSpPr txBox="1"/>
          <p:nvPr/>
        </p:nvSpPr>
        <p:spPr>
          <a:xfrm>
            <a:off x="685800" y="3383280"/>
            <a:ext cx="2377440" cy="502920"/>
          </a:xfrm>
          <a:prstGeom prst="rect">
            <a:avLst/>
          </a:prstGeom>
          <a:noFill/>
          <a:ln/>
        </p:spPr>
        <p:txBody>
          <a:bodyPr wrap="square" lIns="0" tIns="0" rIns="0" bIns="0" rtlCol="0" anchor="ctr"/>
          <a:lstStyle/>
          <a:p>
            <a:pPr marL="0" indent="0">
              <a:lnSpc>
                <a:spcPct val="105000"/>
              </a:lnSpc>
              <a:buNone/>
            </a:pPr>
            <a:r>
              <a:rPr lang="en-US" sz="1150" b="1" dirty="0">
                <a:solidFill>
                  <a:srgbClr val="FFFFFF"/>
                </a:solidFill>
                <a:latin typeface="Calibri" pitchFamily="34" charset="0"/>
                <a:ea typeface="Calibri" pitchFamily="34" charset="-122"/>
                <a:cs typeface="Calibri" pitchFamily="34" charset="-120"/>
              </a:rPr>
              <a:t>What am I paying?</a:t>
            </a:r>
            <a:endParaRPr lang="en-US" sz="1150" dirty="0"/>
          </a:p>
        </p:txBody>
      </p:sp>
      <p:sp>
        <p:nvSpPr>
          <p:cNvPr id="19" name="Shape 17"/>
          <p:cNvSpPr/>
          <p:nvPr/>
        </p:nvSpPr>
        <p:spPr>
          <a:xfrm>
            <a:off x="3337560" y="2880360"/>
            <a:ext cx="2651760" cy="1051560"/>
          </a:xfrm>
          <a:prstGeom prst="roundRect">
            <a:avLst>
              <a:gd name="adj" fmla="val 6957"/>
            </a:avLst>
          </a:prstGeom>
          <a:solidFill>
            <a:srgbClr val="0F3A57"/>
          </a:solidFill>
          <a:ln/>
          <a:effectLst>
            <a:outerShdw blurRad="76200" dist="25400" dir="5400000" algn="bl" rotWithShape="0">
              <a:srgbClr val="1B1B1B">
                <a:alpha val="12000"/>
              </a:srgbClr>
            </a:outerShdw>
          </a:effectLst>
        </p:spPr>
        <p:txBody>
          <a:bodyPr/>
          <a:lstStyle/>
          <a:p>
            <a:endParaRPr lang="en-IN"/>
          </a:p>
        </p:txBody>
      </p:sp>
      <p:sp>
        <p:nvSpPr>
          <p:cNvPr id="20" name="Text 18"/>
          <p:cNvSpPr txBox="1"/>
          <p:nvPr/>
        </p:nvSpPr>
        <p:spPr>
          <a:xfrm>
            <a:off x="3474720" y="2990088"/>
            <a:ext cx="548640" cy="45720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21" name="Text 19"/>
          <p:cNvSpPr txBox="1"/>
          <p:nvPr/>
        </p:nvSpPr>
        <p:spPr>
          <a:xfrm>
            <a:off x="3474720" y="3383280"/>
            <a:ext cx="2377440" cy="502920"/>
          </a:xfrm>
          <a:prstGeom prst="rect">
            <a:avLst/>
          </a:prstGeom>
          <a:noFill/>
          <a:ln/>
        </p:spPr>
        <p:txBody>
          <a:bodyPr wrap="square" lIns="0" tIns="0" rIns="0" bIns="0" rtlCol="0" anchor="ctr"/>
          <a:lstStyle/>
          <a:p>
            <a:pPr marL="0" indent="0">
              <a:lnSpc>
                <a:spcPct val="105000"/>
              </a:lnSpc>
              <a:buNone/>
            </a:pPr>
            <a:r>
              <a:rPr lang="en-US" sz="1150" b="1" dirty="0">
                <a:solidFill>
                  <a:srgbClr val="FFFFFF"/>
                </a:solidFill>
                <a:latin typeface="Calibri" pitchFamily="34" charset="0"/>
                <a:ea typeface="Calibri" pitchFamily="34" charset="-122"/>
                <a:cs typeface="Calibri" pitchFamily="34" charset="-120"/>
              </a:rPr>
              <a:t>How does it overlap with what I own?</a:t>
            </a:r>
            <a:endParaRPr lang="en-US" sz="1150" dirty="0"/>
          </a:p>
        </p:txBody>
      </p:sp>
      <p:sp>
        <p:nvSpPr>
          <p:cNvPr id="22" name="Shape 20"/>
          <p:cNvSpPr/>
          <p:nvPr/>
        </p:nvSpPr>
        <p:spPr>
          <a:xfrm>
            <a:off x="6126480" y="2880360"/>
            <a:ext cx="2651760" cy="1051560"/>
          </a:xfrm>
          <a:prstGeom prst="roundRect">
            <a:avLst>
              <a:gd name="adj" fmla="val 6957"/>
            </a:avLst>
          </a:prstGeom>
          <a:solidFill>
            <a:srgbClr val="0F3A57"/>
          </a:solidFill>
          <a:ln/>
          <a:effectLst>
            <a:outerShdw blurRad="76200" dist="25400" dir="5400000" algn="bl" rotWithShape="0">
              <a:srgbClr val="1B1B1B">
                <a:alpha val="12000"/>
              </a:srgbClr>
            </a:outerShdw>
          </a:effectLst>
        </p:spPr>
        <p:txBody>
          <a:bodyPr/>
          <a:lstStyle/>
          <a:p>
            <a:endParaRPr lang="en-IN"/>
          </a:p>
        </p:txBody>
      </p:sp>
      <p:sp>
        <p:nvSpPr>
          <p:cNvPr id="23" name="Text 21"/>
          <p:cNvSpPr txBox="1"/>
          <p:nvPr/>
        </p:nvSpPr>
        <p:spPr>
          <a:xfrm>
            <a:off x="6263640" y="2990088"/>
            <a:ext cx="548640" cy="45720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24" name="Text 22"/>
          <p:cNvSpPr txBox="1"/>
          <p:nvPr/>
        </p:nvSpPr>
        <p:spPr>
          <a:xfrm>
            <a:off x="6263640" y="3383280"/>
            <a:ext cx="2377440" cy="502920"/>
          </a:xfrm>
          <a:prstGeom prst="rect">
            <a:avLst/>
          </a:prstGeom>
          <a:noFill/>
          <a:ln/>
        </p:spPr>
        <p:txBody>
          <a:bodyPr wrap="square" lIns="0" tIns="0" rIns="0" bIns="0" rtlCol="0" anchor="ctr"/>
          <a:lstStyle/>
          <a:p>
            <a:pPr marL="0" indent="0">
              <a:lnSpc>
                <a:spcPct val="105000"/>
              </a:lnSpc>
              <a:buNone/>
            </a:pPr>
            <a:r>
              <a:rPr lang="en-US" sz="1150" b="1" dirty="0">
                <a:solidFill>
                  <a:srgbClr val="FFFFFF"/>
                </a:solidFill>
                <a:latin typeface="Calibri" pitchFamily="34" charset="0"/>
                <a:ea typeface="Calibri" pitchFamily="34" charset="-122"/>
                <a:cs typeface="Calibri" pitchFamily="34" charset="-120"/>
              </a:rPr>
              <a:t>Can I stay invested if markets fall?</a:t>
            </a:r>
            <a:endParaRPr lang="en-US" sz="1150" dirty="0"/>
          </a:p>
        </p:txBody>
      </p:sp>
      <p:sp>
        <p:nvSpPr>
          <p:cNvPr id="25" name="Shape 23"/>
          <p:cNvSpPr/>
          <p:nvPr/>
        </p:nvSpPr>
        <p:spPr>
          <a:xfrm>
            <a:off x="8915400" y="2880360"/>
            <a:ext cx="2651760" cy="1051560"/>
          </a:xfrm>
          <a:prstGeom prst="roundRect">
            <a:avLst>
              <a:gd name="adj" fmla="val 6957"/>
            </a:avLst>
          </a:prstGeom>
          <a:solidFill>
            <a:srgbClr val="0F3A57"/>
          </a:solidFill>
          <a:ln/>
          <a:effectLst>
            <a:outerShdw blurRad="76200" dist="25400" dir="5400000" algn="bl" rotWithShape="0">
              <a:srgbClr val="1B1B1B">
                <a:alpha val="12000"/>
              </a:srgbClr>
            </a:outerShdw>
          </a:effectLst>
        </p:spPr>
        <p:txBody>
          <a:bodyPr/>
          <a:lstStyle/>
          <a:p>
            <a:endParaRPr lang="en-IN"/>
          </a:p>
        </p:txBody>
      </p:sp>
      <p:sp>
        <p:nvSpPr>
          <p:cNvPr id="26" name="Text 24"/>
          <p:cNvSpPr txBox="1"/>
          <p:nvPr/>
        </p:nvSpPr>
        <p:spPr>
          <a:xfrm>
            <a:off x="9052560" y="2990088"/>
            <a:ext cx="548640" cy="45720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27" name="Text 25"/>
          <p:cNvSpPr txBox="1"/>
          <p:nvPr/>
        </p:nvSpPr>
        <p:spPr>
          <a:xfrm>
            <a:off x="9052560" y="3383280"/>
            <a:ext cx="2377440" cy="502920"/>
          </a:xfrm>
          <a:prstGeom prst="rect">
            <a:avLst/>
          </a:prstGeom>
          <a:noFill/>
          <a:ln/>
        </p:spPr>
        <p:txBody>
          <a:bodyPr wrap="square" lIns="0" tIns="0" rIns="0" bIns="0" rtlCol="0" anchor="ctr"/>
          <a:lstStyle/>
          <a:p>
            <a:pPr marL="0" indent="0">
              <a:lnSpc>
                <a:spcPct val="105000"/>
              </a:lnSpc>
              <a:buNone/>
            </a:pPr>
            <a:r>
              <a:rPr lang="en-US" sz="1150" b="1" dirty="0">
                <a:solidFill>
                  <a:srgbClr val="FFFFFF"/>
                </a:solidFill>
                <a:latin typeface="Calibri" pitchFamily="34" charset="0"/>
                <a:ea typeface="Calibri" pitchFamily="34" charset="-122"/>
                <a:cs typeface="Calibri" pitchFamily="34" charset="-120"/>
              </a:rPr>
              <a:t>When will I review it?</a:t>
            </a:r>
            <a:endParaRPr lang="en-US" sz="1150" dirty="0"/>
          </a:p>
        </p:txBody>
      </p:sp>
      <p:sp>
        <p:nvSpPr>
          <p:cNvPr id="28" name="Text 26"/>
          <p:cNvSpPr txBox="1"/>
          <p:nvPr/>
        </p:nvSpPr>
        <p:spPr>
          <a:xfrm>
            <a:off x="548640" y="4160520"/>
            <a:ext cx="11064240" cy="731520"/>
          </a:xfrm>
          <a:prstGeom prst="rect">
            <a:avLst/>
          </a:prstGeom>
          <a:noFill/>
          <a:ln/>
        </p:spPr>
        <p:txBody>
          <a:bodyPr wrap="square" lIns="0" tIns="0" rIns="0" bIns="0" rtlCol="0" anchor="ctr"/>
          <a:lstStyle/>
          <a:p>
            <a:pPr marL="0" indent="0" algn="ctr">
              <a:lnSpc>
                <a:spcPct val="120000"/>
              </a:lnSpc>
              <a:buNone/>
            </a:pPr>
            <a:r>
              <a:rPr lang="en-US" sz="1800" b="1" i="1" dirty="0">
                <a:solidFill>
                  <a:srgbClr val="F4A300"/>
                </a:solidFill>
                <a:latin typeface="Cambria" pitchFamily="34" charset="0"/>
                <a:ea typeface="Cambria" pitchFamily="34" charset="-122"/>
                <a:cs typeface="Cambria" pitchFamily="34" charset="-120"/>
              </a:rPr>
              <a:t>“Don’t invest because someone told you what to buy. Invest because you understand what you’re buying.”</a:t>
            </a:r>
            <a:endParaRPr lang="en-US" sz="1800" dirty="0"/>
          </a:p>
        </p:txBody>
      </p:sp>
      <p:sp>
        <p:nvSpPr>
          <p:cNvPr id="29" name="Text 27"/>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900" dirty="0">
                <a:solidFill>
                  <a:srgbClr val="8A97A0"/>
                </a:solidFill>
                <a:latin typeface="Calibri" pitchFamily="34" charset="0"/>
                <a:ea typeface="Calibri" pitchFamily="34" charset="-122"/>
                <a:cs typeface="Calibri" pitchFamily="34" charset="-120"/>
              </a:rPr>
              <a:t>Mutual Funds: What My Investing Journey Taught Me</a:t>
            </a:r>
            <a:endParaRPr lang="en-US" sz="900" dirty="0"/>
          </a:p>
        </p:txBody>
      </p:sp>
      <p:sp>
        <p:nvSpPr>
          <p:cNvPr id="30" name="Text 28"/>
          <p:cNvSpPr txBox="1"/>
          <p:nvPr/>
        </p:nvSpPr>
        <p:spPr>
          <a:xfrm>
            <a:off x="11000232" y="6473952"/>
            <a:ext cx="731520" cy="274320"/>
          </a:xfrm>
          <a:prstGeom prst="rect">
            <a:avLst/>
          </a:prstGeom>
          <a:noFill/>
          <a:ln/>
        </p:spPr>
        <p:txBody>
          <a:bodyPr wrap="square" lIns="0" tIns="0" rIns="0" bIns="0" rtlCol="0" anchor="ctr"/>
          <a:lstStyle/>
          <a:p>
            <a:pPr marL="0" indent="0" algn="r">
              <a:buNone/>
            </a:pPr>
            <a:r>
              <a:rPr lang="en-US" sz="900" dirty="0">
                <a:solidFill>
                  <a:srgbClr val="8A97A0"/>
                </a:solidFill>
                <a:latin typeface="Calibri" pitchFamily="34" charset="0"/>
                <a:ea typeface="Calibri" pitchFamily="34" charset="-122"/>
                <a:cs typeface="Calibri" pitchFamily="34" charset="-120"/>
              </a:rPr>
              <a:t>30 / 31</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2A43"/>
        </a:solidFill>
        <a:effectLst/>
      </p:bgPr>
    </p:bg>
    <p:spTree>
      <p:nvGrpSpPr>
        <p:cNvPr id="1" name=""/>
        <p:cNvGrpSpPr/>
        <p:nvPr/>
      </p:nvGrpSpPr>
      <p:grpSpPr>
        <a:xfrm>
          <a:off x="0" y="0"/>
          <a:ext cx="0" cy="0"/>
          <a:chOff x="0" y="0"/>
          <a:chExt cx="0" cy="0"/>
        </a:xfrm>
      </p:grpSpPr>
      <p:sp>
        <p:nvSpPr>
          <p:cNvPr id="2" name="Shape 0"/>
          <p:cNvSpPr/>
          <p:nvPr/>
        </p:nvSpPr>
        <p:spPr>
          <a:xfrm>
            <a:off x="8503920" y="-1463040"/>
            <a:ext cx="5486400" cy="5486400"/>
          </a:xfrm>
          <a:prstGeom prst="ellipse">
            <a:avLst/>
          </a:prstGeom>
          <a:solidFill>
            <a:srgbClr val="028090">
              <a:alpha val="20000"/>
            </a:srgbClr>
          </a:solidFill>
          <a:ln/>
        </p:spPr>
        <p:txBody>
          <a:bodyPr/>
          <a:lstStyle/>
          <a:p>
            <a:endParaRPr lang="en-IN"/>
          </a:p>
        </p:txBody>
      </p:sp>
      <p:sp>
        <p:nvSpPr>
          <p:cNvPr id="3" name="Text 1"/>
          <p:cNvSpPr txBox="1"/>
          <p:nvPr/>
        </p:nvSpPr>
        <p:spPr>
          <a:xfrm>
            <a:off x="640080" y="1463040"/>
            <a:ext cx="7315200" cy="457200"/>
          </a:xfrm>
          <a:prstGeom prst="rect">
            <a:avLst/>
          </a:prstGeom>
          <a:noFill/>
          <a:ln/>
        </p:spPr>
        <p:txBody>
          <a:bodyPr wrap="square" lIns="0" tIns="0" rIns="0" bIns="0" rtlCol="0" anchor="ctr"/>
          <a:lstStyle/>
          <a:p>
            <a:pPr marL="0" indent="0">
              <a:buNone/>
            </a:pPr>
            <a:r>
              <a:rPr lang="en-US" sz="1400" b="1" kern="0" spc="200" dirty="0">
                <a:solidFill>
                  <a:srgbClr val="6FE7DD"/>
                </a:solidFill>
                <a:latin typeface="Calibri" pitchFamily="34" charset="0"/>
                <a:ea typeface="Calibri" pitchFamily="34" charset="-122"/>
                <a:cs typeface="Calibri" pitchFamily="34" charset="-120"/>
              </a:rPr>
              <a:t>Let's Discuss</a:t>
            </a:r>
            <a:endParaRPr lang="en-US" sz="1400" dirty="0"/>
          </a:p>
        </p:txBody>
      </p:sp>
      <p:sp>
        <p:nvSpPr>
          <p:cNvPr id="4" name="Text 2"/>
          <p:cNvSpPr txBox="1"/>
          <p:nvPr/>
        </p:nvSpPr>
        <p:spPr>
          <a:xfrm>
            <a:off x="594360" y="1874520"/>
            <a:ext cx="9144000" cy="91440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Questions &amp; Discussion</a:t>
            </a:r>
            <a:endParaRPr lang="en-US" sz="4000" dirty="0"/>
          </a:p>
        </p:txBody>
      </p:sp>
      <p:sp>
        <p:nvSpPr>
          <p:cNvPr id="5" name="Text 3"/>
          <p:cNvSpPr txBox="1"/>
          <p:nvPr/>
        </p:nvSpPr>
        <p:spPr>
          <a:xfrm>
            <a:off x="640080" y="2971800"/>
            <a:ext cx="9601200" cy="4114800"/>
          </a:xfrm>
          <a:prstGeom prst="rect">
            <a:avLst/>
          </a:prstGeom>
          <a:noFill/>
          <a:ln/>
        </p:spPr>
        <p:txBody>
          <a:bodyPr wrap="square" lIns="0" tIns="0" rIns="0" bIns="0" rtlCol="0" anchor="t"/>
          <a:lstStyle/>
          <a:p>
            <a:pPr marL="228600" indent="-228600">
              <a:lnSpc>
                <a:spcPct val="108000"/>
              </a:lnSpc>
              <a:spcAft>
                <a:spcPts val="1200"/>
              </a:spcAft>
              <a:buSzPct val="100000"/>
              <a:buChar char="•"/>
            </a:pPr>
            <a:r>
              <a:rPr lang="en-US" sz="1500" dirty="0">
                <a:solidFill>
                  <a:srgbClr val="E4EEF0"/>
                </a:solidFill>
                <a:latin typeface="Calibri" pitchFamily="34" charset="0"/>
                <a:ea typeface="Calibri" pitchFamily="34" charset="-122"/>
                <a:cs typeface="Calibri" pitchFamily="34" charset="-120"/>
              </a:rPr>
              <a:t>Share one MF question you had before this session.</a:t>
            </a:r>
            <a:endParaRPr lang="en-US" sz="1500" dirty="0"/>
          </a:p>
          <a:p>
            <a:pPr marL="228600" indent="-228600">
              <a:lnSpc>
                <a:spcPct val="108000"/>
              </a:lnSpc>
              <a:spcAft>
                <a:spcPts val="1200"/>
              </a:spcAft>
              <a:buSzPct val="100000"/>
              <a:buChar char="•"/>
            </a:pPr>
            <a:r>
              <a:rPr lang="en-US" sz="1500" dirty="0">
                <a:solidFill>
                  <a:srgbClr val="E4EEF0"/>
                </a:solidFill>
                <a:latin typeface="Calibri" pitchFamily="34" charset="0"/>
                <a:ea typeface="Calibri" pitchFamily="34" charset="-122"/>
                <a:cs typeface="Calibri" pitchFamily="34" charset="-120"/>
              </a:rPr>
              <a:t>Open floor: SIP, fund selection, overlap, Direct vs Regular, risk, investing routes.</a:t>
            </a:r>
            <a:endParaRPr lang="en-US" sz="1500" dirty="0"/>
          </a:p>
          <a:p>
            <a:pPr marL="228600" indent="-228600">
              <a:lnSpc>
                <a:spcPct val="108000"/>
              </a:lnSpc>
              <a:spcAft>
                <a:spcPts val="1200"/>
              </a:spcAft>
              <a:buSzPct val="100000"/>
              <a:buChar char="•"/>
            </a:pPr>
            <a:r>
              <a:rPr lang="en-US" sz="1500" dirty="0">
                <a:solidFill>
                  <a:srgbClr val="E4EEF0"/>
                </a:solidFill>
                <a:latin typeface="Calibri" pitchFamily="34" charset="0"/>
                <a:ea typeface="Calibri" pitchFamily="34" charset="-122"/>
                <a:cs typeface="Calibri" pitchFamily="34" charset="-120"/>
              </a:rPr>
              <a:t>Personal fund recommendations depend on individual goals &amp; circumstances — best evaluated 1:1, not in a team session.</a:t>
            </a:r>
            <a:endParaRPr lang="en-US" sz="1500" dirty="0"/>
          </a:p>
        </p:txBody>
      </p:sp>
      <p:sp>
        <p:nvSpPr>
          <p:cNvPr id="6" name="Shape 4"/>
          <p:cNvSpPr/>
          <p:nvPr/>
        </p:nvSpPr>
        <p:spPr>
          <a:xfrm>
            <a:off x="548640" y="4709160"/>
            <a:ext cx="11064240" cy="1691640"/>
          </a:xfrm>
          <a:prstGeom prst="roundRect">
            <a:avLst>
              <a:gd name="adj" fmla="val 4324"/>
            </a:avLst>
          </a:prstGeom>
          <a:solidFill>
            <a:srgbClr val="0F3A57"/>
          </a:solidFill>
          <a:ln/>
          <a:effectLst>
            <a:outerShdw blurRad="76200" dist="25400" dir="5400000" algn="bl" rotWithShape="0">
              <a:srgbClr val="1B1B1B">
                <a:alpha val="12000"/>
              </a:srgbClr>
            </a:outerShdw>
          </a:effectLst>
        </p:spPr>
        <p:txBody>
          <a:bodyPr/>
          <a:lstStyle/>
          <a:p>
            <a:endParaRPr lang="en-IN"/>
          </a:p>
        </p:txBody>
      </p:sp>
      <p:sp>
        <p:nvSpPr>
          <p:cNvPr id="7" name="Text 5"/>
          <p:cNvSpPr txBox="1"/>
          <p:nvPr/>
        </p:nvSpPr>
        <p:spPr>
          <a:xfrm>
            <a:off x="868680" y="4846320"/>
            <a:ext cx="10332720" cy="502920"/>
          </a:xfrm>
          <a:prstGeom prst="rect">
            <a:avLst/>
          </a:prstGeom>
          <a:noFill/>
          <a:ln/>
        </p:spPr>
        <p:txBody>
          <a:bodyPr wrap="square" lIns="0" tIns="0" rIns="0" bIns="0" rtlCol="0" anchor="ctr"/>
          <a:lstStyle/>
          <a:p>
            <a:pPr marL="0" indent="0">
              <a:lnSpc>
                <a:spcPct val="115000"/>
              </a:lnSpc>
              <a:buNone/>
            </a:pPr>
            <a:r>
              <a:rPr lang="en-US" sz="1400" b="1" dirty="0">
                <a:solidFill>
                  <a:srgbClr val="F4A300"/>
                </a:solidFill>
                <a:latin typeface="Calibri" pitchFamily="34" charset="0"/>
                <a:ea typeface="Calibri" pitchFamily="34" charset="-122"/>
                <a:cs typeface="Calibri" pitchFamily="34" charset="-120"/>
              </a:rPr>
              <a:t>Mutual Fund investments are subject to market risks, read all scheme related documents carefully.</a:t>
            </a:r>
            <a:endParaRPr lang="en-US" sz="1400" dirty="0"/>
          </a:p>
        </p:txBody>
      </p:sp>
      <p:sp>
        <p:nvSpPr>
          <p:cNvPr id="8" name="Text 6"/>
          <p:cNvSpPr txBox="1"/>
          <p:nvPr/>
        </p:nvSpPr>
        <p:spPr>
          <a:xfrm>
            <a:off x="868680" y="5422392"/>
            <a:ext cx="2743200" cy="274320"/>
          </a:xfrm>
          <a:prstGeom prst="rect">
            <a:avLst/>
          </a:prstGeom>
          <a:noFill/>
          <a:ln/>
        </p:spPr>
        <p:txBody>
          <a:bodyPr wrap="square" lIns="0" tIns="0" rIns="0" bIns="0" rtlCol="0" anchor="ctr"/>
          <a:lstStyle/>
          <a:p>
            <a:pPr marL="0" indent="0">
              <a:buNone/>
            </a:pPr>
            <a:r>
              <a:rPr lang="en-US" sz="1100" b="1" dirty="0">
                <a:solidFill>
                  <a:srgbClr val="6FE7DD"/>
                </a:solidFill>
                <a:latin typeface="Calibri" pitchFamily="34" charset="0"/>
                <a:ea typeface="Calibri" pitchFamily="34" charset="-122"/>
                <a:cs typeface="Calibri" pitchFamily="34" charset="-120"/>
              </a:rPr>
              <a:t>Disclaimer</a:t>
            </a:r>
            <a:endParaRPr lang="en-US" sz="1100" dirty="0"/>
          </a:p>
        </p:txBody>
      </p:sp>
      <p:sp>
        <p:nvSpPr>
          <p:cNvPr id="9" name="Text 7"/>
          <p:cNvSpPr txBox="1"/>
          <p:nvPr/>
        </p:nvSpPr>
        <p:spPr>
          <a:xfrm>
            <a:off x="868680" y="5687568"/>
            <a:ext cx="10332720" cy="685800"/>
          </a:xfrm>
          <a:prstGeom prst="rect">
            <a:avLst/>
          </a:prstGeom>
          <a:noFill/>
          <a:ln/>
        </p:spPr>
        <p:txBody>
          <a:bodyPr wrap="square" lIns="0" tIns="0" rIns="0" bIns="0" rtlCol="0" anchor="ctr"/>
          <a:lstStyle/>
          <a:p>
            <a:pPr marL="0" indent="0">
              <a:lnSpc>
                <a:spcPct val="118000"/>
              </a:lnSpc>
              <a:buNone/>
            </a:pPr>
            <a:r>
              <a:rPr lang="en-US" sz="1050" i="1" dirty="0">
                <a:solidFill>
                  <a:srgbClr val="C8D6DB"/>
                </a:solidFill>
                <a:latin typeface="Calibri" pitchFamily="34" charset="0"/>
                <a:ea typeface="Calibri" pitchFamily="34" charset="-122"/>
                <a:cs typeface="Calibri" pitchFamily="34" charset="-120"/>
              </a:rPr>
              <a:t>This presentation is for financial education and awareness, not individualized investment advice. Past performance is not indicative of future performance. Please evaluate your own goals, time horizon and risk tolerance, and consult a qualified professional where appropriate.</a:t>
            </a:r>
            <a:endParaRPr lang="en-US" sz="1050" dirty="0"/>
          </a:p>
        </p:txBody>
      </p:sp>
      <p:sp>
        <p:nvSpPr>
          <p:cNvPr id="10" name="Text 8"/>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900" dirty="0">
                <a:solidFill>
                  <a:srgbClr val="8A97A0"/>
                </a:solidFill>
                <a:latin typeface="Calibri" pitchFamily="34" charset="0"/>
                <a:ea typeface="Calibri" pitchFamily="34" charset="-122"/>
                <a:cs typeface="Calibri" pitchFamily="34" charset="-120"/>
              </a:rPr>
              <a:t>Mutual Funds: What My Investing Journey Taught Me</a:t>
            </a:r>
            <a:endParaRPr lang="en-US" sz="900" dirty="0"/>
          </a:p>
        </p:txBody>
      </p:sp>
      <p:sp>
        <p:nvSpPr>
          <p:cNvPr id="11" name="Text 9"/>
          <p:cNvSpPr txBox="1"/>
          <p:nvPr/>
        </p:nvSpPr>
        <p:spPr>
          <a:xfrm>
            <a:off x="11000232" y="6473952"/>
            <a:ext cx="731520" cy="274320"/>
          </a:xfrm>
          <a:prstGeom prst="rect">
            <a:avLst/>
          </a:prstGeom>
          <a:noFill/>
          <a:ln/>
        </p:spPr>
        <p:txBody>
          <a:bodyPr wrap="square" lIns="0" tIns="0" rIns="0" bIns="0" rtlCol="0" anchor="ctr"/>
          <a:lstStyle/>
          <a:p>
            <a:pPr marL="0" indent="0" algn="r">
              <a:buNone/>
            </a:pPr>
            <a:r>
              <a:rPr lang="en-US" sz="900" dirty="0">
                <a:solidFill>
                  <a:srgbClr val="8A97A0"/>
                </a:solidFill>
                <a:latin typeface="Calibri" pitchFamily="34" charset="0"/>
                <a:ea typeface="Calibri" pitchFamily="34" charset="-122"/>
                <a:cs typeface="Calibri" pitchFamily="34" charset="-120"/>
              </a:rPr>
              <a:t>31 / 31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4350</Words>
  <Application>Microsoft Office PowerPoint</Application>
  <PresentationFormat>Widescreen</PresentationFormat>
  <Paragraphs>602</Paragraphs>
  <Slides>31</Slides>
  <Notes>31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Mahendran C S</cp:lastModifiedBy>
  <cp:revision>2</cp:revision>
  <dcterms:created xsi:type="dcterms:W3CDTF">2026-09-23T06:27:42Z</dcterms:created>
  <dcterms:modified xsi:type="dcterms:W3CDTF">2026-09-23T06:53:37Z</dcterms:modified>
</cp:coreProperties>
</file>